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f5cd0c75-1f47-7196-5936-e040e8b10d92}">
          <p14:sldIdLst>
            <p14:sldId id="256"/>
          </p14:sldIdLst>
        </p14:section>
        <p14:section name="Problema y producto" id="{da380113-89a8-fe0a-bddf-878f47ce72ec}">
          <p14:sldIdLst>
            <p14:sldId id="257"/>
            <p14:sldId id="258"/>
          </p14:sldIdLst>
        </p14:section>
        <p14:section name="Datos y arquitectura" id="{c2c771df-3e86-ff30-786b-1ed66f46b9ae}">
          <p14:sldIdLst>
            <p14:sldId id="259"/>
            <p14:sldId id="260"/>
          </p14:sldIdLst>
        </p14:section>
        <p14:section name="Componentes y demo" id="{605906b0-4203-0707-b341-bc4af8959b07}">
          <p14:sldIdLst>
            <p14:sldId id="261"/>
            <p14:sldId id="262"/>
            <p14:sldId id="263"/>
          </p14:sldIdLst>
        </p14:section>
        <p14:section name="Resultados" id="{be3aaa20-9146-9959-642e-db24b66652a1}">
          <p14:sldIdLst>
            <p14:sldId id="264"/>
            <p14:sldId id="265"/>
          </p14:sldIdLst>
        </p14:section>
        <p14:section name="Cierre" id="{2d7a2afb-a156-2ba3-82dd-36a0b2cb56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50F16"/>
                </a:solidFill>
                <a:latin typeface="+mn-lt"/>
              </a:defRPr>
            </a:pPr>
            <a:r>
              <a:rPr sz="1400" b="0" i="0" u="none" strike="noStrike">
                <a:solidFill>
                  <a:srgbClr val="050F16"/>
                </a:solidFill>
                <a:latin typeface="+mn-lt"/>
              </a:rPr>
              <a:t>Error medio absoluto por anuncio (S/ al mes)</a:t>
            </a:r>
          </a:p>
        </c:rich>
      </c:tx>
      <c:layout/>
      <c:overlay val="0"/>
    </c:title>
    <c:autoTitleDeleted val="0"/>
    <c:plotArea>
      <c:layout/>
      <c:barChart>
        <c:barDir val="col"/>
        <c:grouping val="clustered"/>
        <c:varyColors val="0"/>
        <c:ser>
          <c:idx val="0"/>
          <c:order val="0"/>
          <c:tx>
            <c:strRef>
              <c:f>Sheet1!$B$1</c:f>
              <c:strCache>
                <c:ptCount val="1"/>
                <c:pt idx="0">
                  <c:v>MAE (S/)</c:v>
                </c:pt>
              </c:strCache>
            </c:strRef>
          </c:tx>
          <c:spPr>
            <a:solidFill>
              <a:srgbClr val="BDBBB5"/>
            </a:solidFill>
            <a:effectLst/>
          </c:spPr>
          <c:invertIfNegative val="0"/>
          <c:dLbls>
            <c:numFmt formatCode="&quot;S/ &quot;#,##0" sourceLinked="0"/>
            <c:txPr>
              <a:bodyPr/>
              <a:lstStyle/>
              <a:p>
                <a:pPr>
                  <a:defRPr b="1" i="0" strike="noStrike" sz="1400" u="none">
                    <a:solidFill>
                      <a:srgbClr val="050F16"/>
                    </a:solidFill>
                    <a:latin typeface="+mn-lt"/>
                  </a:defRPr>
                </a:pPr>
              </a:p>
            </c:txPr>
            <c:showLegendKey val="0"/>
            <c:showVal val="1"/>
            <c:showCatName val="0"/>
            <c:showSerName val="0"/>
            <c:showPercent val="0"/>
            <c:showBubbleSize val="0"/>
            <c:showLeaderLines val="0"/>
          </c:dLbls>
          <c:dPt>
            <c:idx val="0"/>
            <c:invertIfNegative val="0"/>
            <c:bubble3D val="0"/>
            <c:spPr>
              <a:solidFill>
                <a:srgbClr val="BDBBB5"/>
              </a:solidFill>
              <a:effectLst/>
            </c:spPr>
          </c:dPt>
          <c:dPt>
            <c:idx val="1"/>
            <c:invertIfNegative val="0"/>
            <c:bubble3D val="0"/>
            <c:spPr>
              <a:solidFill>
                <a:srgbClr val="BDBBB5"/>
              </a:solidFill>
              <a:effectLst/>
            </c:spPr>
          </c:dPt>
          <c:dPt>
            <c:idx val="2"/>
            <c:invertIfNegative val="0"/>
            <c:bubble3D val="0"/>
            <c:spPr>
              <a:solidFill>
                <a:srgbClr val="FF7A1F"/>
              </a:solidFill>
              <a:effectLst/>
            </c:spPr>
          </c:dPt>
          <c:dPt>
            <c:idx val="3"/>
            <c:invertIfNegative val="0"/>
            <c:bubble3D val="0"/>
            <c:spPr>
              <a:solidFill>
                <a:srgbClr val="C2510A"/>
              </a:solidFill>
              <a:effectLst/>
            </c:spPr>
          </c:dPt>
          <c:cat>
            <c:multiLvlStrRef>
              <c:f>Sheet1!$A$2:$A$5</c:f>
              <c:multiLvlStrCache>
                <c:ptCount val="4"/>
                <c:lvl>
                  <c:pt idx="0">
                    <c:v>Mediana global</c:v>
                  </c:pt>
                  <c:pt idx="1">
                    <c:v>Mediana del distrito</c:v>
                  </c:pt>
                  <c:pt idx="2">
                    <c:v>DepaRent · septiembre</c:v>
                  </c:pt>
                  <c:pt idx="3">
                    <c:v>DepaRent · octubre</c:v>
                  </c:pt>
                </c:lvl>
              </c:multiLvlStrCache>
            </c:multiLvlStrRef>
          </c:cat>
          <c:val>
            <c:numRef>
              <c:f>Sheet1!$B$2:$B$5</c:f>
              <c:numCache>
                <c:formatCode>General</c:formatCode>
                <c:ptCount val="4"/>
                <c:pt idx="0">
                  <c:v>1216</c:v>
                </c:pt>
                <c:pt idx="1">
                  <c:v>993</c:v>
                </c:pt>
                <c:pt idx="2">
                  <c:v>553</c:v>
                </c:pt>
                <c:pt idx="3">
                  <c:v>512</c:v>
                </c:pt>
              </c:numCache>
            </c:numRef>
          </c:val>
        </c:ser>
        <c:dLbls>
          <c:numFmt formatCode="&quot;S/ &quot;#,##0" sourceLinked="0"/>
          <c:txPr>
            <a:bodyPr/>
            <a:lstStyle/>
            <a:p>
              <a:pPr>
                <a:defRPr b="1" i="0" strike="noStrike" sz="1400" u="none">
                  <a:solidFill>
                    <a:srgbClr val="050F1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050F16"/>
                </a:solidFill>
                <a:latin typeface="+mn-lt"/>
              </a:defRPr>
            </a:pPr>
            <a:endParaRPr lang="en-US"/>
          </a:p>
        </c:txPr>
        <c:crossAx val="2094734552"/>
        <c:crosses val="autoZero"/>
        <c:auto val="1"/>
        <c:lblAlgn val="ctr"/>
        <c:noMultiLvlLbl val="1"/>
      </c:catAx>
      <c:valAx>
        <c:axId val="2094734552"/>
        <c:scaling>
          <c:orientation val="minMax"/>
          <c:max val="14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DepaRent es nuestro producto de datos para el curso DS3022. Responde una pregunta concreta: ¿a cuánto alquilo mi departamento? A la derecha está el estimador de la página de inicio, que llena el cartel de 'Se alquila' con el precio del modelo. Todo lo que mostramos hoy está publicado en deparent.onrender.com.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dos personas con el mismo problema. El propietario necesita un precio: si se pasa, el depa se queda vacío; si se queda corto, pierde renta todos los meses. El inquilino necesita saber si lo que le piden es razonable. La forma habitual de decidir es mirar la mediana del distrito, y eso se equivoca en casi mil soles en promedio. Nuestro modelo baja ese error a 553.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producto tiene dos recorridos que comparten el mismo análisis. El propietario describe su departamento, recibe el análisis, publica y recibe mensajes. El inquilino filtra el mercado, ve si cada precio está por debajo o por encima de lo que estima el modelo, abre la ficha y escribe al dueño.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Trabajamos con datos reales. 3,128 anuncios de septiembre entrenan los modelos; 3,055 anuncios únicos de octubre son el mercado que ve la app. Los paraderos de la ATU dan la accesibilidad y 13 series del BCRP la tendencia. Las direcciones y contactos de los anuncios no se guardan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 solo servicio en Render: la API en FastAPI sirve también el frontend, que es HTML, CSS y JavaScript con un mapa Leaflet. La API llama a los seis componentes, a la búsqueda y a las cuentas. Las cuentas se guardan en Postgres en Neon, que es gratuito y no se borra con cada despliegue. El mercado se actualiza con una tarea diaria de GitHub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seis componentes. El central es el tercero, el precio esperado con HistGradientBoosting y un rango calibrado. Alrededor: el perfil competitivo con K-Means y los comparables, la accesibilidad con los paraderos de la ATU, la tendencia con SARIMA, las reglas que proponen tres precios de publicación y el simulador que estima cuánto suma una mejora.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propietario. Agrega su departamento: características y la ubicación, que ahora se marca con un clic en el mapa. Recibe el análisis: en este caso de Miraflores el precio esperado es 3,656 soles, con su rango y tres precios de publicación. Elige la renta superior, 3,840, y desde ese momento aparece en la búsqueda.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inquilino, que no necesita cuenta. Filtra el mercado y ve cuántos anuncios piden menos de lo que estima el modelo. Abre una ficha: este depa de Lince pide 1,200 y el modelo estima 1,586, un 24 % por debajo. Si el departamento está publicado en DepaRent, le escribe al propietario y el mensaje le llega a su cuenta.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Comparamos el modelo con dos líneas base. Usar la mediana de todo Lima se equivoca en 1,216 soles; la del distrito, en 993. Nuestro modelo baja a 553 en la prueba de septiembre, con R² de 0.76. Lo más importante: lo probamos con 1,712 anuncios nuevos de octubre sin reentrenar y el error fue 512. El modelo no se degradó con el paso del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ejercicio que nos pidió el profesor. Elegimos Lince, que tiene 25 anuncios de prueba, por encima del mínimo de 20. Filtramos esos anuncios, contamos los casos y promediamos el error absoluto: 284.90 soles, exactamente lo que muestra la aplicación. No reentrenamos el modelo. Ojo con la lectura: es el promedio de esos 25 anuncios de septiembre, no una garantía para cualquier depa de Lince.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honestos con los límites: son precios pedidos, no contratos; el rango es el mismo para todos los precios; algunos distritos tienen pocos datos; y desde hoy los portales bloquean la descarga desde GitHub, así que la app sigue con el mercado del 23 de octubre. Del lado técnico resolvimos los duplicados entre portales, una validación de octubre sin trampa, la persistencia en un plan gratuito y la reproducibilidad de los modelos.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la semana 12: el informe de evaluación, dos casos de estudio, un rango que dependa del precio, mantener el mercado al día con la tarea local, pruebas con usuarios reales y el plan de las tres últimas semanas. Los invitamos a probarlo en deparent.onrender.com.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DepaRent · Prototipo funcional · Semana 10</a:t>
            </a:r>
            <a:endParaRPr lang="en-US" sz="1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rtlCol="0"/>
          <a:lstStyle>
            <a:lvl1pPr algn="l" indent="0" marL="0">
              <a:buNone/>
              <a:defRPr lang="en-US" sz="3200" dirty="0">
                <a:solidFill>
                  <a:schemeClr val="bg1"/>
                </a:solidFill>
              </a:defRPr>
            </a:lvl1pPr>
          </a:lstStyle>
          <a:p>
            <a:pPr algn="l" indent="0" marL="0">
              <a:buNone/>
            </a:pPr>
            <a:endParaRPr lang="en-US" sz="32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DepaRent · Prototipo funcional · Semana 10</a:t>
            </a:r>
            <a:endParaRPr lang="en-US" sz="1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deparent.onrender.com" TargetMode="External"/><Relationship Id="rId2"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eparent.onrender.com" TargetMode="Externa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o-1"/>
          <p:cNvSpPr txBox="1"/>
          <p:nvPr/>
        </p:nvSpPr>
        <p:spPr>
          <a:xfrm>
            <a:off x="548640" y="502920"/>
            <a:ext cx="6766560" cy="320040"/>
          </a:xfrm>
          <a:prstGeom prst="rect">
            <a:avLst/>
          </a:prstGeom>
          <a:noFill/>
          <a:ln/>
        </p:spPr>
        <p:txBody>
          <a:bodyPr wrap="square" lIns="0" tIns="0" rIns="0" bIns="0" rtlCol="0" anchor="t"/>
          <a:lstStyle/>
          <a:p>
            <a:pPr indent="0" marL="0">
              <a:buNone/>
            </a:pPr>
            <a:r>
              <a:rPr lang="en-US" sz="1400" dirty="0">
                <a:solidFill>
                  <a:schemeClr val="tx1"/>
                </a:solidFill>
              </a:rPr>
              <a:t>DS3022 Desarrollo de Producto de Datos · UTEC · ciclo 2026-2</a:t>
            </a:r>
            <a:endParaRPr lang="en-US" sz="1400" dirty="0"/>
          </a:p>
        </p:txBody>
      </p:sp>
      <p:sp>
        <p:nvSpPr>
          <p:cNvPr id="3" name="texto-2"/>
          <p:cNvSpPr txBox="1"/>
          <p:nvPr/>
        </p:nvSpPr>
        <p:spPr>
          <a:xfrm>
            <a:off x="548640" y="1143000"/>
            <a:ext cx="6766560" cy="1234440"/>
          </a:xfrm>
          <a:prstGeom prst="rect">
            <a:avLst/>
          </a:prstGeom>
          <a:noFill/>
          <a:ln/>
        </p:spPr>
        <p:txBody>
          <a:bodyPr wrap="square" lIns="0" tIns="0" rIns="0" bIns="0" rtlCol="0" anchor="ctr"/>
          <a:lstStyle/>
          <a:p>
            <a:pPr indent="0" marL="0">
              <a:buNone/>
            </a:pPr>
            <a:r>
              <a:rPr lang="en-US" sz="8000" dirty="0">
                <a:solidFill>
                  <a:schemeClr val="tx1"/>
                </a:solidFill>
                <a:latin typeface="Arial Black" pitchFamily="34" charset="0"/>
                <a:ea typeface="Arial Black" pitchFamily="34" charset="-122"/>
                <a:cs typeface="Arial Black" pitchFamily="34" charset="-120"/>
              </a:rPr>
              <a:t>DepaRent</a:t>
            </a:r>
            <a:endParaRPr lang="en-US" sz="8000" dirty="0"/>
          </a:p>
        </p:txBody>
      </p:sp>
      <p:sp>
        <p:nvSpPr>
          <p:cNvPr id="4" name="texto-3"/>
          <p:cNvSpPr txBox="1"/>
          <p:nvPr/>
        </p:nvSpPr>
        <p:spPr>
          <a:xfrm>
            <a:off x="548640" y="2423160"/>
            <a:ext cx="6766560" cy="640080"/>
          </a:xfrm>
          <a:prstGeom prst="rect">
            <a:avLst/>
          </a:prstGeom>
          <a:noFill/>
          <a:ln/>
        </p:spPr>
        <p:txBody>
          <a:bodyPr wrap="square" lIns="0" tIns="0" rIns="0" bIns="0" rtlCol="0" anchor="t"/>
          <a:lstStyle/>
          <a:p>
            <a:pPr indent="0" marL="0">
              <a:buNone/>
            </a:pPr>
            <a:r>
              <a:rPr lang="en-US" sz="3000" dirty="0">
                <a:solidFill>
                  <a:schemeClr val="tx2"/>
                </a:solidFill>
                <a:latin typeface="Arial Black" pitchFamily="34" charset="0"/>
                <a:ea typeface="Arial Black" pitchFamily="34" charset="-122"/>
                <a:cs typeface="Arial Black" pitchFamily="34" charset="-120"/>
              </a:rPr>
              <a:t>Se alquila. ¿A cuánto?</a:t>
            </a:r>
            <a:endParaRPr lang="en-US" sz="3000" dirty="0"/>
          </a:p>
        </p:txBody>
      </p:sp>
      <p:sp>
        <p:nvSpPr>
          <p:cNvPr id="5" name="texto-4"/>
          <p:cNvSpPr txBox="1"/>
          <p:nvPr/>
        </p:nvSpPr>
        <p:spPr>
          <a:xfrm>
            <a:off x="548640" y="3154680"/>
            <a:ext cx="6766560" cy="365760"/>
          </a:xfrm>
          <a:prstGeom prst="rect">
            <a:avLst/>
          </a:prstGeom>
          <a:noFill/>
          <a:ln/>
        </p:spPr>
        <p:txBody>
          <a:bodyPr wrap="square" lIns="0" tIns="0" rIns="0" bIns="0" rtlCol="0" anchor="t"/>
          <a:lstStyle/>
          <a:p>
            <a:pPr indent="0" marL="0">
              <a:buNone/>
            </a:pPr>
            <a:r>
              <a:rPr lang="en-US" sz="1800" dirty="0">
                <a:solidFill>
                  <a:schemeClr val="tx1"/>
                </a:solidFill>
              </a:rPr>
              <a:t>Prototipo funcional · Semana 10</a:t>
            </a:r>
            <a:endParaRPr lang="en-US" sz="1800" dirty="0"/>
          </a:p>
        </p:txBody>
      </p:sp>
      <p:sp>
        <p:nvSpPr>
          <p:cNvPr id="6" name="caja-5"/>
          <p:cNvSpPr/>
          <p:nvPr/>
        </p:nvSpPr>
        <p:spPr>
          <a:xfrm>
            <a:off x="548640" y="3749040"/>
            <a:ext cx="3383280" cy="502920"/>
          </a:xfrm>
          <a:prstGeom prst="rect">
            <a:avLst/>
          </a:prstGeom>
          <a:solidFill>
            <a:schemeClr val="tx1"/>
          </a:solidFill>
          <a:ln/>
        </p:spPr>
      </p:sp>
      <p:sp>
        <p:nvSpPr>
          <p:cNvPr id="7" name="texto-6">
            <a:hlinkClick r:id="rId1" tooltip=""/>
          </p:cNvPr>
          <p:cNvSpPr txBox="1"/>
          <p:nvPr/>
        </p:nvSpPr>
        <p:spPr>
          <a:xfrm>
            <a:off x="548640" y="3749040"/>
            <a:ext cx="3383280" cy="502920"/>
          </a:xfrm>
          <a:prstGeom prst="rect">
            <a:avLst/>
          </a:prstGeom>
          <a:noFill/>
          <a:ln/>
        </p:spPr>
        <p:txBody>
          <a:bodyPr wrap="square" lIns="0" tIns="0" rIns="0" bIns="0" rtlCol="0" anchor="ctr"/>
          <a:lstStyle/>
          <a:p>
            <a:pPr algn="ctr" indent="0" marL="0">
              <a:buNone/>
            </a:pPr>
            <a:r>
              <a:rPr lang="en-US" sz="1500" u="sng" dirty="0">
                <a:solidFill>
                  <a:schemeClr val="accent1"/>
                </a:solidFill>
                <a:latin typeface="Arial Black" pitchFamily="34" charset="0"/>
                <a:ea typeface="Arial Black" pitchFamily="34" charset="-122"/>
                <a:cs typeface="Arial Black" pitchFamily="34" charset="-120"/>
                <a:hlinkClick r:id="rId1" invalidUrl="" action="" tgtFrame="" tooltip="" history="1" highlightClick="0" endSnd="0">
                  <a:extLst>
                    <a:ext uri="{A12FA001-AC4F-418D-AE19-62706E023703}">
                      <ahyp:hlinkClr xmlns:ahyp="http://schemas.microsoft.com/office/drawing/2018/hyperlinkcolor" val="tx"/>
                    </a:ext>
                  </a:extLst>
                </a:hlinkClick>
              </a:rPr>
              <a:t>deparent.onrender.com</a:t>
            </a:r>
            <a:endParaRPr lang="en-US" sz="1500" dirty="0"/>
          </a:p>
        </p:txBody>
      </p:sp>
      <p:sp>
        <p:nvSpPr>
          <p:cNvPr id="8" name="texto-7"/>
          <p:cNvSpPr txBox="1"/>
          <p:nvPr/>
        </p:nvSpPr>
        <p:spPr>
          <a:xfrm>
            <a:off x="548640" y="4800600"/>
            <a:ext cx="3291840" cy="594360"/>
          </a:xfrm>
          <a:prstGeom prst="rect">
            <a:avLst/>
          </a:prstGeom>
          <a:noFill/>
          <a:ln/>
        </p:spPr>
        <p:txBody>
          <a:bodyPr wrap="square" lIns="0" tIns="0" rIns="0" bIns="0" rtlCol="0" anchor="t"/>
          <a:lstStyle/>
          <a:p>
            <a:pPr indent="0" marL="0">
              <a:buNone/>
            </a:pPr>
            <a:r>
              <a:rPr lang="en-US" sz="1400" b="1" dirty="0">
                <a:solidFill>
                  <a:schemeClr val="tx1"/>
                </a:solidFill>
              </a:rPr>
              <a:t>Adrian Urbina Mendoza</a:t>
            </a:r>
            <a:endParaRPr lang="en-US" sz="1400" dirty="0"/>
          </a:p>
          <a:p>
            <a:pPr indent="0" marL="0">
              <a:buNone/>
            </a:pPr>
            <a:r>
              <a:rPr lang="en-US" sz="1200" dirty="0">
                <a:solidFill>
                  <a:schemeClr val="tx1"/>
                </a:solidFill>
              </a:rPr>
              <a:t>Coordinación, datos y mantenimiento</a:t>
            </a:r>
            <a:endParaRPr lang="en-US" sz="1400" dirty="0"/>
          </a:p>
        </p:txBody>
      </p:sp>
      <p:sp>
        <p:nvSpPr>
          <p:cNvPr id="9" name="texto-8"/>
          <p:cNvSpPr txBox="1"/>
          <p:nvPr/>
        </p:nvSpPr>
        <p:spPr>
          <a:xfrm>
            <a:off x="3977640" y="4800600"/>
            <a:ext cx="3291840" cy="594360"/>
          </a:xfrm>
          <a:prstGeom prst="rect">
            <a:avLst/>
          </a:prstGeom>
          <a:noFill/>
          <a:ln/>
        </p:spPr>
        <p:txBody>
          <a:bodyPr wrap="square" lIns="0" tIns="0" rIns="0" bIns="0" rtlCol="0" anchor="t"/>
          <a:lstStyle/>
          <a:p>
            <a:pPr indent="0" marL="0">
              <a:buNone/>
            </a:pPr>
            <a:r>
              <a:rPr lang="en-US" sz="1400" b="1" dirty="0">
                <a:solidFill>
                  <a:schemeClr val="tx1"/>
                </a:solidFill>
              </a:rPr>
              <a:t>Armando Martinez Palomino</a:t>
            </a:r>
            <a:endParaRPr lang="en-US" sz="1400" dirty="0"/>
          </a:p>
          <a:p>
            <a:pPr indent="0" marL="0">
              <a:buNone/>
            </a:pPr>
            <a:r>
              <a:rPr lang="en-US" sz="1200" dirty="0">
                <a:solidFill>
                  <a:schemeClr val="tx1"/>
                </a:solidFill>
              </a:rPr>
              <a:t>Fuentes externas</a:t>
            </a:r>
            <a:endParaRPr lang="en-US" sz="1400" dirty="0"/>
          </a:p>
        </p:txBody>
      </p:sp>
      <p:sp>
        <p:nvSpPr>
          <p:cNvPr id="10" name="texto-9"/>
          <p:cNvSpPr txBox="1"/>
          <p:nvPr/>
        </p:nvSpPr>
        <p:spPr>
          <a:xfrm>
            <a:off x="548640" y="5532120"/>
            <a:ext cx="3291840" cy="594360"/>
          </a:xfrm>
          <a:prstGeom prst="rect">
            <a:avLst/>
          </a:prstGeom>
          <a:noFill/>
          <a:ln/>
        </p:spPr>
        <p:txBody>
          <a:bodyPr wrap="square" lIns="0" tIns="0" rIns="0" bIns="0" rtlCol="0" anchor="t"/>
          <a:lstStyle/>
          <a:p>
            <a:pPr indent="0" marL="0">
              <a:buNone/>
            </a:pPr>
            <a:r>
              <a:rPr lang="en-US" sz="1400" b="1" dirty="0">
                <a:solidFill>
                  <a:schemeClr val="tx1"/>
                </a:solidFill>
              </a:rPr>
              <a:t>Breysi Salazar Medina</a:t>
            </a:r>
            <a:endParaRPr lang="en-US" sz="1400" dirty="0"/>
          </a:p>
          <a:p>
            <a:pPr indent="0" marL="0">
              <a:buNone/>
            </a:pPr>
            <a:r>
              <a:rPr lang="en-US" sz="1200" dirty="0">
                <a:solidFill>
                  <a:schemeClr val="tx1"/>
                </a:solidFill>
              </a:rPr>
              <a:t>Modelado</a:t>
            </a:r>
            <a:endParaRPr lang="en-US" sz="1400" dirty="0"/>
          </a:p>
        </p:txBody>
      </p:sp>
      <p:sp>
        <p:nvSpPr>
          <p:cNvPr id="11" name="texto-10"/>
          <p:cNvSpPr txBox="1"/>
          <p:nvPr/>
        </p:nvSpPr>
        <p:spPr>
          <a:xfrm>
            <a:off x="3977640" y="5532120"/>
            <a:ext cx="3291840" cy="594360"/>
          </a:xfrm>
          <a:prstGeom prst="rect">
            <a:avLst/>
          </a:prstGeom>
          <a:noFill/>
          <a:ln/>
        </p:spPr>
        <p:txBody>
          <a:bodyPr wrap="square" lIns="0" tIns="0" rIns="0" bIns="0" rtlCol="0" anchor="t"/>
          <a:lstStyle/>
          <a:p>
            <a:pPr indent="0" marL="0">
              <a:buNone/>
            </a:pPr>
            <a:r>
              <a:rPr lang="en-US" sz="1400" b="1" dirty="0">
                <a:solidFill>
                  <a:schemeClr val="tx1"/>
                </a:solidFill>
              </a:rPr>
              <a:t>Luciana Yangali Cáceres</a:t>
            </a:r>
            <a:endParaRPr lang="en-US" sz="1400" dirty="0"/>
          </a:p>
          <a:p>
            <a:pPr indent="0" marL="0">
              <a:buNone/>
            </a:pPr>
            <a:r>
              <a:rPr lang="en-US" sz="1200" dirty="0">
                <a:solidFill>
                  <a:schemeClr val="tx1"/>
                </a:solidFill>
              </a:rPr>
              <a:t>Producto y diseño</a:t>
            </a:r>
            <a:endParaRPr lang="en-US" sz="1400" dirty="0"/>
          </a:p>
        </p:txBody>
      </p:sp>
      <p:pic>
        <p:nvPicPr>
          <p:cNvPr id="12" name="cartel-estimador" descr="El estimador en vivo de la página de inicio: Miraflores, 90 m², 3 dormitorios, 2 baños, S/ 3,551 al mes">    </p:cNvPr>
          <p:cNvPicPr>
            <a:picLocks noChangeAspect="1"/>
          </p:cNvPicPr>
          <p:nvPr/>
        </p:nvPicPr>
        <p:blipFill>
          <a:blip r:embed="rId2"/>
          <a:stretch>
            <a:fillRect/>
          </a:stretch>
        </p:blipFill>
        <p:spPr>
          <a:xfrm rot="120000">
            <a:off x="7543800" y="868680"/>
            <a:ext cx="4114800" cy="519707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dirty="0">
                <a:solidFill>
                  <a:schemeClr val="tx1"/>
                </a:solidFill>
              </a:rPr>
              <a:t>¿A cuánto lo alquilo?</a:t>
            </a:r>
            <a:endParaRPr lang="en-US" sz="3200" dirty="0"/>
          </a:p>
        </p:txBody>
      </p:sp>
      <p:sp>
        <p:nvSpPr>
          <p:cNvPr id="3" name="caja-11"/>
          <p:cNvSpPr/>
          <p:nvPr/>
        </p:nvSpPr>
        <p:spPr>
          <a:xfrm>
            <a:off x="548640" y="1508760"/>
            <a:ext cx="6035040" cy="2011680"/>
          </a:xfrm>
          <a:prstGeom prst="rect">
            <a:avLst/>
          </a:prstGeom>
          <a:solidFill>
            <a:schemeClr val="accent3"/>
          </a:solidFill>
          <a:ln/>
        </p:spPr>
      </p:sp>
      <p:sp>
        <p:nvSpPr>
          <p:cNvPr id="4" name="texto-12"/>
          <p:cNvSpPr txBox="1"/>
          <p:nvPr/>
        </p:nvSpPr>
        <p:spPr>
          <a:xfrm>
            <a:off x="868680" y="1783080"/>
            <a:ext cx="5394960" cy="411480"/>
          </a:xfrm>
          <a:prstGeom prst="rect">
            <a:avLst/>
          </a:prstGeom>
          <a:noFill/>
          <a:ln/>
        </p:spPr>
        <p:txBody>
          <a:bodyPr wrap="square" lIns="0" tIns="0" rIns="0" bIns="0" rtlCol="0" anchor="t"/>
          <a:lstStyle/>
          <a:p>
            <a:pPr indent="0" marL="0">
              <a:buNone/>
            </a:pPr>
            <a:r>
              <a:rPr lang="en-US" sz="2000" dirty="0">
                <a:solidFill>
                  <a:schemeClr val="tx1"/>
                </a:solidFill>
                <a:latin typeface="Arial Black" pitchFamily="34" charset="0"/>
                <a:ea typeface="Arial Black" pitchFamily="34" charset="-122"/>
                <a:cs typeface="Arial Black" pitchFamily="34" charset="-120"/>
              </a:rPr>
              <a:t>Propietario</a:t>
            </a:r>
            <a:endParaRPr lang="en-US" sz="2000" dirty="0"/>
          </a:p>
        </p:txBody>
      </p:sp>
      <p:sp>
        <p:nvSpPr>
          <p:cNvPr id="5" name="texto-13"/>
          <p:cNvSpPr txBox="1"/>
          <p:nvPr/>
        </p:nvSpPr>
        <p:spPr>
          <a:xfrm>
            <a:off x="868680" y="2331720"/>
            <a:ext cx="5394960" cy="1005840"/>
          </a:xfrm>
          <a:prstGeom prst="rect">
            <a:avLst/>
          </a:prstGeom>
          <a:noFill/>
          <a:ln/>
        </p:spPr>
        <p:txBody>
          <a:bodyPr wrap="square" lIns="0" tIns="0" rIns="0" bIns="0" rtlCol="0" anchor="t"/>
          <a:lstStyle/>
          <a:p>
            <a:pPr indent="0" marL="0">
              <a:buNone/>
            </a:pPr>
            <a:r>
              <a:rPr lang="en-US" sz="1600" dirty="0">
                <a:solidFill>
                  <a:schemeClr val="tx1"/>
                </a:solidFill>
              </a:rPr>
              <a:t>Si pide de más, el departamento se queda vacío; si pide de menos, pierde renta cada mes.</a:t>
            </a:r>
            <a:endParaRPr lang="en-US" sz="1600" dirty="0"/>
          </a:p>
        </p:txBody>
      </p:sp>
      <p:sp>
        <p:nvSpPr>
          <p:cNvPr id="6" name="caja-14"/>
          <p:cNvSpPr/>
          <p:nvPr/>
        </p:nvSpPr>
        <p:spPr>
          <a:xfrm>
            <a:off x="548640" y="3749040"/>
            <a:ext cx="6035040" cy="2011680"/>
          </a:xfrm>
          <a:prstGeom prst="rect">
            <a:avLst/>
          </a:prstGeom>
          <a:solidFill>
            <a:schemeClr val="bg2"/>
          </a:solidFill>
          <a:ln/>
        </p:spPr>
      </p:sp>
      <p:sp>
        <p:nvSpPr>
          <p:cNvPr id="7" name="texto-15"/>
          <p:cNvSpPr txBox="1"/>
          <p:nvPr/>
        </p:nvSpPr>
        <p:spPr>
          <a:xfrm>
            <a:off x="868680" y="4023360"/>
            <a:ext cx="5394960" cy="411480"/>
          </a:xfrm>
          <a:prstGeom prst="rect">
            <a:avLst/>
          </a:prstGeom>
          <a:noFill/>
          <a:ln/>
        </p:spPr>
        <p:txBody>
          <a:bodyPr wrap="square" lIns="0" tIns="0" rIns="0" bIns="0" rtlCol="0" anchor="t"/>
          <a:lstStyle/>
          <a:p>
            <a:pPr indent="0" marL="0">
              <a:buNone/>
            </a:pPr>
            <a:r>
              <a:rPr lang="en-US" sz="2000" dirty="0">
                <a:solidFill>
                  <a:schemeClr val="tx1"/>
                </a:solidFill>
                <a:latin typeface="Arial Black" pitchFamily="34" charset="0"/>
                <a:ea typeface="Arial Black" pitchFamily="34" charset="-122"/>
                <a:cs typeface="Arial Black" pitchFamily="34" charset="-120"/>
              </a:rPr>
              <a:t>Inquilino</a:t>
            </a:r>
            <a:endParaRPr lang="en-US" sz="2000" dirty="0"/>
          </a:p>
        </p:txBody>
      </p:sp>
      <p:sp>
        <p:nvSpPr>
          <p:cNvPr id="8" name="texto-16"/>
          <p:cNvSpPr txBox="1"/>
          <p:nvPr/>
        </p:nvSpPr>
        <p:spPr>
          <a:xfrm>
            <a:off x="868680" y="4572000"/>
            <a:ext cx="5394960" cy="1005840"/>
          </a:xfrm>
          <a:prstGeom prst="rect">
            <a:avLst/>
          </a:prstGeom>
          <a:noFill/>
          <a:ln/>
        </p:spPr>
        <p:txBody>
          <a:bodyPr wrap="square" lIns="0" tIns="0" rIns="0" bIns="0" rtlCol="0" anchor="t"/>
          <a:lstStyle/>
          <a:p>
            <a:pPr indent="0" marL="0">
              <a:buNone/>
            </a:pPr>
            <a:r>
              <a:rPr lang="en-US" sz="1600" dirty="0">
                <a:solidFill>
                  <a:schemeClr val="tx1"/>
                </a:solidFill>
              </a:rPr>
              <a:t>No sabe si un precio es justo frente a departamentos parecidos del mismo distrito.</a:t>
            </a:r>
            <a:endParaRPr lang="en-US" sz="1600" dirty="0"/>
          </a:p>
        </p:txBody>
      </p:sp>
      <p:sp>
        <p:nvSpPr>
          <p:cNvPr id="9" name="caja-17"/>
          <p:cNvSpPr/>
          <p:nvPr/>
        </p:nvSpPr>
        <p:spPr>
          <a:xfrm>
            <a:off x="6903720" y="1508760"/>
            <a:ext cx="4736592" cy="4251960"/>
          </a:xfrm>
          <a:prstGeom prst="rect">
            <a:avLst/>
          </a:prstGeom>
          <a:solidFill>
            <a:schemeClr val="tx1"/>
          </a:solidFill>
          <a:ln/>
        </p:spPr>
      </p:sp>
      <p:sp>
        <p:nvSpPr>
          <p:cNvPr id="10" name="texto-18"/>
          <p:cNvSpPr txBox="1"/>
          <p:nvPr/>
        </p:nvSpPr>
        <p:spPr>
          <a:xfrm>
            <a:off x="7269480" y="1828800"/>
            <a:ext cx="4023360" cy="822960"/>
          </a:xfrm>
          <a:prstGeom prst="rect">
            <a:avLst/>
          </a:prstGeom>
          <a:noFill/>
          <a:ln/>
        </p:spPr>
        <p:txBody>
          <a:bodyPr wrap="square" lIns="0" tIns="0" rIns="0" bIns="0" rtlCol="0" anchor="t"/>
          <a:lstStyle/>
          <a:p>
            <a:pPr indent="0" marL="0">
              <a:buNone/>
            </a:pPr>
            <a:r>
              <a:rPr lang="en-US" sz="1600" dirty="0">
                <a:solidFill>
                  <a:schemeClr val="bg1"/>
                </a:solidFill>
              </a:rPr>
              <a:t>Fijar el precio con la mediana del distrito se equivoca, en promedio, en</a:t>
            </a:r>
            <a:endParaRPr lang="en-US" sz="1600" dirty="0"/>
          </a:p>
        </p:txBody>
      </p:sp>
      <p:sp>
        <p:nvSpPr>
          <p:cNvPr id="11" name="texto-19"/>
          <p:cNvSpPr txBox="1"/>
          <p:nvPr/>
        </p:nvSpPr>
        <p:spPr>
          <a:xfrm>
            <a:off x="7269480" y="2651760"/>
            <a:ext cx="4023360" cy="1005840"/>
          </a:xfrm>
          <a:prstGeom prst="rect">
            <a:avLst/>
          </a:prstGeom>
          <a:noFill/>
          <a:ln/>
        </p:spPr>
        <p:txBody>
          <a:bodyPr wrap="square" lIns="0" tIns="0" rIns="0" bIns="0" rtlCol="0" anchor="ctr"/>
          <a:lstStyle/>
          <a:p>
            <a:pPr indent="0" marL="0">
              <a:buNone/>
            </a:pPr>
            <a:r>
              <a:rPr lang="en-US" sz="6000" dirty="0">
                <a:solidFill>
                  <a:schemeClr val="accent1"/>
                </a:solidFill>
                <a:latin typeface="Arial Black" pitchFamily="34" charset="0"/>
                <a:ea typeface="Arial Black" pitchFamily="34" charset="-122"/>
                <a:cs typeface="Arial Black" pitchFamily="34" charset="-120"/>
              </a:rPr>
              <a:t>S/ 993</a:t>
            </a:r>
            <a:endParaRPr lang="en-US" sz="6000" dirty="0"/>
          </a:p>
        </p:txBody>
      </p:sp>
      <p:sp>
        <p:nvSpPr>
          <p:cNvPr id="12" name="texto-20"/>
          <p:cNvSpPr txBox="1"/>
          <p:nvPr/>
        </p:nvSpPr>
        <p:spPr>
          <a:xfrm>
            <a:off x="7269480" y="3657600"/>
            <a:ext cx="4023360" cy="365760"/>
          </a:xfrm>
          <a:prstGeom prst="rect">
            <a:avLst/>
          </a:prstGeom>
          <a:noFill/>
          <a:ln/>
        </p:spPr>
        <p:txBody>
          <a:bodyPr wrap="square" lIns="0" tIns="0" rIns="0" bIns="0" rtlCol="0" anchor="t"/>
          <a:lstStyle/>
          <a:p>
            <a:pPr indent="0" marL="0">
              <a:buNone/>
            </a:pPr>
            <a:r>
              <a:rPr lang="en-US" sz="1600" dirty="0">
                <a:solidFill>
                  <a:schemeClr val="bg1"/>
                </a:solidFill>
              </a:rPr>
              <a:t>al mes por departamento.</a:t>
            </a:r>
            <a:endParaRPr lang="en-US" sz="1600" dirty="0"/>
          </a:p>
        </p:txBody>
      </p:sp>
      <p:sp>
        <p:nvSpPr>
          <p:cNvPr id="13" name="texto-21"/>
          <p:cNvSpPr txBox="1"/>
          <p:nvPr/>
        </p:nvSpPr>
        <p:spPr>
          <a:xfrm>
            <a:off x="7269480" y="4434840"/>
            <a:ext cx="4023360" cy="822960"/>
          </a:xfrm>
          <a:prstGeom prst="rect">
            <a:avLst/>
          </a:prstGeom>
          <a:noFill/>
          <a:ln/>
        </p:spPr>
        <p:txBody>
          <a:bodyPr wrap="square" lIns="0" tIns="0" rIns="0" bIns="0" rtlCol="0" anchor="t"/>
          <a:lstStyle/>
          <a:p>
            <a:pPr indent="0" marL="0">
              <a:buNone/>
            </a:pPr>
            <a:r>
              <a:rPr lang="en-US" sz="1600" b="1" dirty="0">
                <a:solidFill>
                  <a:schemeClr val="bg1"/>
                </a:solidFill>
              </a:rPr>
              <a:t>DepaRent lo baja a S/ 553.</a:t>
            </a:r>
            <a:endParaRPr lang="en-US" sz="1600" dirty="0"/>
          </a:p>
          <a:p>
            <a:pPr indent="0" marL="0">
              <a:buNone/>
            </a:pPr>
            <a:r>
              <a:rPr lang="en-US" sz="1200" dirty="0">
                <a:solidFill>
                  <a:schemeClr val="accent3"/>
                </a:solidFill>
              </a:rPr>
              <a:t>Prueba de septiembre: 629 anuncios.</a:t>
            </a:r>
            <a:endParaRPr lang="en-US" sz="16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dirty="0">
                <a:solidFill>
                  <a:schemeClr val="tx1"/>
                </a:solidFill>
              </a:rPr>
              <a:t>Dos recorridos, un mismo análisis</a:t>
            </a:r>
            <a:endParaRPr lang="en-US" sz="3200" dirty="0"/>
          </a:p>
        </p:txBody>
      </p:sp>
      <p:sp>
        <p:nvSpPr>
          <p:cNvPr id="3" name="texto-22"/>
          <p:cNvSpPr txBox="1"/>
          <p:nvPr/>
        </p:nvSpPr>
        <p:spPr>
          <a:xfrm>
            <a:off x="548640" y="2286000"/>
            <a:ext cx="1645920" cy="457200"/>
          </a:xfrm>
          <a:prstGeom prst="rect">
            <a:avLst/>
          </a:prstGeom>
          <a:noFill/>
          <a:ln/>
        </p:spPr>
        <p:txBody>
          <a:bodyPr wrap="square" lIns="0" tIns="0" rIns="0" bIns="0" rtlCol="0" anchor="t"/>
          <a:lstStyle/>
          <a:p>
            <a:pPr indent="0" marL="0">
              <a:buNone/>
            </a:pPr>
            <a:r>
              <a:rPr lang="en-US" sz="1800" dirty="0">
                <a:solidFill>
                  <a:schemeClr val="tx1"/>
                </a:solidFill>
                <a:latin typeface="Arial Black" pitchFamily="34" charset="0"/>
                <a:ea typeface="Arial Black" pitchFamily="34" charset="-122"/>
                <a:cs typeface="Arial Black" pitchFamily="34" charset="-120"/>
              </a:rPr>
              <a:t>Propietario</a:t>
            </a:r>
            <a:endParaRPr lang="en-US" sz="1800" dirty="0"/>
          </a:p>
        </p:txBody>
      </p:sp>
      <p:sp>
        <p:nvSpPr>
          <p:cNvPr id="4" name="caja-23"/>
          <p:cNvSpPr/>
          <p:nvPr/>
        </p:nvSpPr>
        <p:spPr>
          <a:xfrm>
            <a:off x="2286000" y="1600200"/>
            <a:ext cx="2103120" cy="1828800"/>
          </a:xfrm>
          <a:prstGeom prst="rect">
            <a:avLst/>
          </a:prstGeom>
          <a:solidFill>
            <a:schemeClr val="accent3"/>
          </a:solidFill>
          <a:ln/>
        </p:spPr>
      </p:sp>
      <p:sp>
        <p:nvSpPr>
          <p:cNvPr id="5" name="caja-24"/>
          <p:cNvSpPr/>
          <p:nvPr/>
        </p:nvSpPr>
        <p:spPr>
          <a:xfrm>
            <a:off x="2468880" y="1783080"/>
            <a:ext cx="384048" cy="384048"/>
          </a:xfrm>
          <a:prstGeom prst="rect">
            <a:avLst/>
          </a:prstGeom>
          <a:solidFill>
            <a:schemeClr val="accent1"/>
          </a:solidFill>
          <a:ln/>
        </p:spPr>
      </p:sp>
      <p:sp>
        <p:nvSpPr>
          <p:cNvPr id="6" name="texto-25"/>
          <p:cNvSpPr txBox="1"/>
          <p:nvPr/>
        </p:nvSpPr>
        <p:spPr>
          <a:xfrm>
            <a:off x="2468880" y="178308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1</a:t>
            </a:r>
            <a:endParaRPr lang="en-US" sz="1400" dirty="0"/>
          </a:p>
        </p:txBody>
      </p:sp>
      <p:sp>
        <p:nvSpPr>
          <p:cNvPr id="7" name="texto-26"/>
          <p:cNvSpPr txBox="1"/>
          <p:nvPr/>
        </p:nvSpPr>
        <p:spPr>
          <a:xfrm>
            <a:off x="2468880" y="2286000"/>
            <a:ext cx="1783080" cy="365760"/>
          </a:xfrm>
          <a:prstGeom prst="rect">
            <a:avLst/>
          </a:prstGeom>
          <a:noFill/>
          <a:ln/>
        </p:spPr>
        <p:txBody>
          <a:bodyPr wrap="square" lIns="0" tIns="0" rIns="0" bIns="0" rtlCol="0" anchor="t"/>
          <a:lstStyle/>
          <a:p>
            <a:pPr indent="0" marL="0">
              <a:buNone/>
            </a:pPr>
            <a:r>
              <a:rPr lang="en-US" sz="1600" b="1" dirty="0">
                <a:solidFill>
                  <a:schemeClr val="tx1"/>
                </a:solidFill>
              </a:rPr>
              <a:t>Describe su depa</a:t>
            </a:r>
            <a:endParaRPr lang="en-US" sz="1600" dirty="0"/>
          </a:p>
        </p:txBody>
      </p:sp>
      <p:sp>
        <p:nvSpPr>
          <p:cNvPr id="8" name="texto-27"/>
          <p:cNvSpPr txBox="1"/>
          <p:nvPr/>
        </p:nvSpPr>
        <p:spPr>
          <a:xfrm>
            <a:off x="2468880" y="2651760"/>
            <a:ext cx="1783080" cy="685800"/>
          </a:xfrm>
          <a:prstGeom prst="rect">
            <a:avLst/>
          </a:prstGeom>
          <a:noFill/>
          <a:ln/>
        </p:spPr>
        <p:txBody>
          <a:bodyPr wrap="square" lIns="0" tIns="0" rIns="0" bIns="0" rtlCol="0" anchor="t"/>
          <a:lstStyle/>
          <a:p>
            <a:pPr indent="0" marL="0">
              <a:buNone/>
            </a:pPr>
            <a:r>
              <a:rPr lang="en-US" sz="1200" dirty="0">
                <a:solidFill>
                  <a:schemeClr val="tx1"/>
                </a:solidFill>
              </a:rPr>
              <a:t>Área, dormitorios, amenidades y ubicación en el mapa</a:t>
            </a:r>
            <a:endParaRPr lang="en-US" sz="1200" dirty="0"/>
          </a:p>
        </p:txBody>
      </p:sp>
      <p:sp>
        <p:nvSpPr>
          <p:cNvPr id="9" name="texto-28"/>
          <p:cNvSpPr txBox="1"/>
          <p:nvPr/>
        </p:nvSpPr>
        <p:spPr>
          <a:xfrm>
            <a:off x="4389120" y="2286000"/>
            <a:ext cx="274320" cy="411480"/>
          </a:xfrm>
          <a:prstGeom prst="rect">
            <a:avLst/>
          </a:prstGeom>
          <a:noFill/>
          <a:ln/>
        </p:spPr>
        <p:txBody>
          <a:bodyPr wrap="square" lIns="0" tIns="0" rIns="0" bIns="0" rtlCol="0" anchor="t"/>
          <a:lstStyle/>
          <a:p>
            <a:pPr algn="ctr" indent="0" marL="0">
              <a:buNone/>
            </a:pPr>
            <a:r>
              <a:rPr lang="en-US" sz="1800" b="1" dirty="0">
                <a:solidFill>
                  <a:schemeClr val="accent4"/>
                </a:solidFill>
              </a:rPr>
              <a:t>→</a:t>
            </a:r>
            <a:endParaRPr lang="en-US" sz="1800" dirty="0"/>
          </a:p>
        </p:txBody>
      </p:sp>
      <p:sp>
        <p:nvSpPr>
          <p:cNvPr id="10" name="caja-29"/>
          <p:cNvSpPr/>
          <p:nvPr/>
        </p:nvSpPr>
        <p:spPr>
          <a:xfrm>
            <a:off x="4663440" y="1600200"/>
            <a:ext cx="2103120" cy="1828800"/>
          </a:xfrm>
          <a:prstGeom prst="rect">
            <a:avLst/>
          </a:prstGeom>
          <a:solidFill>
            <a:schemeClr val="accent3"/>
          </a:solidFill>
          <a:ln/>
        </p:spPr>
      </p:sp>
      <p:sp>
        <p:nvSpPr>
          <p:cNvPr id="11" name="caja-30"/>
          <p:cNvSpPr/>
          <p:nvPr/>
        </p:nvSpPr>
        <p:spPr>
          <a:xfrm>
            <a:off x="4846320" y="1783080"/>
            <a:ext cx="384048" cy="384048"/>
          </a:xfrm>
          <a:prstGeom prst="rect">
            <a:avLst/>
          </a:prstGeom>
          <a:solidFill>
            <a:schemeClr val="accent1"/>
          </a:solidFill>
          <a:ln/>
        </p:spPr>
      </p:sp>
      <p:sp>
        <p:nvSpPr>
          <p:cNvPr id="12" name="texto-31"/>
          <p:cNvSpPr txBox="1"/>
          <p:nvPr/>
        </p:nvSpPr>
        <p:spPr>
          <a:xfrm>
            <a:off x="4846320" y="178308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2</a:t>
            </a:r>
            <a:endParaRPr lang="en-US" sz="1400" dirty="0"/>
          </a:p>
        </p:txBody>
      </p:sp>
      <p:sp>
        <p:nvSpPr>
          <p:cNvPr id="13" name="texto-32"/>
          <p:cNvSpPr txBox="1"/>
          <p:nvPr/>
        </p:nvSpPr>
        <p:spPr>
          <a:xfrm>
            <a:off x="4846320" y="2286000"/>
            <a:ext cx="1783080" cy="365760"/>
          </a:xfrm>
          <a:prstGeom prst="rect">
            <a:avLst/>
          </a:prstGeom>
          <a:noFill/>
          <a:ln/>
        </p:spPr>
        <p:txBody>
          <a:bodyPr wrap="square" lIns="0" tIns="0" rIns="0" bIns="0" rtlCol="0" anchor="t"/>
          <a:lstStyle/>
          <a:p>
            <a:pPr indent="0" marL="0">
              <a:buNone/>
            </a:pPr>
            <a:r>
              <a:rPr lang="en-US" sz="1600" b="1" dirty="0">
                <a:solidFill>
                  <a:schemeClr val="tx1"/>
                </a:solidFill>
              </a:rPr>
              <a:t>Recibe el análisis</a:t>
            </a:r>
            <a:endParaRPr lang="en-US" sz="1600" dirty="0"/>
          </a:p>
        </p:txBody>
      </p:sp>
      <p:sp>
        <p:nvSpPr>
          <p:cNvPr id="14" name="texto-33"/>
          <p:cNvSpPr txBox="1"/>
          <p:nvPr/>
        </p:nvSpPr>
        <p:spPr>
          <a:xfrm>
            <a:off x="4846320" y="2651760"/>
            <a:ext cx="1783080" cy="685800"/>
          </a:xfrm>
          <a:prstGeom prst="rect">
            <a:avLst/>
          </a:prstGeom>
          <a:noFill/>
          <a:ln/>
        </p:spPr>
        <p:txBody>
          <a:bodyPr wrap="square" lIns="0" tIns="0" rIns="0" bIns="0" rtlCol="0" anchor="t"/>
          <a:lstStyle/>
          <a:p>
            <a:pPr indent="0" marL="0">
              <a:buNone/>
            </a:pPr>
            <a:r>
              <a:rPr lang="en-US" sz="1200" dirty="0">
                <a:solidFill>
                  <a:schemeClr val="tx1"/>
                </a:solidFill>
              </a:rPr>
              <a:t>Precio esperado, rango, comparables y tendencia</a:t>
            </a:r>
            <a:endParaRPr lang="en-US" sz="1200" dirty="0"/>
          </a:p>
        </p:txBody>
      </p:sp>
      <p:sp>
        <p:nvSpPr>
          <p:cNvPr id="15" name="texto-34"/>
          <p:cNvSpPr txBox="1"/>
          <p:nvPr/>
        </p:nvSpPr>
        <p:spPr>
          <a:xfrm>
            <a:off x="6766560" y="2286000"/>
            <a:ext cx="274320" cy="411480"/>
          </a:xfrm>
          <a:prstGeom prst="rect">
            <a:avLst/>
          </a:prstGeom>
          <a:noFill/>
          <a:ln/>
        </p:spPr>
        <p:txBody>
          <a:bodyPr wrap="square" lIns="0" tIns="0" rIns="0" bIns="0" rtlCol="0" anchor="t"/>
          <a:lstStyle/>
          <a:p>
            <a:pPr algn="ctr" indent="0" marL="0">
              <a:buNone/>
            </a:pPr>
            <a:r>
              <a:rPr lang="en-US" sz="1800" b="1" dirty="0">
                <a:solidFill>
                  <a:schemeClr val="accent4"/>
                </a:solidFill>
              </a:rPr>
              <a:t>→</a:t>
            </a:r>
            <a:endParaRPr lang="en-US" sz="1800" dirty="0"/>
          </a:p>
        </p:txBody>
      </p:sp>
      <p:sp>
        <p:nvSpPr>
          <p:cNvPr id="16" name="caja-35"/>
          <p:cNvSpPr/>
          <p:nvPr/>
        </p:nvSpPr>
        <p:spPr>
          <a:xfrm>
            <a:off x="7040880" y="1600200"/>
            <a:ext cx="2103120" cy="1828800"/>
          </a:xfrm>
          <a:prstGeom prst="rect">
            <a:avLst/>
          </a:prstGeom>
          <a:solidFill>
            <a:schemeClr val="accent3"/>
          </a:solidFill>
          <a:ln/>
        </p:spPr>
      </p:sp>
      <p:sp>
        <p:nvSpPr>
          <p:cNvPr id="17" name="caja-36"/>
          <p:cNvSpPr/>
          <p:nvPr/>
        </p:nvSpPr>
        <p:spPr>
          <a:xfrm>
            <a:off x="7223760" y="1783080"/>
            <a:ext cx="384048" cy="384048"/>
          </a:xfrm>
          <a:prstGeom prst="rect">
            <a:avLst/>
          </a:prstGeom>
          <a:solidFill>
            <a:schemeClr val="accent1"/>
          </a:solidFill>
          <a:ln/>
        </p:spPr>
      </p:sp>
      <p:sp>
        <p:nvSpPr>
          <p:cNvPr id="18" name="texto-37"/>
          <p:cNvSpPr txBox="1"/>
          <p:nvPr/>
        </p:nvSpPr>
        <p:spPr>
          <a:xfrm>
            <a:off x="7223760" y="178308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3</a:t>
            </a:r>
            <a:endParaRPr lang="en-US" sz="1400" dirty="0"/>
          </a:p>
        </p:txBody>
      </p:sp>
      <p:sp>
        <p:nvSpPr>
          <p:cNvPr id="19" name="texto-38"/>
          <p:cNvSpPr txBox="1"/>
          <p:nvPr/>
        </p:nvSpPr>
        <p:spPr>
          <a:xfrm>
            <a:off x="7223760" y="2286000"/>
            <a:ext cx="1783080" cy="365760"/>
          </a:xfrm>
          <a:prstGeom prst="rect">
            <a:avLst/>
          </a:prstGeom>
          <a:noFill/>
          <a:ln/>
        </p:spPr>
        <p:txBody>
          <a:bodyPr wrap="square" lIns="0" tIns="0" rIns="0" bIns="0" rtlCol="0" anchor="t"/>
          <a:lstStyle/>
          <a:p>
            <a:pPr indent="0" marL="0">
              <a:buNone/>
            </a:pPr>
            <a:r>
              <a:rPr lang="en-US" sz="1600" b="1" dirty="0">
                <a:solidFill>
                  <a:schemeClr val="tx1"/>
                </a:solidFill>
              </a:rPr>
              <a:t>Publica</a:t>
            </a:r>
            <a:endParaRPr lang="en-US" sz="1600" dirty="0"/>
          </a:p>
        </p:txBody>
      </p:sp>
      <p:sp>
        <p:nvSpPr>
          <p:cNvPr id="20" name="texto-39"/>
          <p:cNvSpPr txBox="1"/>
          <p:nvPr/>
        </p:nvSpPr>
        <p:spPr>
          <a:xfrm>
            <a:off x="7223760" y="2651760"/>
            <a:ext cx="1783080" cy="685800"/>
          </a:xfrm>
          <a:prstGeom prst="rect">
            <a:avLst/>
          </a:prstGeom>
          <a:noFill/>
          <a:ln/>
        </p:spPr>
        <p:txBody>
          <a:bodyPr wrap="square" lIns="0" tIns="0" rIns="0" bIns="0" rtlCol="0" anchor="t"/>
          <a:lstStyle/>
          <a:p>
            <a:pPr indent="0" marL="0">
              <a:buNone/>
            </a:pPr>
            <a:r>
              <a:rPr lang="en-US" sz="1200" dirty="0">
                <a:solidFill>
                  <a:schemeClr val="tx1"/>
                </a:solidFill>
              </a:rPr>
              <a:t>Elige uno de tres precios de publicación</a:t>
            </a:r>
            <a:endParaRPr lang="en-US" sz="1200" dirty="0"/>
          </a:p>
        </p:txBody>
      </p:sp>
      <p:sp>
        <p:nvSpPr>
          <p:cNvPr id="21" name="texto-40"/>
          <p:cNvSpPr txBox="1"/>
          <p:nvPr/>
        </p:nvSpPr>
        <p:spPr>
          <a:xfrm>
            <a:off x="9144000" y="2286000"/>
            <a:ext cx="274320" cy="411480"/>
          </a:xfrm>
          <a:prstGeom prst="rect">
            <a:avLst/>
          </a:prstGeom>
          <a:noFill/>
          <a:ln/>
        </p:spPr>
        <p:txBody>
          <a:bodyPr wrap="square" lIns="0" tIns="0" rIns="0" bIns="0" rtlCol="0" anchor="t"/>
          <a:lstStyle/>
          <a:p>
            <a:pPr algn="ctr" indent="0" marL="0">
              <a:buNone/>
            </a:pPr>
            <a:r>
              <a:rPr lang="en-US" sz="1800" b="1" dirty="0">
                <a:solidFill>
                  <a:schemeClr val="accent4"/>
                </a:solidFill>
              </a:rPr>
              <a:t>→</a:t>
            </a:r>
            <a:endParaRPr lang="en-US" sz="1800" dirty="0"/>
          </a:p>
        </p:txBody>
      </p:sp>
      <p:sp>
        <p:nvSpPr>
          <p:cNvPr id="22" name="caja-41"/>
          <p:cNvSpPr/>
          <p:nvPr/>
        </p:nvSpPr>
        <p:spPr>
          <a:xfrm>
            <a:off x="9418320" y="1600200"/>
            <a:ext cx="2103120" cy="1828800"/>
          </a:xfrm>
          <a:prstGeom prst="rect">
            <a:avLst/>
          </a:prstGeom>
          <a:solidFill>
            <a:schemeClr val="accent3"/>
          </a:solidFill>
          <a:ln/>
        </p:spPr>
      </p:sp>
      <p:sp>
        <p:nvSpPr>
          <p:cNvPr id="23" name="caja-42"/>
          <p:cNvSpPr/>
          <p:nvPr/>
        </p:nvSpPr>
        <p:spPr>
          <a:xfrm>
            <a:off x="9601200" y="1783080"/>
            <a:ext cx="384048" cy="384048"/>
          </a:xfrm>
          <a:prstGeom prst="rect">
            <a:avLst/>
          </a:prstGeom>
          <a:solidFill>
            <a:schemeClr val="accent1"/>
          </a:solidFill>
          <a:ln/>
        </p:spPr>
      </p:sp>
      <p:sp>
        <p:nvSpPr>
          <p:cNvPr id="24" name="texto-43"/>
          <p:cNvSpPr txBox="1"/>
          <p:nvPr/>
        </p:nvSpPr>
        <p:spPr>
          <a:xfrm>
            <a:off x="9601200" y="178308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4</a:t>
            </a:r>
            <a:endParaRPr lang="en-US" sz="1400" dirty="0"/>
          </a:p>
        </p:txBody>
      </p:sp>
      <p:sp>
        <p:nvSpPr>
          <p:cNvPr id="25" name="texto-44"/>
          <p:cNvSpPr txBox="1"/>
          <p:nvPr/>
        </p:nvSpPr>
        <p:spPr>
          <a:xfrm>
            <a:off x="9601200" y="2286000"/>
            <a:ext cx="1783080" cy="365760"/>
          </a:xfrm>
          <a:prstGeom prst="rect">
            <a:avLst/>
          </a:prstGeom>
          <a:noFill/>
          <a:ln/>
        </p:spPr>
        <p:txBody>
          <a:bodyPr wrap="square" lIns="0" tIns="0" rIns="0" bIns="0" rtlCol="0" anchor="t"/>
          <a:lstStyle/>
          <a:p>
            <a:pPr indent="0" marL="0">
              <a:buNone/>
            </a:pPr>
            <a:r>
              <a:rPr lang="en-US" sz="1600" b="1" dirty="0">
                <a:solidFill>
                  <a:schemeClr val="tx1"/>
                </a:solidFill>
              </a:rPr>
              <a:t>Recibe mensajes</a:t>
            </a:r>
            <a:endParaRPr lang="en-US" sz="1600" dirty="0"/>
          </a:p>
        </p:txBody>
      </p:sp>
      <p:sp>
        <p:nvSpPr>
          <p:cNvPr id="26" name="texto-45"/>
          <p:cNvSpPr txBox="1"/>
          <p:nvPr/>
        </p:nvSpPr>
        <p:spPr>
          <a:xfrm>
            <a:off x="9601200" y="2651760"/>
            <a:ext cx="1783080" cy="685800"/>
          </a:xfrm>
          <a:prstGeom prst="rect">
            <a:avLst/>
          </a:prstGeom>
          <a:noFill/>
          <a:ln/>
        </p:spPr>
        <p:txBody>
          <a:bodyPr wrap="square" lIns="0" tIns="0" rIns="0" bIns="0" rtlCol="0" anchor="t"/>
          <a:lstStyle/>
          <a:p>
            <a:pPr indent="0" marL="0">
              <a:buNone/>
            </a:pPr>
            <a:r>
              <a:rPr lang="en-US" sz="1200" dirty="0">
                <a:solidFill>
                  <a:schemeClr val="tx1"/>
                </a:solidFill>
              </a:rPr>
              <a:t>Los interesados le llegan a su cuenta</a:t>
            </a:r>
            <a:endParaRPr lang="en-US" sz="1200" dirty="0"/>
          </a:p>
        </p:txBody>
      </p:sp>
      <p:sp>
        <p:nvSpPr>
          <p:cNvPr id="27" name="texto-46"/>
          <p:cNvSpPr txBox="1"/>
          <p:nvPr/>
        </p:nvSpPr>
        <p:spPr>
          <a:xfrm>
            <a:off x="548640" y="4526280"/>
            <a:ext cx="1645920" cy="457200"/>
          </a:xfrm>
          <a:prstGeom prst="rect">
            <a:avLst/>
          </a:prstGeom>
          <a:noFill/>
          <a:ln/>
        </p:spPr>
        <p:txBody>
          <a:bodyPr wrap="square" lIns="0" tIns="0" rIns="0" bIns="0" rtlCol="0" anchor="t"/>
          <a:lstStyle/>
          <a:p>
            <a:pPr indent="0" marL="0">
              <a:buNone/>
            </a:pPr>
            <a:r>
              <a:rPr lang="en-US" sz="1800" dirty="0">
                <a:solidFill>
                  <a:schemeClr val="tx1"/>
                </a:solidFill>
                <a:latin typeface="Arial Black" pitchFamily="34" charset="0"/>
                <a:ea typeface="Arial Black" pitchFamily="34" charset="-122"/>
                <a:cs typeface="Arial Black" pitchFamily="34" charset="-120"/>
              </a:rPr>
              <a:t>Inquilino</a:t>
            </a:r>
            <a:endParaRPr lang="en-US" sz="1800" dirty="0"/>
          </a:p>
        </p:txBody>
      </p:sp>
      <p:sp>
        <p:nvSpPr>
          <p:cNvPr id="28" name="caja-47"/>
          <p:cNvSpPr/>
          <p:nvPr/>
        </p:nvSpPr>
        <p:spPr>
          <a:xfrm>
            <a:off x="2286000" y="3840480"/>
            <a:ext cx="2103120" cy="1828800"/>
          </a:xfrm>
          <a:prstGeom prst="rect">
            <a:avLst/>
          </a:prstGeom>
          <a:solidFill>
            <a:schemeClr val="bg2"/>
          </a:solidFill>
          <a:ln/>
        </p:spPr>
      </p:sp>
      <p:sp>
        <p:nvSpPr>
          <p:cNvPr id="29" name="caja-48"/>
          <p:cNvSpPr/>
          <p:nvPr/>
        </p:nvSpPr>
        <p:spPr>
          <a:xfrm>
            <a:off x="2468880" y="4023360"/>
            <a:ext cx="384048" cy="384048"/>
          </a:xfrm>
          <a:prstGeom prst="rect">
            <a:avLst/>
          </a:prstGeom>
          <a:solidFill>
            <a:schemeClr val="accent1"/>
          </a:solidFill>
          <a:ln/>
        </p:spPr>
      </p:sp>
      <p:sp>
        <p:nvSpPr>
          <p:cNvPr id="30" name="texto-49"/>
          <p:cNvSpPr txBox="1"/>
          <p:nvPr/>
        </p:nvSpPr>
        <p:spPr>
          <a:xfrm>
            <a:off x="2468880" y="40233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1</a:t>
            </a:r>
            <a:endParaRPr lang="en-US" sz="1400" dirty="0"/>
          </a:p>
        </p:txBody>
      </p:sp>
      <p:sp>
        <p:nvSpPr>
          <p:cNvPr id="31" name="texto-50"/>
          <p:cNvSpPr txBox="1"/>
          <p:nvPr/>
        </p:nvSpPr>
        <p:spPr>
          <a:xfrm>
            <a:off x="2468880" y="4526280"/>
            <a:ext cx="1783080" cy="365760"/>
          </a:xfrm>
          <a:prstGeom prst="rect">
            <a:avLst/>
          </a:prstGeom>
          <a:noFill/>
          <a:ln/>
        </p:spPr>
        <p:txBody>
          <a:bodyPr wrap="square" lIns="0" tIns="0" rIns="0" bIns="0" rtlCol="0" anchor="t"/>
          <a:lstStyle/>
          <a:p>
            <a:pPr indent="0" marL="0">
              <a:buNone/>
            </a:pPr>
            <a:r>
              <a:rPr lang="en-US" sz="1600" b="1" dirty="0">
                <a:solidFill>
                  <a:schemeClr val="tx1"/>
                </a:solidFill>
              </a:rPr>
              <a:t>Filtra</a:t>
            </a:r>
            <a:endParaRPr lang="en-US" sz="1600" dirty="0"/>
          </a:p>
        </p:txBody>
      </p:sp>
      <p:sp>
        <p:nvSpPr>
          <p:cNvPr id="32" name="texto-51"/>
          <p:cNvSpPr txBox="1"/>
          <p:nvPr/>
        </p:nvSpPr>
        <p:spPr>
          <a:xfrm>
            <a:off x="2468880" y="4892040"/>
            <a:ext cx="1783080" cy="685800"/>
          </a:xfrm>
          <a:prstGeom prst="rect">
            <a:avLst/>
          </a:prstGeom>
          <a:noFill/>
          <a:ln/>
        </p:spPr>
        <p:txBody>
          <a:bodyPr wrap="square" lIns="0" tIns="0" rIns="0" bIns="0" rtlCol="0" anchor="t"/>
          <a:lstStyle/>
          <a:p>
            <a:pPr indent="0" marL="0">
              <a:buNone/>
            </a:pPr>
            <a:r>
              <a:rPr lang="en-US" sz="1200" dirty="0">
                <a:solidFill>
                  <a:schemeClr val="tx1"/>
                </a:solidFill>
              </a:rPr>
              <a:t>Distrito, presupuesto, tamaño y paraderos</a:t>
            </a:r>
            <a:endParaRPr lang="en-US" sz="1200" dirty="0"/>
          </a:p>
        </p:txBody>
      </p:sp>
      <p:sp>
        <p:nvSpPr>
          <p:cNvPr id="33" name="texto-52"/>
          <p:cNvSpPr txBox="1"/>
          <p:nvPr/>
        </p:nvSpPr>
        <p:spPr>
          <a:xfrm>
            <a:off x="4389120" y="4526280"/>
            <a:ext cx="274320" cy="411480"/>
          </a:xfrm>
          <a:prstGeom prst="rect">
            <a:avLst/>
          </a:prstGeom>
          <a:noFill/>
          <a:ln/>
        </p:spPr>
        <p:txBody>
          <a:bodyPr wrap="square" lIns="0" tIns="0" rIns="0" bIns="0" rtlCol="0" anchor="t"/>
          <a:lstStyle/>
          <a:p>
            <a:pPr algn="ctr" indent="0" marL="0">
              <a:buNone/>
            </a:pPr>
            <a:r>
              <a:rPr lang="en-US" sz="1800" b="1" dirty="0">
                <a:solidFill>
                  <a:schemeClr val="accent4"/>
                </a:solidFill>
              </a:rPr>
              <a:t>→</a:t>
            </a:r>
            <a:endParaRPr lang="en-US" sz="1800" dirty="0"/>
          </a:p>
        </p:txBody>
      </p:sp>
      <p:sp>
        <p:nvSpPr>
          <p:cNvPr id="34" name="caja-53"/>
          <p:cNvSpPr/>
          <p:nvPr/>
        </p:nvSpPr>
        <p:spPr>
          <a:xfrm>
            <a:off x="4663440" y="3840480"/>
            <a:ext cx="2103120" cy="1828800"/>
          </a:xfrm>
          <a:prstGeom prst="rect">
            <a:avLst/>
          </a:prstGeom>
          <a:solidFill>
            <a:schemeClr val="bg2"/>
          </a:solidFill>
          <a:ln/>
        </p:spPr>
      </p:sp>
      <p:sp>
        <p:nvSpPr>
          <p:cNvPr id="35" name="caja-54"/>
          <p:cNvSpPr/>
          <p:nvPr/>
        </p:nvSpPr>
        <p:spPr>
          <a:xfrm>
            <a:off x="4846320" y="4023360"/>
            <a:ext cx="384048" cy="384048"/>
          </a:xfrm>
          <a:prstGeom prst="rect">
            <a:avLst/>
          </a:prstGeom>
          <a:solidFill>
            <a:schemeClr val="accent1"/>
          </a:solidFill>
          <a:ln/>
        </p:spPr>
      </p:sp>
      <p:sp>
        <p:nvSpPr>
          <p:cNvPr id="36" name="texto-55"/>
          <p:cNvSpPr txBox="1"/>
          <p:nvPr/>
        </p:nvSpPr>
        <p:spPr>
          <a:xfrm>
            <a:off x="4846320" y="40233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2</a:t>
            </a:r>
            <a:endParaRPr lang="en-US" sz="1400" dirty="0"/>
          </a:p>
        </p:txBody>
      </p:sp>
      <p:sp>
        <p:nvSpPr>
          <p:cNvPr id="37" name="texto-56"/>
          <p:cNvSpPr txBox="1"/>
          <p:nvPr/>
        </p:nvSpPr>
        <p:spPr>
          <a:xfrm>
            <a:off x="4846320" y="4526280"/>
            <a:ext cx="1783080" cy="365760"/>
          </a:xfrm>
          <a:prstGeom prst="rect">
            <a:avLst/>
          </a:prstGeom>
          <a:noFill/>
          <a:ln/>
        </p:spPr>
        <p:txBody>
          <a:bodyPr wrap="square" lIns="0" tIns="0" rIns="0" bIns="0" rtlCol="0" anchor="t"/>
          <a:lstStyle/>
          <a:p>
            <a:pPr indent="0" marL="0">
              <a:buNone/>
            </a:pPr>
            <a:r>
              <a:rPr lang="en-US" sz="1600" b="1" dirty="0">
                <a:solidFill>
                  <a:schemeClr val="tx1"/>
                </a:solidFill>
              </a:rPr>
              <a:t>Compara</a:t>
            </a:r>
            <a:endParaRPr lang="en-US" sz="1600" dirty="0"/>
          </a:p>
        </p:txBody>
      </p:sp>
      <p:sp>
        <p:nvSpPr>
          <p:cNvPr id="38" name="texto-57"/>
          <p:cNvSpPr txBox="1"/>
          <p:nvPr/>
        </p:nvSpPr>
        <p:spPr>
          <a:xfrm>
            <a:off x="4846320" y="4892040"/>
            <a:ext cx="1783080" cy="685800"/>
          </a:xfrm>
          <a:prstGeom prst="rect">
            <a:avLst/>
          </a:prstGeom>
          <a:noFill/>
          <a:ln/>
        </p:spPr>
        <p:txBody>
          <a:bodyPr wrap="square" lIns="0" tIns="0" rIns="0" bIns="0" rtlCol="0" anchor="t"/>
          <a:lstStyle/>
          <a:p>
            <a:pPr indent="0" marL="0">
              <a:buNone/>
            </a:pPr>
            <a:r>
              <a:rPr lang="en-US" sz="1200" dirty="0">
                <a:solidFill>
                  <a:schemeClr val="tx1"/>
                </a:solidFill>
              </a:rPr>
              <a:t>Por debajo, en línea o por encima del estimado</a:t>
            </a:r>
            <a:endParaRPr lang="en-US" sz="1200" dirty="0"/>
          </a:p>
        </p:txBody>
      </p:sp>
      <p:sp>
        <p:nvSpPr>
          <p:cNvPr id="39" name="texto-58"/>
          <p:cNvSpPr txBox="1"/>
          <p:nvPr/>
        </p:nvSpPr>
        <p:spPr>
          <a:xfrm>
            <a:off x="6766560" y="4526280"/>
            <a:ext cx="274320" cy="411480"/>
          </a:xfrm>
          <a:prstGeom prst="rect">
            <a:avLst/>
          </a:prstGeom>
          <a:noFill/>
          <a:ln/>
        </p:spPr>
        <p:txBody>
          <a:bodyPr wrap="square" lIns="0" tIns="0" rIns="0" bIns="0" rtlCol="0" anchor="t"/>
          <a:lstStyle/>
          <a:p>
            <a:pPr algn="ctr" indent="0" marL="0">
              <a:buNone/>
            </a:pPr>
            <a:r>
              <a:rPr lang="en-US" sz="1800" b="1" dirty="0">
                <a:solidFill>
                  <a:schemeClr val="accent4"/>
                </a:solidFill>
              </a:rPr>
              <a:t>→</a:t>
            </a:r>
            <a:endParaRPr lang="en-US" sz="1800" dirty="0"/>
          </a:p>
        </p:txBody>
      </p:sp>
      <p:sp>
        <p:nvSpPr>
          <p:cNvPr id="40" name="caja-59"/>
          <p:cNvSpPr/>
          <p:nvPr/>
        </p:nvSpPr>
        <p:spPr>
          <a:xfrm>
            <a:off x="7040880" y="3840480"/>
            <a:ext cx="2103120" cy="1828800"/>
          </a:xfrm>
          <a:prstGeom prst="rect">
            <a:avLst/>
          </a:prstGeom>
          <a:solidFill>
            <a:schemeClr val="bg2"/>
          </a:solidFill>
          <a:ln/>
        </p:spPr>
      </p:sp>
      <p:sp>
        <p:nvSpPr>
          <p:cNvPr id="41" name="caja-60"/>
          <p:cNvSpPr/>
          <p:nvPr/>
        </p:nvSpPr>
        <p:spPr>
          <a:xfrm>
            <a:off x="7223760" y="4023360"/>
            <a:ext cx="384048" cy="384048"/>
          </a:xfrm>
          <a:prstGeom prst="rect">
            <a:avLst/>
          </a:prstGeom>
          <a:solidFill>
            <a:schemeClr val="accent1"/>
          </a:solidFill>
          <a:ln/>
        </p:spPr>
      </p:sp>
      <p:sp>
        <p:nvSpPr>
          <p:cNvPr id="42" name="texto-61"/>
          <p:cNvSpPr txBox="1"/>
          <p:nvPr/>
        </p:nvSpPr>
        <p:spPr>
          <a:xfrm>
            <a:off x="7223760" y="40233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3</a:t>
            </a:r>
            <a:endParaRPr lang="en-US" sz="1400" dirty="0"/>
          </a:p>
        </p:txBody>
      </p:sp>
      <p:sp>
        <p:nvSpPr>
          <p:cNvPr id="43" name="texto-62"/>
          <p:cNvSpPr txBox="1"/>
          <p:nvPr/>
        </p:nvSpPr>
        <p:spPr>
          <a:xfrm>
            <a:off x="7223760" y="4526280"/>
            <a:ext cx="1783080" cy="365760"/>
          </a:xfrm>
          <a:prstGeom prst="rect">
            <a:avLst/>
          </a:prstGeom>
          <a:noFill/>
          <a:ln/>
        </p:spPr>
        <p:txBody>
          <a:bodyPr wrap="square" lIns="0" tIns="0" rIns="0" bIns="0" rtlCol="0" anchor="t"/>
          <a:lstStyle/>
          <a:p>
            <a:pPr indent="0" marL="0">
              <a:buNone/>
            </a:pPr>
            <a:r>
              <a:rPr lang="en-US" sz="1600" b="1" dirty="0">
                <a:solidFill>
                  <a:schemeClr val="tx1"/>
                </a:solidFill>
              </a:rPr>
              <a:t>Abre la ficha</a:t>
            </a:r>
            <a:endParaRPr lang="en-US" sz="1600" dirty="0"/>
          </a:p>
        </p:txBody>
      </p:sp>
      <p:sp>
        <p:nvSpPr>
          <p:cNvPr id="44" name="texto-63"/>
          <p:cNvSpPr txBox="1"/>
          <p:nvPr/>
        </p:nvSpPr>
        <p:spPr>
          <a:xfrm>
            <a:off x="7223760" y="4892040"/>
            <a:ext cx="1783080" cy="685800"/>
          </a:xfrm>
          <a:prstGeom prst="rect">
            <a:avLst/>
          </a:prstGeom>
          <a:noFill/>
          <a:ln/>
        </p:spPr>
        <p:txBody>
          <a:bodyPr wrap="square" lIns="0" tIns="0" rIns="0" bIns="0" rtlCol="0" anchor="t"/>
          <a:lstStyle/>
          <a:p>
            <a:pPr indent="0" marL="0">
              <a:buNone/>
            </a:pPr>
            <a:r>
              <a:rPr lang="en-US" sz="1200" dirty="0">
                <a:solidFill>
                  <a:schemeClr val="tx1"/>
                </a:solidFill>
              </a:rPr>
              <a:t>Anuncios parecidos y transporte</a:t>
            </a:r>
            <a:endParaRPr lang="en-US" sz="1200" dirty="0"/>
          </a:p>
        </p:txBody>
      </p:sp>
      <p:sp>
        <p:nvSpPr>
          <p:cNvPr id="45" name="texto-64"/>
          <p:cNvSpPr txBox="1"/>
          <p:nvPr/>
        </p:nvSpPr>
        <p:spPr>
          <a:xfrm>
            <a:off x="9144000" y="4526280"/>
            <a:ext cx="274320" cy="411480"/>
          </a:xfrm>
          <a:prstGeom prst="rect">
            <a:avLst/>
          </a:prstGeom>
          <a:noFill/>
          <a:ln/>
        </p:spPr>
        <p:txBody>
          <a:bodyPr wrap="square" lIns="0" tIns="0" rIns="0" bIns="0" rtlCol="0" anchor="t"/>
          <a:lstStyle/>
          <a:p>
            <a:pPr algn="ctr" indent="0" marL="0">
              <a:buNone/>
            </a:pPr>
            <a:r>
              <a:rPr lang="en-US" sz="1800" b="1" dirty="0">
                <a:solidFill>
                  <a:schemeClr val="accent4"/>
                </a:solidFill>
              </a:rPr>
              <a:t>→</a:t>
            </a:r>
            <a:endParaRPr lang="en-US" sz="1800" dirty="0"/>
          </a:p>
        </p:txBody>
      </p:sp>
      <p:sp>
        <p:nvSpPr>
          <p:cNvPr id="46" name="caja-65"/>
          <p:cNvSpPr/>
          <p:nvPr/>
        </p:nvSpPr>
        <p:spPr>
          <a:xfrm>
            <a:off x="9418320" y="3840480"/>
            <a:ext cx="2103120" cy="1828800"/>
          </a:xfrm>
          <a:prstGeom prst="rect">
            <a:avLst/>
          </a:prstGeom>
          <a:solidFill>
            <a:schemeClr val="bg2"/>
          </a:solidFill>
          <a:ln/>
        </p:spPr>
      </p:sp>
      <p:sp>
        <p:nvSpPr>
          <p:cNvPr id="47" name="caja-66"/>
          <p:cNvSpPr/>
          <p:nvPr/>
        </p:nvSpPr>
        <p:spPr>
          <a:xfrm>
            <a:off x="9601200" y="4023360"/>
            <a:ext cx="384048" cy="384048"/>
          </a:xfrm>
          <a:prstGeom prst="rect">
            <a:avLst/>
          </a:prstGeom>
          <a:solidFill>
            <a:schemeClr val="accent1"/>
          </a:solidFill>
          <a:ln/>
        </p:spPr>
      </p:sp>
      <p:sp>
        <p:nvSpPr>
          <p:cNvPr id="48" name="texto-67"/>
          <p:cNvSpPr txBox="1"/>
          <p:nvPr/>
        </p:nvSpPr>
        <p:spPr>
          <a:xfrm>
            <a:off x="9601200" y="40233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4</a:t>
            </a:r>
            <a:endParaRPr lang="en-US" sz="1400" dirty="0"/>
          </a:p>
        </p:txBody>
      </p:sp>
      <p:sp>
        <p:nvSpPr>
          <p:cNvPr id="49" name="texto-68"/>
          <p:cNvSpPr txBox="1"/>
          <p:nvPr/>
        </p:nvSpPr>
        <p:spPr>
          <a:xfrm>
            <a:off x="9601200" y="4526280"/>
            <a:ext cx="1783080" cy="365760"/>
          </a:xfrm>
          <a:prstGeom prst="rect">
            <a:avLst/>
          </a:prstGeom>
          <a:noFill/>
          <a:ln/>
        </p:spPr>
        <p:txBody>
          <a:bodyPr wrap="square" lIns="0" tIns="0" rIns="0" bIns="0" rtlCol="0" anchor="t"/>
          <a:lstStyle/>
          <a:p>
            <a:pPr indent="0" marL="0">
              <a:buNone/>
            </a:pPr>
            <a:r>
              <a:rPr lang="en-US" sz="1600" b="1" dirty="0">
                <a:solidFill>
                  <a:schemeClr val="tx1"/>
                </a:solidFill>
              </a:rPr>
              <a:t>Escribe al dueño</a:t>
            </a:r>
            <a:endParaRPr lang="en-US" sz="1600" dirty="0"/>
          </a:p>
        </p:txBody>
      </p:sp>
      <p:sp>
        <p:nvSpPr>
          <p:cNvPr id="50" name="texto-69"/>
          <p:cNvSpPr txBox="1"/>
          <p:nvPr/>
        </p:nvSpPr>
        <p:spPr>
          <a:xfrm>
            <a:off x="9601200" y="4892040"/>
            <a:ext cx="1783080" cy="685800"/>
          </a:xfrm>
          <a:prstGeom prst="rect">
            <a:avLst/>
          </a:prstGeom>
          <a:noFill/>
          <a:ln/>
        </p:spPr>
        <p:txBody>
          <a:bodyPr wrap="square" lIns="0" tIns="0" rIns="0" bIns="0" rtlCol="0" anchor="t"/>
          <a:lstStyle/>
          <a:p>
            <a:pPr indent="0" marL="0">
              <a:buNone/>
            </a:pPr>
            <a:r>
              <a:rPr lang="en-US" sz="1200" dirty="0">
                <a:solidFill>
                  <a:schemeClr val="tx1"/>
                </a:solidFill>
              </a:rPr>
              <a:t>O va al anuncio original del portal</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dirty="0">
                <a:solidFill>
                  <a:schemeClr val="tx1"/>
                </a:solidFill>
              </a:rPr>
              <a:t>Datos reales de Lima</a:t>
            </a:r>
            <a:endParaRPr lang="en-US" sz="3200" dirty="0"/>
          </a:p>
        </p:txBody>
      </p:sp>
      <p:sp>
        <p:nvSpPr>
          <p:cNvPr id="3" name="caja-70"/>
          <p:cNvSpPr/>
          <p:nvPr/>
        </p:nvSpPr>
        <p:spPr>
          <a:xfrm>
            <a:off x="548640" y="1554480"/>
            <a:ext cx="2606040" cy="3200400"/>
          </a:xfrm>
          <a:prstGeom prst="rect">
            <a:avLst/>
          </a:prstGeom>
          <a:solidFill>
            <a:schemeClr val="accent1"/>
          </a:solidFill>
          <a:ln/>
        </p:spPr>
      </p:sp>
      <p:sp>
        <p:nvSpPr>
          <p:cNvPr id="4" name="texto-71"/>
          <p:cNvSpPr txBox="1"/>
          <p:nvPr/>
        </p:nvSpPr>
        <p:spPr>
          <a:xfrm>
            <a:off x="822960" y="1783080"/>
            <a:ext cx="2103120" cy="914400"/>
          </a:xfrm>
          <a:prstGeom prst="rect">
            <a:avLst/>
          </a:prstGeom>
          <a:noFill/>
          <a:ln/>
        </p:spPr>
        <p:txBody>
          <a:bodyPr wrap="square" lIns="0" tIns="0" rIns="0" bIns="0" rtlCol="0" anchor="ctr"/>
          <a:lstStyle/>
          <a:p>
            <a:pPr indent="0" marL="0">
              <a:buNone/>
            </a:pPr>
            <a:r>
              <a:rPr lang="en-US" sz="4400" dirty="0">
                <a:solidFill>
                  <a:schemeClr val="tx1"/>
                </a:solidFill>
                <a:latin typeface="Arial Black" pitchFamily="34" charset="0"/>
                <a:ea typeface="Arial Black" pitchFamily="34" charset="-122"/>
                <a:cs typeface="Arial Black" pitchFamily="34" charset="-120"/>
              </a:rPr>
              <a:t>3,128</a:t>
            </a:r>
            <a:endParaRPr lang="en-US" sz="4400" dirty="0"/>
          </a:p>
        </p:txBody>
      </p:sp>
      <p:sp>
        <p:nvSpPr>
          <p:cNvPr id="5" name="texto-72"/>
          <p:cNvSpPr txBox="1"/>
          <p:nvPr/>
        </p:nvSpPr>
        <p:spPr>
          <a:xfrm>
            <a:off x="822960" y="2788920"/>
            <a:ext cx="2103120" cy="914400"/>
          </a:xfrm>
          <a:prstGeom prst="rect">
            <a:avLst/>
          </a:prstGeom>
          <a:noFill/>
          <a:ln/>
        </p:spPr>
        <p:txBody>
          <a:bodyPr wrap="square" lIns="0" tIns="0" rIns="0" bIns="0" rtlCol="0" anchor="t"/>
          <a:lstStyle/>
          <a:p>
            <a:pPr indent="0" marL="0">
              <a:buNone/>
            </a:pPr>
            <a:r>
              <a:rPr lang="en-US" sz="1600" b="1" dirty="0">
                <a:solidFill>
                  <a:schemeClr val="tx1"/>
                </a:solidFill>
              </a:rPr>
              <a:t>anuncios de Adondevivir y Urbania</a:t>
            </a:r>
            <a:endParaRPr lang="en-US" sz="1600" dirty="0"/>
          </a:p>
        </p:txBody>
      </p:sp>
      <p:sp>
        <p:nvSpPr>
          <p:cNvPr id="6" name="texto-73"/>
          <p:cNvSpPr txBox="1"/>
          <p:nvPr/>
        </p:nvSpPr>
        <p:spPr>
          <a:xfrm>
            <a:off x="822960" y="3794760"/>
            <a:ext cx="2103120" cy="822960"/>
          </a:xfrm>
          <a:prstGeom prst="rect">
            <a:avLst/>
          </a:prstGeom>
          <a:noFill/>
          <a:ln/>
        </p:spPr>
        <p:txBody>
          <a:bodyPr wrap="square" lIns="0" tIns="0" rIns="0" bIns="0" rtlCol="0" anchor="t"/>
          <a:lstStyle/>
          <a:p>
            <a:pPr indent="0" marL="0">
              <a:buNone/>
            </a:pPr>
            <a:r>
              <a:rPr lang="en-US" sz="1300" dirty="0">
                <a:solidFill>
                  <a:schemeClr val="tx1"/>
                </a:solidFill>
              </a:rPr>
              <a:t>Captura del 14-sep-2026. Entrena los modelos.</a:t>
            </a:r>
            <a:endParaRPr lang="en-US" sz="1300" dirty="0"/>
          </a:p>
        </p:txBody>
      </p:sp>
      <p:sp>
        <p:nvSpPr>
          <p:cNvPr id="7" name="caja-74"/>
          <p:cNvSpPr/>
          <p:nvPr/>
        </p:nvSpPr>
        <p:spPr>
          <a:xfrm>
            <a:off x="3383280" y="1554480"/>
            <a:ext cx="2606040" cy="3200400"/>
          </a:xfrm>
          <a:prstGeom prst="rect">
            <a:avLst/>
          </a:prstGeom>
          <a:solidFill>
            <a:schemeClr val="tx1"/>
          </a:solidFill>
          <a:ln/>
        </p:spPr>
      </p:sp>
      <p:sp>
        <p:nvSpPr>
          <p:cNvPr id="8" name="texto-75"/>
          <p:cNvSpPr txBox="1"/>
          <p:nvPr/>
        </p:nvSpPr>
        <p:spPr>
          <a:xfrm>
            <a:off x="3657600" y="1783080"/>
            <a:ext cx="2103120" cy="914400"/>
          </a:xfrm>
          <a:prstGeom prst="rect">
            <a:avLst/>
          </a:prstGeom>
          <a:noFill/>
          <a:ln/>
        </p:spPr>
        <p:txBody>
          <a:bodyPr wrap="square" lIns="0" tIns="0" rIns="0" bIns="0" rtlCol="0" anchor="ctr"/>
          <a:lstStyle/>
          <a:p>
            <a:pPr indent="0" marL="0">
              <a:buNone/>
            </a:pPr>
            <a:r>
              <a:rPr lang="en-US" sz="4400" dirty="0">
                <a:solidFill>
                  <a:schemeClr val="bg1"/>
                </a:solidFill>
                <a:latin typeface="Arial Black" pitchFamily="34" charset="0"/>
                <a:ea typeface="Arial Black" pitchFamily="34" charset="-122"/>
                <a:cs typeface="Arial Black" pitchFamily="34" charset="-120"/>
              </a:rPr>
              <a:t>3,055</a:t>
            </a:r>
            <a:endParaRPr lang="en-US" sz="4400" dirty="0"/>
          </a:p>
        </p:txBody>
      </p:sp>
      <p:sp>
        <p:nvSpPr>
          <p:cNvPr id="9" name="texto-76"/>
          <p:cNvSpPr txBox="1"/>
          <p:nvPr/>
        </p:nvSpPr>
        <p:spPr>
          <a:xfrm>
            <a:off x="3657600" y="2788920"/>
            <a:ext cx="2103120" cy="914400"/>
          </a:xfrm>
          <a:prstGeom prst="rect">
            <a:avLst/>
          </a:prstGeom>
          <a:noFill/>
          <a:ln/>
        </p:spPr>
        <p:txBody>
          <a:bodyPr wrap="square" lIns="0" tIns="0" rIns="0" bIns="0" rtlCol="0" anchor="t"/>
          <a:lstStyle/>
          <a:p>
            <a:pPr indent="0" marL="0">
              <a:buNone/>
            </a:pPr>
            <a:r>
              <a:rPr lang="en-US" sz="1600" b="1" dirty="0">
                <a:solidFill>
                  <a:schemeClr val="bg1"/>
                </a:solidFill>
              </a:rPr>
              <a:t>anuncios únicos de octubre</a:t>
            </a:r>
            <a:endParaRPr lang="en-US" sz="1600" dirty="0"/>
          </a:p>
        </p:txBody>
      </p:sp>
      <p:sp>
        <p:nvSpPr>
          <p:cNvPr id="10" name="texto-77"/>
          <p:cNvSpPr txBox="1"/>
          <p:nvPr/>
        </p:nvSpPr>
        <p:spPr>
          <a:xfrm>
            <a:off x="3657600" y="3794760"/>
            <a:ext cx="2103120" cy="822960"/>
          </a:xfrm>
          <a:prstGeom prst="rect">
            <a:avLst/>
          </a:prstGeom>
          <a:noFill/>
          <a:ln/>
        </p:spPr>
        <p:txBody>
          <a:bodyPr wrap="square" lIns="0" tIns="0" rIns="0" bIns="0" rtlCol="0" anchor="t"/>
          <a:lstStyle/>
          <a:p>
            <a:pPr indent="0" marL="0">
              <a:buNone/>
            </a:pPr>
            <a:r>
              <a:rPr lang="en-US" sz="1300" dirty="0">
                <a:solidFill>
                  <a:schemeClr val="bg1"/>
                </a:solidFill>
              </a:rPr>
              <a:t>Captura del 23-oct-2026. Es el mercado que ve la app.</a:t>
            </a:r>
            <a:endParaRPr lang="en-US" sz="1300" dirty="0"/>
          </a:p>
        </p:txBody>
      </p:sp>
      <p:sp>
        <p:nvSpPr>
          <p:cNvPr id="11" name="caja-78"/>
          <p:cNvSpPr/>
          <p:nvPr/>
        </p:nvSpPr>
        <p:spPr>
          <a:xfrm>
            <a:off x="6217920" y="1554480"/>
            <a:ext cx="2606040" cy="3200400"/>
          </a:xfrm>
          <a:prstGeom prst="rect">
            <a:avLst/>
          </a:prstGeom>
          <a:solidFill>
            <a:schemeClr val="accent3"/>
          </a:solidFill>
          <a:ln/>
        </p:spPr>
      </p:sp>
      <p:sp>
        <p:nvSpPr>
          <p:cNvPr id="12" name="texto-79"/>
          <p:cNvSpPr txBox="1"/>
          <p:nvPr/>
        </p:nvSpPr>
        <p:spPr>
          <a:xfrm>
            <a:off x="6492240" y="1783080"/>
            <a:ext cx="2103120" cy="914400"/>
          </a:xfrm>
          <a:prstGeom prst="rect">
            <a:avLst/>
          </a:prstGeom>
          <a:noFill/>
          <a:ln/>
        </p:spPr>
        <p:txBody>
          <a:bodyPr wrap="square" lIns="0" tIns="0" rIns="0" bIns="0" rtlCol="0" anchor="ctr"/>
          <a:lstStyle/>
          <a:p>
            <a:pPr indent="0" marL="0">
              <a:buNone/>
            </a:pPr>
            <a:r>
              <a:rPr lang="en-US" sz="4400" dirty="0">
                <a:solidFill>
                  <a:schemeClr val="tx1"/>
                </a:solidFill>
                <a:latin typeface="Arial Black" pitchFamily="34" charset="0"/>
                <a:ea typeface="Arial Black" pitchFamily="34" charset="-122"/>
                <a:cs typeface="Arial Black" pitchFamily="34" charset="-120"/>
              </a:rPr>
              <a:t>3,233</a:t>
            </a:r>
            <a:endParaRPr lang="en-US" sz="4400" dirty="0"/>
          </a:p>
        </p:txBody>
      </p:sp>
      <p:sp>
        <p:nvSpPr>
          <p:cNvPr id="13" name="texto-80"/>
          <p:cNvSpPr txBox="1"/>
          <p:nvPr/>
        </p:nvSpPr>
        <p:spPr>
          <a:xfrm>
            <a:off x="6492240" y="2788920"/>
            <a:ext cx="2103120" cy="914400"/>
          </a:xfrm>
          <a:prstGeom prst="rect">
            <a:avLst/>
          </a:prstGeom>
          <a:noFill/>
          <a:ln/>
        </p:spPr>
        <p:txBody>
          <a:bodyPr wrap="square" lIns="0" tIns="0" rIns="0" bIns="0" rtlCol="0" anchor="t"/>
          <a:lstStyle/>
          <a:p>
            <a:pPr indent="0" marL="0">
              <a:buNone/>
            </a:pPr>
            <a:r>
              <a:rPr lang="en-US" sz="1600" b="1" dirty="0">
                <a:solidFill>
                  <a:schemeClr val="tx1"/>
                </a:solidFill>
              </a:rPr>
              <a:t>paraderos de la ATU</a:t>
            </a:r>
            <a:endParaRPr lang="en-US" sz="1600" dirty="0"/>
          </a:p>
        </p:txBody>
      </p:sp>
      <p:sp>
        <p:nvSpPr>
          <p:cNvPr id="14" name="texto-81"/>
          <p:cNvSpPr txBox="1"/>
          <p:nvPr/>
        </p:nvSpPr>
        <p:spPr>
          <a:xfrm>
            <a:off x="6492240" y="3794760"/>
            <a:ext cx="2103120" cy="822960"/>
          </a:xfrm>
          <a:prstGeom prst="rect">
            <a:avLst/>
          </a:prstGeom>
          <a:noFill/>
          <a:ln/>
        </p:spPr>
        <p:txBody>
          <a:bodyPr wrap="square" lIns="0" tIns="0" rIns="0" bIns="0" rtlCol="0" anchor="t"/>
          <a:lstStyle/>
          <a:p>
            <a:pPr indent="0" marL="0">
              <a:buNone/>
            </a:pPr>
            <a:r>
              <a:rPr lang="en-US" sz="1300" dirty="0">
                <a:solidFill>
                  <a:schemeClr val="tx1"/>
                </a:solidFill>
              </a:rPr>
              <a:t>Inventario de mayo de 2021. Mide la accesibilidad.</a:t>
            </a:r>
            <a:endParaRPr lang="en-US" sz="1300" dirty="0"/>
          </a:p>
        </p:txBody>
      </p:sp>
      <p:sp>
        <p:nvSpPr>
          <p:cNvPr id="15" name="caja-82"/>
          <p:cNvSpPr/>
          <p:nvPr/>
        </p:nvSpPr>
        <p:spPr>
          <a:xfrm>
            <a:off x="9052560" y="1554480"/>
            <a:ext cx="2606040" cy="3200400"/>
          </a:xfrm>
          <a:prstGeom prst="rect">
            <a:avLst/>
          </a:prstGeom>
          <a:solidFill>
            <a:schemeClr val="accent2"/>
          </a:solidFill>
          <a:ln/>
        </p:spPr>
      </p:sp>
      <p:sp>
        <p:nvSpPr>
          <p:cNvPr id="16" name="texto-83"/>
          <p:cNvSpPr txBox="1"/>
          <p:nvPr/>
        </p:nvSpPr>
        <p:spPr>
          <a:xfrm>
            <a:off x="9326880" y="1783080"/>
            <a:ext cx="2103120" cy="914400"/>
          </a:xfrm>
          <a:prstGeom prst="rect">
            <a:avLst/>
          </a:prstGeom>
          <a:noFill/>
          <a:ln/>
        </p:spPr>
        <p:txBody>
          <a:bodyPr wrap="square" lIns="0" tIns="0" rIns="0" bIns="0" rtlCol="0" anchor="ctr"/>
          <a:lstStyle/>
          <a:p>
            <a:pPr indent="0" marL="0">
              <a:buNone/>
            </a:pPr>
            <a:r>
              <a:rPr lang="en-US" sz="4400" dirty="0">
                <a:solidFill>
                  <a:schemeClr val="bg1"/>
                </a:solidFill>
                <a:latin typeface="Arial Black" pitchFamily="34" charset="0"/>
                <a:ea typeface="Arial Black" pitchFamily="34" charset="-122"/>
                <a:cs typeface="Arial Black" pitchFamily="34" charset="-120"/>
              </a:rPr>
              <a:t>13</a:t>
            </a:r>
            <a:endParaRPr lang="en-US" sz="4400" dirty="0"/>
          </a:p>
        </p:txBody>
      </p:sp>
      <p:sp>
        <p:nvSpPr>
          <p:cNvPr id="17" name="texto-84"/>
          <p:cNvSpPr txBox="1"/>
          <p:nvPr/>
        </p:nvSpPr>
        <p:spPr>
          <a:xfrm>
            <a:off x="9326880" y="2788920"/>
            <a:ext cx="2103120" cy="914400"/>
          </a:xfrm>
          <a:prstGeom prst="rect">
            <a:avLst/>
          </a:prstGeom>
          <a:noFill/>
          <a:ln/>
        </p:spPr>
        <p:txBody>
          <a:bodyPr wrap="square" lIns="0" tIns="0" rIns="0" bIns="0" rtlCol="0" anchor="t"/>
          <a:lstStyle/>
          <a:p>
            <a:pPr indent="0" marL="0">
              <a:buNone/>
            </a:pPr>
            <a:r>
              <a:rPr lang="en-US" sz="1600" b="1" dirty="0">
                <a:solidFill>
                  <a:schemeClr val="bg1"/>
                </a:solidFill>
              </a:rPr>
              <a:t>series trimestrales del BCRP</a:t>
            </a:r>
            <a:endParaRPr lang="en-US" sz="1600" dirty="0"/>
          </a:p>
        </p:txBody>
      </p:sp>
      <p:sp>
        <p:nvSpPr>
          <p:cNvPr id="18" name="texto-85"/>
          <p:cNvSpPr txBox="1"/>
          <p:nvPr/>
        </p:nvSpPr>
        <p:spPr>
          <a:xfrm>
            <a:off x="9326880" y="3794760"/>
            <a:ext cx="2103120" cy="822960"/>
          </a:xfrm>
          <a:prstGeom prst="rect">
            <a:avLst/>
          </a:prstGeom>
          <a:noFill/>
          <a:ln/>
        </p:spPr>
        <p:txBody>
          <a:bodyPr wrap="square" lIns="0" tIns="0" rIns="0" bIns="0" rtlCol="0" anchor="t"/>
          <a:lstStyle/>
          <a:p>
            <a:pPr indent="0" marL="0">
              <a:buNone/>
            </a:pPr>
            <a:r>
              <a:rPr lang="en-US" sz="1300" dirty="0">
                <a:solidFill>
                  <a:schemeClr val="bg1"/>
                </a:solidFill>
              </a:rPr>
              <a:t>Precio por m² por distrito. Alimentan la tendencia.</a:t>
            </a:r>
            <a:endParaRPr lang="en-US" sz="1300" dirty="0"/>
          </a:p>
        </p:txBody>
      </p:sp>
      <p:sp>
        <p:nvSpPr>
          <p:cNvPr id="19" name="texto-86"/>
          <p:cNvSpPr txBox="1"/>
          <p:nvPr/>
        </p:nvSpPr>
        <p:spPr>
          <a:xfrm>
            <a:off x="548640" y="5120640"/>
            <a:ext cx="11094415" cy="731520"/>
          </a:xfrm>
          <a:prstGeom prst="rect">
            <a:avLst/>
          </a:prstGeom>
          <a:noFill/>
          <a:ln/>
        </p:spPr>
        <p:txBody>
          <a:bodyPr wrap="square" lIns="0" tIns="0" rIns="0" bIns="0" rtlCol="0" anchor="t"/>
          <a:lstStyle/>
          <a:p>
            <a:pPr indent="0" marL="0">
              <a:buNone/>
            </a:pPr>
            <a:r>
              <a:rPr lang="en-US" sz="1500" b="1" dirty="0">
                <a:solidFill>
                  <a:schemeClr val="tx1"/>
                </a:solidFill>
              </a:rPr>
              <a:t>Flujo: </a:t>
            </a:r>
            <a:pPr indent="0" marL="0">
              <a:buNone/>
            </a:pPr>
            <a:r>
              <a:rPr lang="en-US" sz="1500" dirty="0">
                <a:solidFill>
                  <a:schemeClr val="tx1"/>
                </a:solidFill>
              </a:rPr>
              <a:t>descarga de los portales → preprocesar.py (mismas reglas de la Semana 7) → data/mercado.csv → la app. </a:t>
            </a:r>
            <a:pPr indent="0" marL="0">
              <a:buNone/>
            </a:pPr>
            <a:r>
              <a:rPr lang="en-US" sz="1500" b="1" dirty="0">
                <a:solidFill>
                  <a:schemeClr val="tx1"/>
                </a:solidFill>
              </a:rPr>
              <a:t>Al repositorio no llegan direcciones ni contactos.</a:t>
            </a:r>
            <a:endParaRPr lang="en-US" sz="15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dirty="0">
                <a:solidFill>
                  <a:schemeClr val="tx1"/>
                </a:solidFill>
              </a:rPr>
              <a:t>Arquitectura del prototipo</a:t>
            </a:r>
            <a:endParaRPr lang="en-US" sz="3200" dirty="0"/>
          </a:p>
        </p:txBody>
      </p:sp>
      <p:sp>
        <p:nvSpPr>
          <p:cNvPr id="3" name="marco-render"/>
          <p:cNvSpPr/>
          <p:nvPr/>
        </p:nvSpPr>
        <p:spPr>
          <a:xfrm>
            <a:off x="3246120" y="1371600"/>
            <a:ext cx="5623560" cy="4160520"/>
          </a:xfrm>
          <a:prstGeom prst="rect">
            <a:avLst/>
          </a:prstGeom>
          <a:ln w="15875">
            <a:solidFill>
              <a:schemeClr val="accent5"/>
            </a:solidFill>
            <a:prstDash val="dash"/>
          </a:ln>
        </p:spPr>
      </p:sp>
      <p:sp>
        <p:nvSpPr>
          <p:cNvPr id="4" name="texto-87"/>
          <p:cNvSpPr txBox="1"/>
          <p:nvPr/>
        </p:nvSpPr>
        <p:spPr>
          <a:xfrm>
            <a:off x="3429000" y="1463040"/>
            <a:ext cx="3657600" cy="256032"/>
          </a:xfrm>
          <a:prstGeom prst="rect">
            <a:avLst/>
          </a:prstGeom>
          <a:noFill/>
          <a:ln/>
        </p:spPr>
        <p:txBody>
          <a:bodyPr wrap="square" lIns="0" tIns="0" rIns="0" bIns="0" rtlCol="0" anchor="t"/>
          <a:lstStyle/>
          <a:p>
            <a:pPr indent="0" marL="0">
              <a:buNone/>
            </a:pPr>
            <a:r>
              <a:rPr lang="en-US" sz="1100" b="1" dirty="0">
                <a:solidFill>
                  <a:schemeClr val="accent5"/>
                </a:solidFill>
              </a:rPr>
              <a:t>Render · un solo servicio</a:t>
            </a:r>
            <a:endParaRPr lang="en-US" sz="1100" dirty="0"/>
          </a:p>
        </p:txBody>
      </p:sp>
      <p:sp>
        <p:nvSpPr>
          <p:cNvPr id="5" name="caja-88"/>
          <p:cNvSpPr/>
          <p:nvPr/>
        </p:nvSpPr>
        <p:spPr>
          <a:xfrm>
            <a:off x="548640" y="3108960"/>
            <a:ext cx="2377440" cy="960120"/>
          </a:xfrm>
          <a:prstGeom prst="rect">
            <a:avLst/>
          </a:prstGeom>
          <a:solidFill>
            <a:schemeClr val="accent3"/>
          </a:solidFill>
          <a:ln/>
        </p:spPr>
      </p:sp>
      <p:sp>
        <p:nvSpPr>
          <p:cNvPr id="6" name="texto-89"/>
          <p:cNvSpPr txBox="1"/>
          <p:nvPr/>
        </p:nvSpPr>
        <p:spPr>
          <a:xfrm>
            <a:off x="713232" y="3236976"/>
            <a:ext cx="2048256" cy="704088"/>
          </a:xfrm>
          <a:prstGeom prst="rect">
            <a:avLst/>
          </a:prstGeom>
          <a:noFill/>
          <a:ln/>
        </p:spPr>
        <p:txBody>
          <a:bodyPr wrap="square" lIns="0" tIns="0" rIns="0" bIns="0" rtlCol="0" anchor="t"/>
          <a:lstStyle/>
          <a:p>
            <a:pPr indent="0" marL="0">
              <a:buNone/>
            </a:pPr>
            <a:r>
              <a:rPr lang="en-US" sz="1400" b="1" dirty="0">
                <a:solidFill>
                  <a:schemeClr val="tx1"/>
                </a:solidFill>
              </a:rPr>
              <a:t>Navegador</a:t>
            </a:r>
            <a:endParaRPr lang="en-US" sz="1400" dirty="0"/>
          </a:p>
          <a:p>
            <a:pPr indent="0" marL="0">
              <a:buNone/>
            </a:pPr>
            <a:r>
              <a:rPr lang="en-US" sz="1100" dirty="0">
                <a:solidFill>
                  <a:schemeClr val="tx1"/>
                </a:solidFill>
              </a:rPr>
              <a:t>HTML + CSS + JS en módulos · mapa Leaflet</a:t>
            </a:r>
            <a:endParaRPr lang="en-US" sz="1400" dirty="0"/>
          </a:p>
        </p:txBody>
      </p:sp>
      <p:sp>
        <p:nvSpPr>
          <p:cNvPr id="7" name="caja-90"/>
          <p:cNvSpPr/>
          <p:nvPr/>
        </p:nvSpPr>
        <p:spPr>
          <a:xfrm>
            <a:off x="3429000" y="1783080"/>
            <a:ext cx="2377440" cy="3611880"/>
          </a:xfrm>
          <a:prstGeom prst="rect">
            <a:avLst/>
          </a:prstGeom>
          <a:solidFill>
            <a:schemeClr val="tx1"/>
          </a:solidFill>
          <a:ln/>
        </p:spPr>
      </p:sp>
      <p:sp>
        <p:nvSpPr>
          <p:cNvPr id="8" name="texto-91"/>
          <p:cNvSpPr txBox="1"/>
          <p:nvPr/>
        </p:nvSpPr>
        <p:spPr>
          <a:xfrm>
            <a:off x="3593592" y="1911096"/>
            <a:ext cx="2048256" cy="3355848"/>
          </a:xfrm>
          <a:prstGeom prst="rect">
            <a:avLst/>
          </a:prstGeom>
          <a:noFill/>
          <a:ln/>
        </p:spPr>
        <p:txBody>
          <a:bodyPr wrap="square" lIns="0" tIns="0" rIns="0" bIns="0" rtlCol="0" anchor="t"/>
          <a:lstStyle/>
          <a:p>
            <a:pPr indent="0" marL="0">
              <a:buNone/>
            </a:pPr>
            <a:r>
              <a:rPr lang="en-US" sz="1400" b="1" dirty="0">
                <a:solidFill>
                  <a:schemeClr val="bg1"/>
                </a:solidFill>
              </a:rPr>
              <a:t>API FastAPI</a:t>
            </a:r>
            <a:endParaRPr lang="en-US" sz="1400" dirty="0"/>
          </a:p>
          <a:p>
            <a:pPr indent="0" marL="0">
              <a:buNone/>
            </a:pPr>
            <a:r>
              <a:rPr lang="en-US" sz="1100" dirty="0">
                <a:solidFill>
                  <a:schemeClr val="bg1"/>
                </a:solidFill>
              </a:rPr>
              <a:t>code/api.py</a:t>
            </a:r>
            <a:endParaRPr lang="en-US" sz="1400" dirty="0"/>
          </a:p>
          <a:p>
            <a:pPr indent="0" marL="0">
              <a:buNone/>
            </a:pPr>
            <a:r>
              <a:rPr lang="en-US" sz="1100" dirty="0">
                <a:solidFill>
                  <a:schemeClr val="bg1"/>
                </a:solidFill>
              </a:rPr>
              <a:t>Endpoints JSON</a:t>
            </a:r>
            <a:endParaRPr lang="en-US" sz="1400" dirty="0"/>
          </a:p>
          <a:p>
            <a:pPr indent="0" marL="0">
              <a:buNone/>
            </a:pPr>
            <a:r>
              <a:rPr lang="en-US" sz="1100" dirty="0">
                <a:solidFill>
                  <a:schemeClr val="bg1"/>
                </a:solidFill>
              </a:rPr>
              <a:t>También sirve el frontend</a:t>
            </a:r>
            <a:endParaRPr lang="en-US" sz="1400" dirty="0"/>
          </a:p>
        </p:txBody>
      </p:sp>
      <p:sp>
        <p:nvSpPr>
          <p:cNvPr id="9" name="caja-92"/>
          <p:cNvSpPr/>
          <p:nvPr/>
        </p:nvSpPr>
        <p:spPr>
          <a:xfrm>
            <a:off x="6309360" y="1783080"/>
            <a:ext cx="2377440" cy="960120"/>
          </a:xfrm>
          <a:prstGeom prst="rect">
            <a:avLst/>
          </a:prstGeom>
          <a:solidFill>
            <a:schemeClr val="bg2"/>
          </a:solidFill>
          <a:ln/>
        </p:spPr>
      </p:sp>
      <p:sp>
        <p:nvSpPr>
          <p:cNvPr id="10" name="texto-93"/>
          <p:cNvSpPr txBox="1"/>
          <p:nvPr/>
        </p:nvSpPr>
        <p:spPr>
          <a:xfrm>
            <a:off x="6473952" y="1911096"/>
            <a:ext cx="2048256" cy="704088"/>
          </a:xfrm>
          <a:prstGeom prst="rect">
            <a:avLst/>
          </a:prstGeom>
          <a:noFill/>
          <a:ln/>
        </p:spPr>
        <p:txBody>
          <a:bodyPr wrap="square" lIns="0" tIns="0" rIns="0" bIns="0" rtlCol="0" anchor="t"/>
          <a:lstStyle/>
          <a:p>
            <a:pPr indent="0" marL="0">
              <a:buNone/>
            </a:pPr>
            <a:r>
              <a:rPr lang="en-US" sz="1400" b="1" dirty="0">
                <a:solidFill>
                  <a:schemeClr val="tx1"/>
                </a:solidFill>
              </a:rPr>
              <a:t>6 componentes</a:t>
            </a:r>
            <a:endParaRPr lang="en-US" sz="1400" dirty="0"/>
          </a:p>
          <a:p>
            <a:pPr indent="0" marL="0">
              <a:buNone/>
            </a:pPr>
            <a:r>
              <a:rPr lang="en-US" sz="1100" dirty="0">
                <a:solidFill>
                  <a:schemeClr val="tx1"/>
                </a:solidFill>
              </a:rPr>
              <a:t>Modelos 1–6 en code/*.py</a:t>
            </a:r>
            <a:endParaRPr lang="en-US" sz="1400" dirty="0"/>
          </a:p>
        </p:txBody>
      </p:sp>
      <p:sp>
        <p:nvSpPr>
          <p:cNvPr id="11" name="caja-94"/>
          <p:cNvSpPr/>
          <p:nvPr/>
        </p:nvSpPr>
        <p:spPr>
          <a:xfrm>
            <a:off x="6309360" y="3108960"/>
            <a:ext cx="2377440" cy="960120"/>
          </a:xfrm>
          <a:prstGeom prst="rect">
            <a:avLst/>
          </a:prstGeom>
          <a:solidFill>
            <a:schemeClr val="bg2"/>
          </a:solidFill>
          <a:ln/>
        </p:spPr>
      </p:sp>
      <p:sp>
        <p:nvSpPr>
          <p:cNvPr id="12" name="texto-95"/>
          <p:cNvSpPr txBox="1"/>
          <p:nvPr/>
        </p:nvSpPr>
        <p:spPr>
          <a:xfrm>
            <a:off x="6473952" y="3236976"/>
            <a:ext cx="2048256" cy="704088"/>
          </a:xfrm>
          <a:prstGeom prst="rect">
            <a:avLst/>
          </a:prstGeom>
          <a:noFill/>
          <a:ln/>
        </p:spPr>
        <p:txBody>
          <a:bodyPr wrap="square" lIns="0" tIns="0" rIns="0" bIns="0" rtlCol="0" anchor="t"/>
          <a:lstStyle/>
          <a:p>
            <a:pPr indent="0" marL="0">
              <a:buNone/>
            </a:pPr>
            <a:r>
              <a:rPr lang="en-US" sz="1400" b="1" dirty="0">
                <a:solidFill>
                  <a:schemeClr val="tx1"/>
                </a:solidFill>
              </a:rPr>
              <a:t>busqueda.py</a:t>
            </a:r>
            <a:endParaRPr lang="en-US" sz="1400" dirty="0"/>
          </a:p>
          <a:p>
            <a:pPr indent="0" marL="0">
              <a:buNone/>
            </a:pPr>
            <a:r>
              <a:rPr lang="en-US" sz="1100" dirty="0">
                <a:solidFill>
                  <a:schemeClr val="tx1"/>
                </a:solidFill>
              </a:rPr>
              <a:t>Mercado + publicados en DepaRent</a:t>
            </a:r>
            <a:endParaRPr lang="en-US" sz="1400" dirty="0"/>
          </a:p>
        </p:txBody>
      </p:sp>
      <p:sp>
        <p:nvSpPr>
          <p:cNvPr id="13" name="caja-96"/>
          <p:cNvSpPr/>
          <p:nvPr/>
        </p:nvSpPr>
        <p:spPr>
          <a:xfrm>
            <a:off x="6309360" y="4434840"/>
            <a:ext cx="2377440" cy="960120"/>
          </a:xfrm>
          <a:prstGeom prst="rect">
            <a:avLst/>
          </a:prstGeom>
          <a:solidFill>
            <a:schemeClr val="bg2"/>
          </a:solidFill>
          <a:ln/>
        </p:spPr>
      </p:sp>
      <p:sp>
        <p:nvSpPr>
          <p:cNvPr id="14" name="texto-97"/>
          <p:cNvSpPr txBox="1"/>
          <p:nvPr/>
        </p:nvSpPr>
        <p:spPr>
          <a:xfrm>
            <a:off x="6473952" y="4562856"/>
            <a:ext cx="2048256" cy="704088"/>
          </a:xfrm>
          <a:prstGeom prst="rect">
            <a:avLst/>
          </a:prstGeom>
          <a:noFill/>
          <a:ln/>
        </p:spPr>
        <p:txBody>
          <a:bodyPr wrap="square" lIns="0" tIns="0" rIns="0" bIns="0" rtlCol="0" anchor="t"/>
          <a:lstStyle/>
          <a:p>
            <a:pPr indent="0" marL="0">
              <a:buNone/>
            </a:pPr>
            <a:r>
              <a:rPr lang="en-US" sz="1400" b="1" dirty="0">
                <a:solidFill>
                  <a:schemeClr val="tx1"/>
                </a:solidFill>
              </a:rPr>
              <a:t>cuentas.py</a:t>
            </a:r>
            <a:endParaRPr lang="en-US" sz="1400" dirty="0"/>
          </a:p>
          <a:p>
            <a:pPr indent="0" marL="0">
              <a:buNone/>
            </a:pPr>
            <a:r>
              <a:rPr lang="en-US" sz="1100" dirty="0">
                <a:solidFill>
                  <a:schemeClr val="tx1"/>
                </a:solidFill>
              </a:rPr>
              <a:t>Usuarios, departamentos e interesados</a:t>
            </a:r>
            <a:endParaRPr lang="en-US" sz="1400" dirty="0"/>
          </a:p>
        </p:txBody>
      </p:sp>
      <p:sp>
        <p:nvSpPr>
          <p:cNvPr id="15" name="caja-98"/>
          <p:cNvSpPr/>
          <p:nvPr/>
        </p:nvSpPr>
        <p:spPr>
          <a:xfrm>
            <a:off x="9189720" y="1783080"/>
            <a:ext cx="2377440" cy="960120"/>
          </a:xfrm>
          <a:prstGeom prst="rect">
            <a:avLst/>
          </a:prstGeom>
          <a:solidFill>
            <a:schemeClr val="accent3"/>
          </a:solidFill>
          <a:ln/>
        </p:spPr>
      </p:sp>
      <p:sp>
        <p:nvSpPr>
          <p:cNvPr id="16" name="texto-99"/>
          <p:cNvSpPr txBox="1"/>
          <p:nvPr/>
        </p:nvSpPr>
        <p:spPr>
          <a:xfrm>
            <a:off x="9354312" y="1911096"/>
            <a:ext cx="2048256" cy="704088"/>
          </a:xfrm>
          <a:prstGeom prst="rect">
            <a:avLst/>
          </a:prstGeom>
          <a:noFill/>
          <a:ln/>
        </p:spPr>
        <p:txBody>
          <a:bodyPr wrap="square" lIns="0" tIns="0" rIns="0" bIns="0" rtlCol="0" anchor="t"/>
          <a:lstStyle/>
          <a:p>
            <a:pPr indent="0" marL="0">
              <a:buNone/>
            </a:pPr>
            <a:r>
              <a:rPr lang="en-US" sz="1400" b="1" dirty="0">
                <a:solidFill>
                  <a:schemeClr val="tx1"/>
                </a:solidFill>
              </a:rPr>
              <a:t>models/ · resultados/</a:t>
            </a:r>
            <a:endParaRPr lang="en-US" sz="1400" dirty="0"/>
          </a:p>
          <a:p>
            <a:pPr indent="0" marL="0">
              <a:buNone/>
            </a:pPr>
            <a:r>
              <a:rPr lang="en-US" sz="1100" dirty="0">
                <a:solidFill>
                  <a:schemeClr val="tx1"/>
                </a:solidFill>
              </a:rPr>
              <a:t>joblib con hash verificado · SARIMA</a:t>
            </a:r>
            <a:endParaRPr lang="en-US" sz="1400" dirty="0"/>
          </a:p>
        </p:txBody>
      </p:sp>
      <p:sp>
        <p:nvSpPr>
          <p:cNvPr id="17" name="caja-100"/>
          <p:cNvSpPr/>
          <p:nvPr/>
        </p:nvSpPr>
        <p:spPr>
          <a:xfrm>
            <a:off x="9189720" y="3108960"/>
            <a:ext cx="2377440" cy="960120"/>
          </a:xfrm>
          <a:prstGeom prst="rect">
            <a:avLst/>
          </a:prstGeom>
          <a:solidFill>
            <a:schemeClr val="accent3"/>
          </a:solidFill>
          <a:ln/>
        </p:spPr>
      </p:sp>
      <p:sp>
        <p:nvSpPr>
          <p:cNvPr id="18" name="texto-101"/>
          <p:cNvSpPr txBox="1"/>
          <p:nvPr/>
        </p:nvSpPr>
        <p:spPr>
          <a:xfrm>
            <a:off x="9354312" y="3236976"/>
            <a:ext cx="2048256" cy="704088"/>
          </a:xfrm>
          <a:prstGeom prst="rect">
            <a:avLst/>
          </a:prstGeom>
          <a:noFill/>
          <a:ln/>
        </p:spPr>
        <p:txBody>
          <a:bodyPr wrap="square" lIns="0" tIns="0" rIns="0" bIns="0" rtlCol="0" anchor="t"/>
          <a:lstStyle/>
          <a:p>
            <a:pPr indent="0" marL="0">
              <a:buNone/>
            </a:pPr>
            <a:r>
              <a:rPr lang="en-US" sz="1400" b="1" dirty="0">
                <a:solidFill>
                  <a:schemeClr val="tx1"/>
                </a:solidFill>
              </a:rPr>
              <a:t>data/mercado.csv</a:t>
            </a:r>
            <a:endParaRPr lang="en-US" sz="1400" dirty="0"/>
          </a:p>
          <a:p>
            <a:pPr indent="0" marL="0">
              <a:buNone/>
            </a:pPr>
            <a:r>
              <a:rPr lang="en-US" sz="1100" dirty="0">
                <a:solidFill>
                  <a:schemeClr val="tx1"/>
                </a:solidFill>
              </a:rPr>
              <a:t>Se actualiza con GitHub Actions</a:t>
            </a:r>
            <a:endParaRPr lang="en-US" sz="1400" dirty="0"/>
          </a:p>
        </p:txBody>
      </p:sp>
      <p:sp>
        <p:nvSpPr>
          <p:cNvPr id="19" name="caja-102"/>
          <p:cNvSpPr/>
          <p:nvPr/>
        </p:nvSpPr>
        <p:spPr>
          <a:xfrm>
            <a:off x="9189720" y="4434840"/>
            <a:ext cx="2377440" cy="960120"/>
          </a:xfrm>
          <a:prstGeom prst="rect">
            <a:avLst/>
          </a:prstGeom>
          <a:solidFill>
            <a:schemeClr val="accent3"/>
          </a:solidFill>
          <a:ln/>
        </p:spPr>
      </p:sp>
      <p:sp>
        <p:nvSpPr>
          <p:cNvPr id="20" name="texto-103"/>
          <p:cNvSpPr txBox="1"/>
          <p:nvPr/>
        </p:nvSpPr>
        <p:spPr>
          <a:xfrm>
            <a:off x="9354312" y="4562856"/>
            <a:ext cx="2048256" cy="704088"/>
          </a:xfrm>
          <a:prstGeom prst="rect">
            <a:avLst/>
          </a:prstGeom>
          <a:noFill/>
          <a:ln/>
        </p:spPr>
        <p:txBody>
          <a:bodyPr wrap="square" lIns="0" tIns="0" rIns="0" bIns="0" rtlCol="0" anchor="t"/>
          <a:lstStyle/>
          <a:p>
            <a:pPr indent="0" marL="0">
              <a:buNone/>
            </a:pPr>
            <a:r>
              <a:rPr lang="en-US" sz="1400" b="1" dirty="0">
                <a:solidFill>
                  <a:schemeClr val="tx1"/>
                </a:solidFill>
              </a:rPr>
              <a:t>Postgres · Neon</a:t>
            </a:r>
            <a:endParaRPr lang="en-US" sz="1400" dirty="0"/>
          </a:p>
          <a:p>
            <a:pPr indent="0" marL="0">
              <a:buNone/>
            </a:pPr>
            <a:r>
              <a:rPr lang="en-US" sz="1100" dirty="0">
                <a:solidFill>
                  <a:schemeClr val="tx1"/>
                </a:solidFill>
              </a:rPr>
              <a:t>Gratis y persistente (SQLite en local)</a:t>
            </a:r>
            <a:endParaRPr lang="en-US" sz="1400" dirty="0"/>
          </a:p>
        </p:txBody>
      </p:sp>
      <p:sp>
        <p:nvSpPr>
          <p:cNvPr id="21" name="flecha-104"/>
          <p:cNvSpPr/>
          <p:nvPr/>
        </p:nvSpPr>
        <p:spPr>
          <a:xfrm>
            <a:off x="2926080" y="3589020"/>
            <a:ext cx="502920" cy="0"/>
          </a:xfrm>
          <a:prstGeom prst="line">
            <a:avLst/>
          </a:prstGeom>
          <a:noFill/>
          <a:ln w="25400">
            <a:solidFill>
              <a:schemeClr val="accent4"/>
            </a:solidFill>
            <a:prstDash val="solid"/>
            <a:tailEnd type="triangle"/>
          </a:ln>
        </p:spPr>
      </p:sp>
      <p:sp>
        <p:nvSpPr>
          <p:cNvPr id="22" name="flecha-105"/>
          <p:cNvSpPr/>
          <p:nvPr/>
        </p:nvSpPr>
        <p:spPr>
          <a:xfrm>
            <a:off x="5806440" y="2263140"/>
            <a:ext cx="502920" cy="0"/>
          </a:xfrm>
          <a:prstGeom prst="line">
            <a:avLst/>
          </a:prstGeom>
          <a:noFill/>
          <a:ln w="25400">
            <a:solidFill>
              <a:schemeClr val="accent4"/>
            </a:solidFill>
            <a:prstDash val="solid"/>
            <a:tailEnd type="triangle"/>
          </a:ln>
        </p:spPr>
      </p:sp>
      <p:sp>
        <p:nvSpPr>
          <p:cNvPr id="23" name="flecha-106"/>
          <p:cNvSpPr/>
          <p:nvPr/>
        </p:nvSpPr>
        <p:spPr>
          <a:xfrm>
            <a:off x="8686800" y="2263140"/>
            <a:ext cx="502920" cy="0"/>
          </a:xfrm>
          <a:prstGeom prst="line">
            <a:avLst/>
          </a:prstGeom>
          <a:noFill/>
          <a:ln w="25400">
            <a:solidFill>
              <a:schemeClr val="accent4"/>
            </a:solidFill>
            <a:prstDash val="solid"/>
            <a:tailEnd type="triangle"/>
          </a:ln>
        </p:spPr>
      </p:sp>
      <p:sp>
        <p:nvSpPr>
          <p:cNvPr id="24" name="flecha-107"/>
          <p:cNvSpPr/>
          <p:nvPr/>
        </p:nvSpPr>
        <p:spPr>
          <a:xfrm>
            <a:off x="5806440" y="3589020"/>
            <a:ext cx="502920" cy="0"/>
          </a:xfrm>
          <a:prstGeom prst="line">
            <a:avLst/>
          </a:prstGeom>
          <a:noFill/>
          <a:ln w="25400">
            <a:solidFill>
              <a:schemeClr val="accent4"/>
            </a:solidFill>
            <a:prstDash val="solid"/>
            <a:tailEnd type="triangle"/>
          </a:ln>
        </p:spPr>
      </p:sp>
      <p:sp>
        <p:nvSpPr>
          <p:cNvPr id="25" name="flecha-108"/>
          <p:cNvSpPr/>
          <p:nvPr/>
        </p:nvSpPr>
        <p:spPr>
          <a:xfrm>
            <a:off x="8686800" y="3589020"/>
            <a:ext cx="502920" cy="0"/>
          </a:xfrm>
          <a:prstGeom prst="line">
            <a:avLst/>
          </a:prstGeom>
          <a:noFill/>
          <a:ln w="25400">
            <a:solidFill>
              <a:schemeClr val="accent4"/>
            </a:solidFill>
            <a:prstDash val="solid"/>
            <a:tailEnd type="triangle"/>
          </a:ln>
        </p:spPr>
      </p:sp>
      <p:sp>
        <p:nvSpPr>
          <p:cNvPr id="26" name="flecha-109"/>
          <p:cNvSpPr/>
          <p:nvPr/>
        </p:nvSpPr>
        <p:spPr>
          <a:xfrm>
            <a:off x="5806440" y="4914900"/>
            <a:ext cx="502920" cy="0"/>
          </a:xfrm>
          <a:prstGeom prst="line">
            <a:avLst/>
          </a:prstGeom>
          <a:noFill/>
          <a:ln w="25400">
            <a:solidFill>
              <a:schemeClr val="accent4"/>
            </a:solidFill>
            <a:prstDash val="solid"/>
            <a:tailEnd type="triangle"/>
          </a:ln>
        </p:spPr>
      </p:sp>
      <p:sp>
        <p:nvSpPr>
          <p:cNvPr id="27" name="flecha-110"/>
          <p:cNvSpPr/>
          <p:nvPr/>
        </p:nvSpPr>
        <p:spPr>
          <a:xfrm>
            <a:off x="8686800" y="4914900"/>
            <a:ext cx="502920" cy="0"/>
          </a:xfrm>
          <a:prstGeom prst="line">
            <a:avLst/>
          </a:prstGeom>
          <a:noFill/>
          <a:ln w="25400">
            <a:solidFill>
              <a:schemeClr val="accent4"/>
            </a:solidFill>
            <a:prstDash val="solid"/>
            <a:tailEnd type="triangle"/>
          </a:ln>
        </p:spPr>
      </p:sp>
      <p:sp>
        <p:nvSpPr>
          <p:cNvPr id="28" name="caja-111"/>
          <p:cNvSpPr/>
          <p:nvPr/>
        </p:nvSpPr>
        <p:spPr>
          <a:xfrm>
            <a:off x="548640" y="5687568"/>
            <a:ext cx="329184" cy="329184"/>
          </a:xfrm>
          <a:prstGeom prst="rect">
            <a:avLst/>
          </a:prstGeom>
          <a:solidFill>
            <a:schemeClr val="accent1"/>
          </a:solidFill>
          <a:ln/>
        </p:spPr>
      </p:sp>
      <p:sp>
        <p:nvSpPr>
          <p:cNvPr id="29" name="texto-112"/>
          <p:cNvSpPr txBox="1"/>
          <p:nvPr/>
        </p:nvSpPr>
        <p:spPr>
          <a:xfrm>
            <a:off x="548640" y="5687568"/>
            <a:ext cx="329184" cy="329184"/>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a:t>
            </a:r>
            <a:endParaRPr lang="en-US" sz="1400" dirty="0"/>
          </a:p>
        </p:txBody>
      </p:sp>
      <p:sp>
        <p:nvSpPr>
          <p:cNvPr id="30" name="texto-113"/>
          <p:cNvSpPr txBox="1"/>
          <p:nvPr/>
        </p:nvSpPr>
        <p:spPr>
          <a:xfrm>
            <a:off x="1005840" y="5687568"/>
            <a:ext cx="10637215" cy="329184"/>
          </a:xfrm>
          <a:prstGeom prst="rect">
            <a:avLst/>
          </a:prstGeom>
          <a:noFill/>
          <a:ln/>
        </p:spPr>
        <p:txBody>
          <a:bodyPr wrap="square" lIns="0" tIns="0" rIns="0" bIns="0" rtlCol="0" anchor="ctr"/>
          <a:lstStyle/>
          <a:p>
            <a:pPr indent="0" marL="0">
              <a:buNone/>
            </a:pPr>
            <a:r>
              <a:rPr lang="en-US" sz="1300" dirty="0">
                <a:solidFill>
                  <a:schemeClr val="tx1"/>
                </a:solidFill>
              </a:rPr>
              <a:t>Cada día, GitHub Actions descarga el mercado y hace commit en main; Render vuelve a desplegar solo.</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dirty="0">
                <a:solidFill>
                  <a:schemeClr val="tx1"/>
                </a:solidFill>
              </a:rPr>
              <a:t>Seis componentes analíticos</a:t>
            </a:r>
            <a:endParaRPr lang="en-US" sz="3200" dirty="0"/>
          </a:p>
        </p:txBody>
      </p:sp>
      <p:sp>
        <p:nvSpPr>
          <p:cNvPr id="3" name="caja-114"/>
          <p:cNvSpPr/>
          <p:nvPr/>
        </p:nvSpPr>
        <p:spPr>
          <a:xfrm>
            <a:off x="548640" y="1508760"/>
            <a:ext cx="3520440" cy="2148840"/>
          </a:xfrm>
          <a:prstGeom prst="rect">
            <a:avLst/>
          </a:prstGeom>
          <a:solidFill>
            <a:schemeClr val="bg2"/>
          </a:solidFill>
          <a:ln/>
        </p:spPr>
      </p:sp>
      <p:sp>
        <p:nvSpPr>
          <p:cNvPr id="4" name="caja-115"/>
          <p:cNvSpPr/>
          <p:nvPr/>
        </p:nvSpPr>
        <p:spPr>
          <a:xfrm>
            <a:off x="777240" y="1737360"/>
            <a:ext cx="384048" cy="384048"/>
          </a:xfrm>
          <a:prstGeom prst="rect">
            <a:avLst/>
          </a:prstGeom>
          <a:solidFill>
            <a:schemeClr val="accent1"/>
          </a:solidFill>
          <a:ln/>
        </p:spPr>
      </p:sp>
      <p:sp>
        <p:nvSpPr>
          <p:cNvPr id="5" name="texto-116"/>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1</a:t>
            </a:r>
            <a:endParaRPr lang="en-US" sz="1400" dirty="0"/>
          </a:p>
        </p:txBody>
      </p:sp>
      <p:sp>
        <p:nvSpPr>
          <p:cNvPr id="6" name="texto-117"/>
          <p:cNvSpPr txBox="1"/>
          <p:nvPr/>
        </p:nvSpPr>
        <p:spPr>
          <a:xfrm>
            <a:off x="1325880" y="1737360"/>
            <a:ext cx="2560320" cy="384048"/>
          </a:xfrm>
          <a:prstGeom prst="rect">
            <a:avLst/>
          </a:prstGeom>
          <a:noFill/>
          <a:ln/>
        </p:spPr>
        <p:txBody>
          <a:bodyPr wrap="square" lIns="0" tIns="0" rIns="0" bIns="0" rtlCol="0" anchor="ctr"/>
          <a:lstStyle/>
          <a:p>
            <a:pPr indent="0" marL="0">
              <a:buNone/>
            </a:pPr>
            <a:r>
              <a:rPr lang="en-US" sz="1800" b="1" dirty="0">
                <a:solidFill>
                  <a:schemeClr val="tx1"/>
                </a:solidFill>
              </a:rPr>
              <a:t>Perfil competitivo</a:t>
            </a:r>
            <a:endParaRPr lang="en-US" sz="1800" dirty="0"/>
          </a:p>
        </p:txBody>
      </p:sp>
      <p:sp>
        <p:nvSpPr>
          <p:cNvPr id="7" name="texto-118"/>
          <p:cNvSpPr txBox="1"/>
          <p:nvPr/>
        </p:nvSpPr>
        <p:spPr>
          <a:xfrm>
            <a:off x="777240" y="2331720"/>
            <a:ext cx="3063240" cy="594360"/>
          </a:xfrm>
          <a:prstGeom prst="rect">
            <a:avLst/>
          </a:prstGeom>
          <a:noFill/>
          <a:ln/>
        </p:spPr>
        <p:txBody>
          <a:bodyPr wrap="square" lIns="0" tIns="0" rIns="0" bIns="0" rtlCol="0" anchor="t"/>
          <a:lstStyle/>
          <a:p>
            <a:pPr indent="0" marL="0">
              <a:buNone/>
            </a:pPr>
            <a:r>
              <a:rPr lang="en-US" sz="1400" dirty="0">
                <a:solidFill>
                  <a:schemeClr val="tx1"/>
                </a:solidFill>
              </a:rPr>
              <a:t>K-Means (k = 4, sin precio) + vecinos cercanos</a:t>
            </a:r>
            <a:endParaRPr lang="en-US" sz="1400" dirty="0"/>
          </a:p>
        </p:txBody>
      </p:sp>
      <p:sp>
        <p:nvSpPr>
          <p:cNvPr id="8" name="texto-119"/>
          <p:cNvSpPr txBox="1"/>
          <p:nvPr/>
        </p:nvSpPr>
        <p:spPr>
          <a:xfrm>
            <a:off x="777240" y="2971800"/>
            <a:ext cx="3063240" cy="502920"/>
          </a:xfrm>
          <a:prstGeom prst="rect">
            <a:avLst/>
          </a:prstGeom>
          <a:noFill/>
          <a:ln/>
        </p:spPr>
        <p:txBody>
          <a:bodyPr wrap="square" lIns="0" tIns="0" rIns="0" bIns="0" rtlCol="0" anchor="t"/>
          <a:lstStyle/>
          <a:p>
            <a:pPr indent="0" marL="0">
              <a:buNone/>
            </a:pPr>
            <a:r>
              <a:rPr lang="en-US" sz="1300" i="1" dirty="0">
                <a:solidFill>
                  <a:schemeClr val="tx2"/>
                </a:solidFill>
              </a:rPr>
              <a:t>Con quién compite y sus 8 comparables</a:t>
            </a:r>
            <a:endParaRPr lang="en-US" sz="1300" dirty="0"/>
          </a:p>
        </p:txBody>
      </p:sp>
      <p:sp>
        <p:nvSpPr>
          <p:cNvPr id="9" name="caja-120"/>
          <p:cNvSpPr/>
          <p:nvPr/>
        </p:nvSpPr>
        <p:spPr>
          <a:xfrm>
            <a:off x="4343400" y="1508760"/>
            <a:ext cx="3520440" cy="2148840"/>
          </a:xfrm>
          <a:prstGeom prst="rect">
            <a:avLst/>
          </a:prstGeom>
          <a:solidFill>
            <a:schemeClr val="bg2"/>
          </a:solidFill>
          <a:ln/>
        </p:spPr>
      </p:sp>
      <p:sp>
        <p:nvSpPr>
          <p:cNvPr id="10" name="caja-121"/>
          <p:cNvSpPr/>
          <p:nvPr/>
        </p:nvSpPr>
        <p:spPr>
          <a:xfrm>
            <a:off x="4572000" y="1737360"/>
            <a:ext cx="384048" cy="384048"/>
          </a:xfrm>
          <a:prstGeom prst="rect">
            <a:avLst/>
          </a:prstGeom>
          <a:solidFill>
            <a:schemeClr val="accent1"/>
          </a:solidFill>
          <a:ln/>
        </p:spPr>
      </p:sp>
      <p:sp>
        <p:nvSpPr>
          <p:cNvPr id="11" name="texto-122"/>
          <p:cNvSpPr txBox="1"/>
          <p:nvPr/>
        </p:nvSpPr>
        <p:spPr>
          <a:xfrm>
            <a:off x="4572000" y="17373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2</a:t>
            </a:r>
            <a:endParaRPr lang="en-US" sz="1400" dirty="0"/>
          </a:p>
        </p:txBody>
      </p:sp>
      <p:sp>
        <p:nvSpPr>
          <p:cNvPr id="12" name="texto-123"/>
          <p:cNvSpPr txBox="1"/>
          <p:nvPr/>
        </p:nvSpPr>
        <p:spPr>
          <a:xfrm>
            <a:off x="5120640" y="1737360"/>
            <a:ext cx="2560320" cy="384048"/>
          </a:xfrm>
          <a:prstGeom prst="rect">
            <a:avLst/>
          </a:prstGeom>
          <a:noFill/>
          <a:ln/>
        </p:spPr>
        <p:txBody>
          <a:bodyPr wrap="square" lIns="0" tIns="0" rIns="0" bIns="0" rtlCol="0" anchor="ctr"/>
          <a:lstStyle/>
          <a:p>
            <a:pPr indent="0" marL="0">
              <a:buNone/>
            </a:pPr>
            <a:r>
              <a:rPr lang="en-US" sz="1800" b="1" dirty="0">
                <a:solidFill>
                  <a:schemeClr val="tx1"/>
                </a:solidFill>
              </a:rPr>
              <a:t>Accesibilidad</a:t>
            </a:r>
            <a:endParaRPr lang="en-US" sz="1800" dirty="0"/>
          </a:p>
        </p:txBody>
      </p:sp>
      <p:sp>
        <p:nvSpPr>
          <p:cNvPr id="13" name="texto-124"/>
          <p:cNvSpPr txBox="1"/>
          <p:nvPr/>
        </p:nvSpPr>
        <p:spPr>
          <a:xfrm>
            <a:off x="4572000" y="2331720"/>
            <a:ext cx="3063240" cy="594360"/>
          </a:xfrm>
          <a:prstGeom prst="rect">
            <a:avLst/>
          </a:prstGeom>
          <a:noFill/>
          <a:ln/>
        </p:spPr>
        <p:txBody>
          <a:bodyPr wrap="square" lIns="0" tIns="0" rIns="0" bIns="0" rtlCol="0" anchor="t"/>
          <a:lstStyle/>
          <a:p>
            <a:pPr indent="0" marL="0">
              <a:buNone/>
            </a:pPr>
            <a:r>
              <a:rPr lang="en-US" sz="1400" dirty="0">
                <a:solidFill>
                  <a:schemeClr val="tx1"/>
                </a:solidFill>
              </a:rPr>
              <a:t>Paraderos ATU con cKDTree en metros</a:t>
            </a:r>
            <a:endParaRPr lang="en-US" sz="1400" dirty="0"/>
          </a:p>
        </p:txBody>
      </p:sp>
      <p:sp>
        <p:nvSpPr>
          <p:cNvPr id="14" name="texto-125"/>
          <p:cNvSpPr txBox="1"/>
          <p:nvPr/>
        </p:nvSpPr>
        <p:spPr>
          <a:xfrm>
            <a:off x="4572000" y="2971800"/>
            <a:ext cx="3063240" cy="502920"/>
          </a:xfrm>
          <a:prstGeom prst="rect">
            <a:avLst/>
          </a:prstGeom>
          <a:noFill/>
          <a:ln/>
        </p:spPr>
        <p:txBody>
          <a:bodyPr wrap="square" lIns="0" tIns="0" rIns="0" bIns="0" rtlCol="0" anchor="t"/>
          <a:lstStyle/>
          <a:p>
            <a:pPr indent="0" marL="0">
              <a:buNone/>
            </a:pPr>
            <a:r>
              <a:rPr lang="en-US" sz="1300" i="1" dirty="0">
                <a:solidFill>
                  <a:schemeClr val="tx2"/>
                </a:solidFill>
              </a:rPr>
              <a:t>Distancia al paradero más cercano</a:t>
            </a:r>
            <a:endParaRPr lang="en-US" sz="1300" dirty="0"/>
          </a:p>
        </p:txBody>
      </p:sp>
      <p:sp>
        <p:nvSpPr>
          <p:cNvPr id="15" name="caja-126"/>
          <p:cNvSpPr/>
          <p:nvPr/>
        </p:nvSpPr>
        <p:spPr>
          <a:xfrm>
            <a:off x="8138160" y="1508760"/>
            <a:ext cx="3520440" cy="2148840"/>
          </a:xfrm>
          <a:prstGeom prst="rect">
            <a:avLst/>
          </a:prstGeom>
          <a:solidFill>
            <a:schemeClr val="accent3"/>
          </a:solidFill>
          <a:ln/>
        </p:spPr>
      </p:sp>
      <p:sp>
        <p:nvSpPr>
          <p:cNvPr id="16" name="caja-127"/>
          <p:cNvSpPr/>
          <p:nvPr/>
        </p:nvSpPr>
        <p:spPr>
          <a:xfrm>
            <a:off x="8366760" y="1737360"/>
            <a:ext cx="384048" cy="384048"/>
          </a:xfrm>
          <a:prstGeom prst="rect">
            <a:avLst/>
          </a:prstGeom>
          <a:solidFill>
            <a:schemeClr val="accent1"/>
          </a:solidFill>
          <a:ln/>
        </p:spPr>
      </p:sp>
      <p:sp>
        <p:nvSpPr>
          <p:cNvPr id="17" name="texto-128"/>
          <p:cNvSpPr txBox="1"/>
          <p:nvPr/>
        </p:nvSpPr>
        <p:spPr>
          <a:xfrm>
            <a:off x="8366760" y="17373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3</a:t>
            </a:r>
            <a:endParaRPr lang="en-US" sz="1400" dirty="0"/>
          </a:p>
        </p:txBody>
      </p:sp>
      <p:sp>
        <p:nvSpPr>
          <p:cNvPr id="18" name="texto-129"/>
          <p:cNvSpPr txBox="1"/>
          <p:nvPr/>
        </p:nvSpPr>
        <p:spPr>
          <a:xfrm>
            <a:off x="8915400" y="1737360"/>
            <a:ext cx="2560320" cy="384048"/>
          </a:xfrm>
          <a:prstGeom prst="rect">
            <a:avLst/>
          </a:prstGeom>
          <a:noFill/>
          <a:ln/>
        </p:spPr>
        <p:txBody>
          <a:bodyPr wrap="square" lIns="0" tIns="0" rIns="0" bIns="0" rtlCol="0" anchor="ctr"/>
          <a:lstStyle/>
          <a:p>
            <a:pPr indent="0" marL="0">
              <a:buNone/>
            </a:pPr>
            <a:r>
              <a:rPr lang="en-US" sz="1800" b="1" dirty="0">
                <a:solidFill>
                  <a:schemeClr val="tx1"/>
                </a:solidFill>
              </a:rPr>
              <a:t>Precio esperado</a:t>
            </a:r>
            <a:endParaRPr lang="en-US" sz="1800" dirty="0"/>
          </a:p>
        </p:txBody>
      </p:sp>
      <p:sp>
        <p:nvSpPr>
          <p:cNvPr id="19" name="texto-130"/>
          <p:cNvSpPr txBox="1"/>
          <p:nvPr/>
        </p:nvSpPr>
        <p:spPr>
          <a:xfrm>
            <a:off x="8366760" y="2331720"/>
            <a:ext cx="3063240" cy="594360"/>
          </a:xfrm>
          <a:prstGeom prst="rect">
            <a:avLst/>
          </a:prstGeom>
          <a:noFill/>
          <a:ln/>
        </p:spPr>
        <p:txBody>
          <a:bodyPr wrap="square" lIns="0" tIns="0" rIns="0" bIns="0" rtlCol="0" anchor="t"/>
          <a:lstStyle/>
          <a:p>
            <a:pPr indent="0" marL="0">
              <a:buNone/>
            </a:pPr>
            <a:r>
              <a:rPr lang="en-US" sz="1400" dirty="0">
                <a:solidFill>
                  <a:schemeClr val="tx1"/>
                </a:solidFill>
              </a:rPr>
              <a:t>HistGradientBoosting + rango calibrado al 90 %</a:t>
            </a:r>
            <a:endParaRPr lang="en-US" sz="1400" dirty="0"/>
          </a:p>
        </p:txBody>
      </p:sp>
      <p:sp>
        <p:nvSpPr>
          <p:cNvPr id="20" name="texto-131"/>
          <p:cNvSpPr txBox="1"/>
          <p:nvPr/>
        </p:nvSpPr>
        <p:spPr>
          <a:xfrm>
            <a:off x="8366760" y="2971800"/>
            <a:ext cx="3063240" cy="502920"/>
          </a:xfrm>
          <a:prstGeom prst="rect">
            <a:avLst/>
          </a:prstGeom>
          <a:noFill/>
          <a:ln/>
        </p:spPr>
        <p:txBody>
          <a:bodyPr wrap="square" lIns="0" tIns="0" rIns="0" bIns="0" rtlCol="0" anchor="t"/>
          <a:lstStyle/>
          <a:p>
            <a:pPr indent="0" marL="0">
              <a:buNone/>
            </a:pPr>
            <a:r>
              <a:rPr lang="en-US" sz="1300" i="1" dirty="0">
                <a:solidFill>
                  <a:schemeClr val="tx2"/>
                </a:solidFill>
              </a:rPr>
              <a:t>Cuánto pedir y cuánto puede equivocarse</a:t>
            </a:r>
            <a:endParaRPr lang="en-US" sz="1300" dirty="0"/>
          </a:p>
        </p:txBody>
      </p:sp>
      <p:sp>
        <p:nvSpPr>
          <p:cNvPr id="21" name="caja-132"/>
          <p:cNvSpPr/>
          <p:nvPr/>
        </p:nvSpPr>
        <p:spPr>
          <a:xfrm>
            <a:off x="548640" y="3886200"/>
            <a:ext cx="3520440" cy="2148840"/>
          </a:xfrm>
          <a:prstGeom prst="rect">
            <a:avLst/>
          </a:prstGeom>
          <a:solidFill>
            <a:schemeClr val="bg2"/>
          </a:solidFill>
          <a:ln/>
        </p:spPr>
      </p:sp>
      <p:sp>
        <p:nvSpPr>
          <p:cNvPr id="22" name="caja-133"/>
          <p:cNvSpPr/>
          <p:nvPr/>
        </p:nvSpPr>
        <p:spPr>
          <a:xfrm>
            <a:off x="777240" y="4114800"/>
            <a:ext cx="384048" cy="384048"/>
          </a:xfrm>
          <a:prstGeom prst="rect">
            <a:avLst/>
          </a:prstGeom>
          <a:solidFill>
            <a:schemeClr val="accent1"/>
          </a:solidFill>
          <a:ln/>
        </p:spPr>
      </p:sp>
      <p:sp>
        <p:nvSpPr>
          <p:cNvPr id="23" name="texto-13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4</a:t>
            </a:r>
            <a:endParaRPr lang="en-US" sz="1400" dirty="0"/>
          </a:p>
        </p:txBody>
      </p:sp>
      <p:sp>
        <p:nvSpPr>
          <p:cNvPr id="24" name="texto-135"/>
          <p:cNvSpPr txBox="1"/>
          <p:nvPr/>
        </p:nvSpPr>
        <p:spPr>
          <a:xfrm>
            <a:off x="1325880" y="4114800"/>
            <a:ext cx="2560320" cy="384048"/>
          </a:xfrm>
          <a:prstGeom prst="rect">
            <a:avLst/>
          </a:prstGeom>
          <a:noFill/>
          <a:ln/>
        </p:spPr>
        <p:txBody>
          <a:bodyPr wrap="square" lIns="0" tIns="0" rIns="0" bIns="0" rtlCol="0" anchor="ctr"/>
          <a:lstStyle/>
          <a:p>
            <a:pPr indent="0" marL="0">
              <a:buNone/>
            </a:pPr>
            <a:r>
              <a:rPr lang="en-US" sz="1800" b="1" dirty="0">
                <a:solidFill>
                  <a:schemeClr val="tx1"/>
                </a:solidFill>
              </a:rPr>
              <a:t>Tendencia distrital</a:t>
            </a:r>
            <a:endParaRPr lang="en-US" sz="1800" dirty="0"/>
          </a:p>
        </p:txBody>
      </p:sp>
      <p:sp>
        <p:nvSpPr>
          <p:cNvPr id="25" name="texto-136"/>
          <p:cNvSpPr txBox="1"/>
          <p:nvPr/>
        </p:nvSpPr>
        <p:spPr>
          <a:xfrm>
            <a:off x="777240" y="4709160"/>
            <a:ext cx="3063240" cy="594360"/>
          </a:xfrm>
          <a:prstGeom prst="rect">
            <a:avLst/>
          </a:prstGeom>
          <a:noFill/>
          <a:ln/>
        </p:spPr>
        <p:txBody>
          <a:bodyPr wrap="square" lIns="0" tIns="0" rIns="0" bIns="0" rtlCol="0" anchor="t"/>
          <a:lstStyle/>
          <a:p>
            <a:pPr indent="0" marL="0">
              <a:buNone/>
            </a:pPr>
            <a:r>
              <a:rPr lang="en-US" sz="1400" dirty="0">
                <a:solidFill>
                  <a:schemeClr val="tx1"/>
                </a:solidFill>
              </a:rPr>
              <a:t>SARIMA sobre las series del BCRP</a:t>
            </a:r>
            <a:endParaRPr lang="en-US" sz="1400" dirty="0"/>
          </a:p>
        </p:txBody>
      </p:sp>
      <p:sp>
        <p:nvSpPr>
          <p:cNvPr id="26" name="texto-137"/>
          <p:cNvSpPr txBox="1"/>
          <p:nvPr/>
        </p:nvSpPr>
        <p:spPr>
          <a:xfrm>
            <a:off x="777240" y="5349240"/>
            <a:ext cx="3063240" cy="502920"/>
          </a:xfrm>
          <a:prstGeom prst="rect">
            <a:avLst/>
          </a:prstGeom>
          <a:noFill/>
          <a:ln/>
        </p:spPr>
        <p:txBody>
          <a:bodyPr wrap="square" lIns="0" tIns="0" rIns="0" bIns="0" rtlCol="0" anchor="t"/>
          <a:lstStyle/>
          <a:p>
            <a:pPr indent="0" marL="0">
              <a:buNone/>
            </a:pPr>
            <a:r>
              <a:rPr lang="en-US" sz="1300" i="1" dirty="0">
                <a:solidFill>
                  <a:schemeClr val="tx2"/>
                </a:solidFill>
              </a:rPr>
              <a:t>Si el distrito sube o se mantiene</a:t>
            </a:r>
            <a:endParaRPr lang="en-US" sz="1300" dirty="0"/>
          </a:p>
        </p:txBody>
      </p:sp>
      <p:sp>
        <p:nvSpPr>
          <p:cNvPr id="27" name="caja-138"/>
          <p:cNvSpPr/>
          <p:nvPr/>
        </p:nvSpPr>
        <p:spPr>
          <a:xfrm>
            <a:off x="4343400" y="3886200"/>
            <a:ext cx="3520440" cy="2148840"/>
          </a:xfrm>
          <a:prstGeom prst="rect">
            <a:avLst/>
          </a:prstGeom>
          <a:solidFill>
            <a:schemeClr val="bg2"/>
          </a:solidFill>
          <a:ln/>
        </p:spPr>
      </p:sp>
      <p:sp>
        <p:nvSpPr>
          <p:cNvPr id="28" name="caja-139"/>
          <p:cNvSpPr/>
          <p:nvPr/>
        </p:nvSpPr>
        <p:spPr>
          <a:xfrm>
            <a:off x="4572000" y="4114800"/>
            <a:ext cx="384048" cy="384048"/>
          </a:xfrm>
          <a:prstGeom prst="rect">
            <a:avLst/>
          </a:prstGeom>
          <a:solidFill>
            <a:schemeClr val="accent1"/>
          </a:solidFill>
          <a:ln/>
        </p:spPr>
      </p:sp>
      <p:sp>
        <p:nvSpPr>
          <p:cNvPr id="29" name="texto-140"/>
          <p:cNvSpPr txBox="1"/>
          <p:nvPr/>
        </p:nvSpPr>
        <p:spPr>
          <a:xfrm>
            <a:off x="4572000" y="411480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5</a:t>
            </a:r>
            <a:endParaRPr lang="en-US" sz="1400" dirty="0"/>
          </a:p>
        </p:txBody>
      </p:sp>
      <p:sp>
        <p:nvSpPr>
          <p:cNvPr id="30" name="texto-141"/>
          <p:cNvSpPr txBox="1"/>
          <p:nvPr/>
        </p:nvSpPr>
        <p:spPr>
          <a:xfrm>
            <a:off x="5120640" y="4114800"/>
            <a:ext cx="2560320" cy="384048"/>
          </a:xfrm>
          <a:prstGeom prst="rect">
            <a:avLst/>
          </a:prstGeom>
          <a:noFill/>
          <a:ln/>
        </p:spPr>
        <p:txBody>
          <a:bodyPr wrap="square" lIns="0" tIns="0" rIns="0" bIns="0" rtlCol="0" anchor="ctr"/>
          <a:lstStyle/>
          <a:p>
            <a:pPr indent="0" marL="0">
              <a:buNone/>
            </a:pPr>
            <a:r>
              <a:rPr lang="en-US" sz="1800" b="1" dirty="0">
                <a:solidFill>
                  <a:schemeClr val="tx1"/>
                </a:solidFill>
              </a:rPr>
              <a:t>Precio de publicación</a:t>
            </a:r>
            <a:endParaRPr lang="en-US" sz="1800" dirty="0"/>
          </a:p>
        </p:txBody>
      </p:sp>
      <p:sp>
        <p:nvSpPr>
          <p:cNvPr id="31" name="texto-142"/>
          <p:cNvSpPr txBox="1"/>
          <p:nvPr/>
        </p:nvSpPr>
        <p:spPr>
          <a:xfrm>
            <a:off x="4572000" y="4709160"/>
            <a:ext cx="3063240" cy="594360"/>
          </a:xfrm>
          <a:prstGeom prst="rect">
            <a:avLst/>
          </a:prstGeom>
          <a:noFill/>
          <a:ln/>
        </p:spPr>
        <p:txBody>
          <a:bodyPr wrap="square" lIns="0" tIns="0" rIns="0" bIns="0" rtlCol="0" anchor="t"/>
          <a:lstStyle/>
          <a:p>
            <a:pPr indent="0" marL="0">
              <a:buNone/>
            </a:pPr>
            <a:r>
              <a:rPr lang="en-US" sz="1400" dirty="0">
                <a:solidFill>
                  <a:schemeClr val="tx1"/>
                </a:solidFill>
              </a:rPr>
              <a:t>Reglas sobre los modelos 1, 3 y 4</a:t>
            </a:r>
            <a:endParaRPr lang="en-US" sz="1400" dirty="0"/>
          </a:p>
        </p:txBody>
      </p:sp>
      <p:sp>
        <p:nvSpPr>
          <p:cNvPr id="32" name="texto-143"/>
          <p:cNvSpPr txBox="1"/>
          <p:nvPr/>
        </p:nvSpPr>
        <p:spPr>
          <a:xfrm>
            <a:off x="4572000" y="5349240"/>
            <a:ext cx="3063240" cy="502920"/>
          </a:xfrm>
          <a:prstGeom prst="rect">
            <a:avLst/>
          </a:prstGeom>
          <a:noFill/>
          <a:ln/>
        </p:spPr>
        <p:txBody>
          <a:bodyPr wrap="square" lIns="0" tIns="0" rIns="0" bIns="0" rtlCol="0" anchor="t"/>
          <a:lstStyle/>
          <a:p>
            <a:pPr indent="0" marL="0">
              <a:buNone/>
            </a:pPr>
            <a:r>
              <a:rPr lang="en-US" sz="1300" i="1" dirty="0">
                <a:solidFill>
                  <a:schemeClr val="tx2"/>
                </a:solidFill>
              </a:rPr>
              <a:t>Competitivo, equilibrado o renta superior</a:t>
            </a:r>
            <a:endParaRPr lang="en-US" sz="1300" dirty="0"/>
          </a:p>
        </p:txBody>
      </p:sp>
      <p:sp>
        <p:nvSpPr>
          <p:cNvPr id="33" name="caja-144"/>
          <p:cNvSpPr/>
          <p:nvPr/>
        </p:nvSpPr>
        <p:spPr>
          <a:xfrm>
            <a:off x="8138160" y="3886200"/>
            <a:ext cx="3520440" cy="2148840"/>
          </a:xfrm>
          <a:prstGeom prst="rect">
            <a:avLst/>
          </a:prstGeom>
          <a:solidFill>
            <a:schemeClr val="bg2"/>
          </a:solidFill>
          <a:ln/>
        </p:spPr>
      </p:sp>
      <p:sp>
        <p:nvSpPr>
          <p:cNvPr id="34" name="caja-145"/>
          <p:cNvSpPr/>
          <p:nvPr/>
        </p:nvSpPr>
        <p:spPr>
          <a:xfrm>
            <a:off x="8366760" y="4114800"/>
            <a:ext cx="384048" cy="384048"/>
          </a:xfrm>
          <a:prstGeom prst="rect">
            <a:avLst/>
          </a:prstGeom>
          <a:solidFill>
            <a:schemeClr val="accent1"/>
          </a:solidFill>
          <a:ln/>
        </p:spPr>
      </p:sp>
      <p:sp>
        <p:nvSpPr>
          <p:cNvPr id="35" name="texto-146"/>
          <p:cNvSpPr txBox="1"/>
          <p:nvPr/>
        </p:nvSpPr>
        <p:spPr>
          <a:xfrm>
            <a:off x="8366760" y="411480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6</a:t>
            </a:r>
            <a:endParaRPr lang="en-US" sz="1400" dirty="0"/>
          </a:p>
        </p:txBody>
      </p:sp>
      <p:sp>
        <p:nvSpPr>
          <p:cNvPr id="36" name="texto-147"/>
          <p:cNvSpPr txBox="1"/>
          <p:nvPr/>
        </p:nvSpPr>
        <p:spPr>
          <a:xfrm>
            <a:off x="8915400" y="4114800"/>
            <a:ext cx="2560320" cy="384048"/>
          </a:xfrm>
          <a:prstGeom prst="rect">
            <a:avLst/>
          </a:prstGeom>
          <a:noFill/>
          <a:ln/>
        </p:spPr>
        <p:txBody>
          <a:bodyPr wrap="square" lIns="0" tIns="0" rIns="0" bIns="0" rtlCol="0" anchor="ctr"/>
          <a:lstStyle/>
          <a:p>
            <a:pPr indent="0" marL="0">
              <a:buNone/>
            </a:pPr>
            <a:r>
              <a:rPr lang="en-US" sz="1800" b="1" dirty="0">
                <a:solidFill>
                  <a:schemeClr val="tx1"/>
                </a:solidFill>
              </a:rPr>
              <a:t>Simulador de mejoras</a:t>
            </a:r>
            <a:endParaRPr lang="en-US" sz="1800" dirty="0"/>
          </a:p>
        </p:txBody>
      </p:sp>
      <p:sp>
        <p:nvSpPr>
          <p:cNvPr id="37" name="texto-148"/>
          <p:cNvSpPr txBox="1"/>
          <p:nvPr/>
        </p:nvSpPr>
        <p:spPr>
          <a:xfrm>
            <a:off x="8366760" y="4709160"/>
            <a:ext cx="3063240" cy="594360"/>
          </a:xfrm>
          <a:prstGeom prst="rect">
            <a:avLst/>
          </a:prstGeom>
          <a:noFill/>
          <a:ln/>
        </p:spPr>
        <p:txBody>
          <a:bodyPr wrap="square" lIns="0" tIns="0" rIns="0" bIns="0" rtlCol="0" anchor="t"/>
          <a:lstStyle/>
          <a:p>
            <a:pPr indent="0" marL="0">
              <a:buNone/>
            </a:pPr>
            <a:r>
              <a:rPr lang="en-US" sz="1400" dirty="0">
                <a:solidFill>
                  <a:schemeClr val="tx1"/>
                </a:solidFill>
              </a:rPr>
              <a:t>Uso contrafactual del modelo de precio</a:t>
            </a:r>
            <a:endParaRPr lang="en-US" sz="1400" dirty="0"/>
          </a:p>
        </p:txBody>
      </p:sp>
      <p:sp>
        <p:nvSpPr>
          <p:cNvPr id="38" name="texto-149"/>
          <p:cNvSpPr txBox="1"/>
          <p:nvPr/>
        </p:nvSpPr>
        <p:spPr>
          <a:xfrm>
            <a:off x="8366760" y="5349240"/>
            <a:ext cx="3063240" cy="502920"/>
          </a:xfrm>
          <a:prstGeom prst="rect">
            <a:avLst/>
          </a:prstGeom>
          <a:noFill/>
          <a:ln/>
        </p:spPr>
        <p:txBody>
          <a:bodyPr wrap="square" lIns="0" tIns="0" rIns="0" bIns="0" rtlCol="0" anchor="t"/>
          <a:lstStyle/>
          <a:p>
            <a:pPr indent="0" marL="0">
              <a:buNone/>
            </a:pPr>
            <a:r>
              <a:rPr lang="en-US" sz="1300" i="1" dirty="0">
                <a:solidFill>
                  <a:schemeClr val="tx2"/>
                </a:solidFill>
              </a:rPr>
              <a:t>Cuánto suma un ascensor o más área</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dirty="0">
                <a:solidFill>
                  <a:schemeClr val="tx1"/>
                </a:solidFill>
              </a:rPr>
              <a:t>Demo · propietario</a:t>
            </a:r>
            <a:endParaRPr lang="en-US" sz="3200" dirty="0"/>
          </a:p>
        </p:txBody>
      </p:sp>
      <p:sp>
        <p:nvSpPr>
          <p:cNvPr id="3" name="caja-150"/>
          <p:cNvSpPr/>
          <p:nvPr/>
        </p:nvSpPr>
        <p:spPr>
          <a:xfrm>
            <a:off x="548640" y="1508760"/>
            <a:ext cx="384048" cy="384048"/>
          </a:xfrm>
          <a:prstGeom prst="rect">
            <a:avLst/>
          </a:prstGeom>
          <a:solidFill>
            <a:schemeClr val="accent1"/>
          </a:solidFill>
          <a:ln/>
        </p:spPr>
      </p:sp>
      <p:sp>
        <p:nvSpPr>
          <p:cNvPr id="4" name="texto-151"/>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1</a:t>
            </a:r>
            <a:endParaRPr lang="en-US" sz="1400" dirty="0"/>
          </a:p>
        </p:txBody>
      </p:sp>
      <p:sp>
        <p:nvSpPr>
          <p:cNvPr id="5" name="texto-152"/>
          <p:cNvSpPr txBox="1"/>
          <p:nvPr/>
        </p:nvSpPr>
        <p:spPr>
          <a:xfrm>
            <a:off x="1097280" y="1508760"/>
            <a:ext cx="2971800" cy="384048"/>
          </a:xfrm>
          <a:prstGeom prst="rect">
            <a:avLst/>
          </a:prstGeom>
          <a:noFill/>
          <a:ln/>
        </p:spPr>
        <p:txBody>
          <a:bodyPr wrap="square" lIns="0" tIns="0" rIns="0" bIns="0" rtlCol="0" anchor="ctr"/>
          <a:lstStyle/>
          <a:p>
            <a:pPr indent="0" marL="0">
              <a:buNone/>
            </a:pPr>
            <a:r>
              <a:rPr lang="en-US" sz="1800" b="1" dirty="0">
                <a:solidFill>
                  <a:schemeClr val="tx1"/>
                </a:solidFill>
              </a:rPr>
              <a:t>Agrega su depa</a:t>
            </a:r>
            <a:endParaRPr lang="en-US" sz="1800" dirty="0"/>
          </a:p>
        </p:txBody>
      </p:sp>
      <p:sp>
        <p:nvSpPr>
          <p:cNvPr id="6" name="texto-153"/>
          <p:cNvSpPr txBox="1"/>
          <p:nvPr/>
        </p:nvSpPr>
        <p:spPr>
          <a:xfrm>
            <a:off x="548640" y="2011680"/>
            <a:ext cx="3520440" cy="640080"/>
          </a:xfrm>
          <a:prstGeom prst="rect">
            <a:avLst/>
          </a:prstGeom>
          <a:noFill/>
          <a:ln/>
        </p:spPr>
        <p:txBody>
          <a:bodyPr wrap="square" lIns="0" tIns="0" rIns="0" bIns="0" rtlCol="0" anchor="t"/>
          <a:lstStyle/>
          <a:p>
            <a:pPr indent="0" marL="0">
              <a:buNone/>
            </a:pPr>
            <a:r>
              <a:rPr lang="en-US" sz="1400" dirty="0">
                <a:solidFill>
                  <a:schemeClr val="tx1"/>
                </a:solidFill>
              </a:rPr>
              <a:t>Características y ubicación marcada con un clic en el mapa.</a:t>
            </a:r>
            <a:endParaRPr lang="en-US" sz="1400" dirty="0"/>
          </a:p>
        </p:txBody>
      </p:sp>
      <p:pic>
        <p:nvPicPr>
          <p:cNvPr id="7" name="captura-p1_agregar" descr="Formulario para agregar un departamento con el mapa de ubicación">    </p:cNvPr>
          <p:cNvPicPr>
            <a:picLocks noChangeAspect="1"/>
          </p:cNvPicPr>
          <p:nvPr/>
        </p:nvPicPr>
        <p:blipFill>
          <a:blip r:embed="rId1"/>
          <a:stretch>
            <a:fillRect/>
          </a:stretch>
        </p:blipFill>
        <p:spPr>
          <a:xfrm>
            <a:off x="548640" y="2743200"/>
            <a:ext cx="3520440" cy="2640330"/>
          </a:xfrm>
          <a:prstGeom prst="rect">
            <a:avLst/>
          </a:prstGeom>
        </p:spPr>
      </p:pic>
      <p:sp>
        <p:nvSpPr>
          <p:cNvPr id="8" name="borde-154"/>
          <p:cNvSpPr/>
          <p:nvPr/>
        </p:nvSpPr>
        <p:spPr>
          <a:xfrm>
            <a:off x="548640" y="2743200"/>
            <a:ext cx="3520440" cy="2640330"/>
          </a:xfrm>
          <a:prstGeom prst="rect">
            <a:avLst/>
          </a:prstGeom>
          <a:ln w="9525">
            <a:solidFill>
              <a:schemeClr val="accent6"/>
            </a:solidFill>
            <a:prstDash val="solid"/>
          </a:ln>
        </p:spPr>
      </p:sp>
      <p:sp>
        <p:nvSpPr>
          <p:cNvPr id="9" name="caja-155"/>
          <p:cNvSpPr/>
          <p:nvPr/>
        </p:nvSpPr>
        <p:spPr>
          <a:xfrm>
            <a:off x="4343400" y="1508760"/>
            <a:ext cx="384048" cy="384048"/>
          </a:xfrm>
          <a:prstGeom prst="rect">
            <a:avLst/>
          </a:prstGeom>
          <a:solidFill>
            <a:schemeClr val="accent1"/>
          </a:solidFill>
          <a:ln/>
        </p:spPr>
      </p:sp>
      <p:sp>
        <p:nvSpPr>
          <p:cNvPr id="10" name="texto-156"/>
          <p:cNvSpPr txBox="1"/>
          <p:nvPr/>
        </p:nvSpPr>
        <p:spPr>
          <a:xfrm>
            <a:off x="4343400" y="15087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2</a:t>
            </a:r>
            <a:endParaRPr lang="en-US" sz="1400" dirty="0"/>
          </a:p>
        </p:txBody>
      </p:sp>
      <p:sp>
        <p:nvSpPr>
          <p:cNvPr id="11" name="texto-157"/>
          <p:cNvSpPr txBox="1"/>
          <p:nvPr/>
        </p:nvSpPr>
        <p:spPr>
          <a:xfrm>
            <a:off x="4892040" y="1508760"/>
            <a:ext cx="2971800" cy="384048"/>
          </a:xfrm>
          <a:prstGeom prst="rect">
            <a:avLst/>
          </a:prstGeom>
          <a:noFill/>
          <a:ln/>
        </p:spPr>
        <p:txBody>
          <a:bodyPr wrap="square" lIns="0" tIns="0" rIns="0" bIns="0" rtlCol="0" anchor="ctr"/>
          <a:lstStyle/>
          <a:p>
            <a:pPr indent="0" marL="0">
              <a:buNone/>
            </a:pPr>
            <a:r>
              <a:rPr lang="en-US" sz="1800" b="1" dirty="0">
                <a:solidFill>
                  <a:schemeClr val="tx1"/>
                </a:solidFill>
              </a:rPr>
              <a:t>Recibe el análisis</a:t>
            </a:r>
            <a:endParaRPr lang="en-US" sz="1800" dirty="0"/>
          </a:p>
        </p:txBody>
      </p:sp>
      <p:sp>
        <p:nvSpPr>
          <p:cNvPr id="12" name="texto-158"/>
          <p:cNvSpPr txBox="1"/>
          <p:nvPr/>
        </p:nvSpPr>
        <p:spPr>
          <a:xfrm>
            <a:off x="4343400" y="2011680"/>
            <a:ext cx="3520440" cy="640080"/>
          </a:xfrm>
          <a:prstGeom prst="rect">
            <a:avLst/>
          </a:prstGeom>
          <a:noFill/>
          <a:ln/>
        </p:spPr>
        <p:txBody>
          <a:bodyPr wrap="square" lIns="0" tIns="0" rIns="0" bIns="0" rtlCol="0" anchor="t"/>
          <a:lstStyle/>
          <a:p>
            <a:pPr indent="0" marL="0">
              <a:buNone/>
            </a:pPr>
            <a:r>
              <a:rPr lang="en-US" sz="1400" dirty="0">
                <a:solidFill>
                  <a:schemeClr val="tx1"/>
                </a:solidFill>
              </a:rPr>
              <a:t>Precio esperado S/ 3,656, rango y tres precios de publicación.</a:t>
            </a:r>
            <a:endParaRPr lang="en-US" sz="1400" dirty="0"/>
          </a:p>
        </p:txBody>
      </p:sp>
      <p:pic>
        <p:nvPicPr>
          <p:cNvPr id="13" name="captura-p2_analisis" descr="Resumen del análisis: precio esperado, rango y precios de publicación">    </p:cNvPr>
          <p:cNvPicPr>
            <a:picLocks noChangeAspect="1"/>
          </p:cNvPicPr>
          <p:nvPr/>
        </p:nvPicPr>
        <p:blipFill>
          <a:blip r:embed="rId2"/>
          <a:stretch>
            <a:fillRect/>
          </a:stretch>
        </p:blipFill>
        <p:spPr>
          <a:xfrm>
            <a:off x="4343400" y="2743200"/>
            <a:ext cx="3520440" cy="2640330"/>
          </a:xfrm>
          <a:prstGeom prst="rect">
            <a:avLst/>
          </a:prstGeom>
        </p:spPr>
      </p:pic>
      <p:sp>
        <p:nvSpPr>
          <p:cNvPr id="14" name="borde-159"/>
          <p:cNvSpPr/>
          <p:nvPr/>
        </p:nvSpPr>
        <p:spPr>
          <a:xfrm>
            <a:off x="4343400" y="2743200"/>
            <a:ext cx="3520440" cy="2640330"/>
          </a:xfrm>
          <a:prstGeom prst="rect">
            <a:avLst/>
          </a:prstGeom>
          <a:ln w="9525">
            <a:solidFill>
              <a:schemeClr val="accent6"/>
            </a:solidFill>
            <a:prstDash val="solid"/>
          </a:ln>
        </p:spPr>
      </p:sp>
      <p:sp>
        <p:nvSpPr>
          <p:cNvPr id="15" name="caja-160"/>
          <p:cNvSpPr/>
          <p:nvPr/>
        </p:nvSpPr>
        <p:spPr>
          <a:xfrm>
            <a:off x="8138160" y="1508760"/>
            <a:ext cx="384048" cy="384048"/>
          </a:xfrm>
          <a:prstGeom prst="rect">
            <a:avLst/>
          </a:prstGeom>
          <a:solidFill>
            <a:schemeClr val="accent1"/>
          </a:solidFill>
          <a:ln/>
        </p:spPr>
      </p:sp>
      <p:sp>
        <p:nvSpPr>
          <p:cNvPr id="16" name="texto-161"/>
          <p:cNvSpPr txBox="1"/>
          <p:nvPr/>
        </p:nvSpPr>
        <p:spPr>
          <a:xfrm>
            <a:off x="8138160" y="15087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3</a:t>
            </a:r>
            <a:endParaRPr lang="en-US" sz="1400" dirty="0"/>
          </a:p>
        </p:txBody>
      </p:sp>
      <p:sp>
        <p:nvSpPr>
          <p:cNvPr id="17" name="texto-162"/>
          <p:cNvSpPr txBox="1"/>
          <p:nvPr/>
        </p:nvSpPr>
        <p:spPr>
          <a:xfrm>
            <a:off x="8686800" y="1508760"/>
            <a:ext cx="2971800" cy="384048"/>
          </a:xfrm>
          <a:prstGeom prst="rect">
            <a:avLst/>
          </a:prstGeom>
          <a:noFill/>
          <a:ln/>
        </p:spPr>
        <p:txBody>
          <a:bodyPr wrap="square" lIns="0" tIns="0" rIns="0" bIns="0" rtlCol="0" anchor="ctr"/>
          <a:lstStyle/>
          <a:p>
            <a:pPr indent="0" marL="0">
              <a:buNone/>
            </a:pPr>
            <a:r>
              <a:rPr lang="en-US" sz="1800" b="1" dirty="0">
                <a:solidFill>
                  <a:schemeClr val="tx1"/>
                </a:solidFill>
              </a:rPr>
              <a:t>Lo publica</a:t>
            </a:r>
            <a:endParaRPr lang="en-US" sz="1800" dirty="0"/>
          </a:p>
        </p:txBody>
      </p:sp>
      <p:sp>
        <p:nvSpPr>
          <p:cNvPr id="18" name="texto-163"/>
          <p:cNvSpPr txBox="1"/>
          <p:nvPr/>
        </p:nvSpPr>
        <p:spPr>
          <a:xfrm>
            <a:off x="8138160" y="2011680"/>
            <a:ext cx="3520440" cy="640080"/>
          </a:xfrm>
          <a:prstGeom prst="rect">
            <a:avLst/>
          </a:prstGeom>
          <a:noFill/>
          <a:ln/>
        </p:spPr>
        <p:txBody>
          <a:bodyPr wrap="square" lIns="0" tIns="0" rIns="0" bIns="0" rtlCol="0" anchor="t"/>
          <a:lstStyle/>
          <a:p>
            <a:pPr indent="0" marL="0">
              <a:buNone/>
            </a:pPr>
            <a:r>
              <a:rPr lang="en-US" sz="1400" dirty="0">
                <a:solidFill>
                  <a:schemeClr val="tx1"/>
                </a:solidFill>
              </a:rPr>
              <a:t>Elige renta superior, S/ 3,840; ya aparece en la búsqueda.</a:t>
            </a:r>
            <a:endParaRPr lang="en-US" sz="1400" dirty="0"/>
          </a:p>
        </p:txBody>
      </p:sp>
      <p:pic>
        <p:nvPicPr>
          <p:cNvPr id="19" name="captura-p3_publicado" descr="Ficha pública del departamento publicado">    </p:cNvPr>
          <p:cNvPicPr>
            <a:picLocks noChangeAspect="1"/>
          </p:cNvPicPr>
          <p:nvPr/>
        </p:nvPicPr>
        <p:blipFill>
          <a:blip r:embed="rId3"/>
          <a:stretch>
            <a:fillRect/>
          </a:stretch>
        </p:blipFill>
        <p:spPr>
          <a:xfrm>
            <a:off x="8138160" y="2743200"/>
            <a:ext cx="3520440" cy="2640330"/>
          </a:xfrm>
          <a:prstGeom prst="rect">
            <a:avLst/>
          </a:prstGeom>
        </p:spPr>
      </p:pic>
      <p:sp>
        <p:nvSpPr>
          <p:cNvPr id="20" name="borde-164"/>
          <p:cNvSpPr/>
          <p:nvPr/>
        </p:nvSpPr>
        <p:spPr>
          <a:xfrm>
            <a:off x="8138160" y="2743200"/>
            <a:ext cx="3520440" cy="2640330"/>
          </a:xfrm>
          <a:prstGeom prst="rect">
            <a:avLst/>
          </a:prstGeom>
          <a:ln w="9525">
            <a:solidFill>
              <a:schemeClr val="accent6"/>
            </a:solidFill>
            <a:prstDash val="solid"/>
          </a:ln>
        </p:spPr>
      </p:sp>
      <p:sp>
        <p:nvSpPr>
          <p:cNvPr id="21" name="texto-165"/>
          <p:cNvSpPr txBox="1"/>
          <p:nvPr/>
        </p:nvSpPr>
        <p:spPr>
          <a:xfrm>
            <a:off x="548640" y="5623560"/>
            <a:ext cx="11094415" cy="411480"/>
          </a:xfrm>
          <a:prstGeom prst="rect">
            <a:avLst/>
          </a:prstGeom>
          <a:noFill/>
          <a:ln/>
        </p:spPr>
        <p:txBody>
          <a:bodyPr wrap="square" lIns="0" tIns="0" rIns="0" bIns="0" rtlCol="0" anchor="ctr"/>
          <a:lstStyle/>
          <a:p>
            <a:pPr indent="0" marL="0">
              <a:buNone/>
            </a:pPr>
            <a:r>
              <a:rPr lang="en-US" sz="1500" b="1" dirty="0">
                <a:solidFill>
                  <a:schemeClr val="tx1"/>
                </a:solidFill>
              </a:rPr>
              <a:t>Todo el recorrido funciona en la versión publicada, con cuenta propia y datos guardados.</a:t>
            </a:r>
            <a:endParaRPr lang="en-US" sz="15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dirty="0">
                <a:solidFill>
                  <a:schemeClr val="tx1"/>
                </a:solidFill>
              </a:rPr>
              <a:t>Demo · inquilino</a:t>
            </a:r>
            <a:endParaRPr lang="en-US" sz="3200" dirty="0"/>
          </a:p>
        </p:txBody>
      </p:sp>
      <p:sp>
        <p:nvSpPr>
          <p:cNvPr id="3" name="caja-166"/>
          <p:cNvSpPr/>
          <p:nvPr/>
        </p:nvSpPr>
        <p:spPr>
          <a:xfrm>
            <a:off x="548640" y="1508760"/>
            <a:ext cx="384048" cy="384048"/>
          </a:xfrm>
          <a:prstGeom prst="rect">
            <a:avLst/>
          </a:prstGeom>
          <a:solidFill>
            <a:schemeClr val="accent1"/>
          </a:solidFill>
          <a:ln/>
        </p:spPr>
      </p:sp>
      <p:sp>
        <p:nvSpPr>
          <p:cNvPr id="4" name="texto-167"/>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1</a:t>
            </a:r>
            <a:endParaRPr lang="en-US" sz="1400" dirty="0"/>
          </a:p>
        </p:txBody>
      </p:sp>
      <p:sp>
        <p:nvSpPr>
          <p:cNvPr id="5" name="texto-168"/>
          <p:cNvSpPr txBox="1"/>
          <p:nvPr/>
        </p:nvSpPr>
        <p:spPr>
          <a:xfrm>
            <a:off x="1097280" y="1508760"/>
            <a:ext cx="2971800" cy="384048"/>
          </a:xfrm>
          <a:prstGeom prst="rect">
            <a:avLst/>
          </a:prstGeom>
          <a:noFill/>
          <a:ln/>
        </p:spPr>
        <p:txBody>
          <a:bodyPr wrap="square" lIns="0" tIns="0" rIns="0" bIns="0" rtlCol="0" anchor="ctr"/>
          <a:lstStyle/>
          <a:p>
            <a:pPr indent="0" marL="0">
              <a:buNone/>
            </a:pPr>
            <a:r>
              <a:rPr lang="en-US" sz="1800" b="1" dirty="0">
                <a:solidFill>
                  <a:schemeClr val="tx1"/>
                </a:solidFill>
              </a:rPr>
              <a:t>Filtra el mercado</a:t>
            </a:r>
            <a:endParaRPr lang="en-US" sz="1800" dirty="0"/>
          </a:p>
        </p:txBody>
      </p:sp>
      <p:sp>
        <p:nvSpPr>
          <p:cNvPr id="6" name="texto-169"/>
          <p:cNvSpPr txBox="1"/>
          <p:nvPr/>
        </p:nvSpPr>
        <p:spPr>
          <a:xfrm>
            <a:off x="548640" y="2011680"/>
            <a:ext cx="3520440" cy="640080"/>
          </a:xfrm>
          <a:prstGeom prst="rect">
            <a:avLst/>
          </a:prstGeom>
          <a:noFill/>
          <a:ln/>
        </p:spPr>
        <p:txBody>
          <a:bodyPr wrap="square" lIns="0" tIns="0" rIns="0" bIns="0" rtlCol="0" anchor="t"/>
          <a:lstStyle/>
          <a:p>
            <a:pPr indent="0" marL="0">
              <a:buNone/>
            </a:pPr>
            <a:r>
              <a:rPr lang="en-US" sz="1400" dirty="0">
                <a:solidFill>
                  <a:schemeClr val="tx1"/>
                </a:solidFill>
              </a:rPr>
              <a:t>3,056 departamentos; 895 piden menos de lo que estima el modelo.</a:t>
            </a:r>
            <a:endParaRPr lang="en-US" sz="1400" dirty="0"/>
          </a:p>
        </p:txBody>
      </p:sp>
      <p:pic>
        <p:nvPicPr>
          <p:cNvPr id="7" name="captura-i1_buscar" descr="Búsqueda con los conteos por valoración del precio">    </p:cNvPr>
          <p:cNvPicPr>
            <a:picLocks noChangeAspect="1"/>
          </p:cNvPicPr>
          <p:nvPr/>
        </p:nvPicPr>
        <p:blipFill>
          <a:blip r:embed="rId1"/>
          <a:stretch>
            <a:fillRect/>
          </a:stretch>
        </p:blipFill>
        <p:spPr>
          <a:xfrm>
            <a:off x="548640" y="2743200"/>
            <a:ext cx="3520440" cy="2640330"/>
          </a:xfrm>
          <a:prstGeom prst="rect">
            <a:avLst/>
          </a:prstGeom>
        </p:spPr>
      </p:pic>
      <p:sp>
        <p:nvSpPr>
          <p:cNvPr id="8" name="borde-170"/>
          <p:cNvSpPr/>
          <p:nvPr/>
        </p:nvSpPr>
        <p:spPr>
          <a:xfrm>
            <a:off x="548640" y="2743200"/>
            <a:ext cx="3520440" cy="2640330"/>
          </a:xfrm>
          <a:prstGeom prst="rect">
            <a:avLst/>
          </a:prstGeom>
          <a:ln w="9525">
            <a:solidFill>
              <a:schemeClr val="accent6"/>
            </a:solidFill>
            <a:prstDash val="solid"/>
          </a:ln>
        </p:spPr>
      </p:sp>
      <p:sp>
        <p:nvSpPr>
          <p:cNvPr id="9" name="caja-171"/>
          <p:cNvSpPr/>
          <p:nvPr/>
        </p:nvSpPr>
        <p:spPr>
          <a:xfrm>
            <a:off x="4343400" y="1508760"/>
            <a:ext cx="384048" cy="384048"/>
          </a:xfrm>
          <a:prstGeom prst="rect">
            <a:avLst/>
          </a:prstGeom>
          <a:solidFill>
            <a:schemeClr val="accent1"/>
          </a:solidFill>
          <a:ln/>
        </p:spPr>
      </p:sp>
      <p:sp>
        <p:nvSpPr>
          <p:cNvPr id="10" name="texto-172"/>
          <p:cNvSpPr txBox="1"/>
          <p:nvPr/>
        </p:nvSpPr>
        <p:spPr>
          <a:xfrm>
            <a:off x="4343400" y="15087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2</a:t>
            </a:r>
            <a:endParaRPr lang="en-US" sz="1400" dirty="0"/>
          </a:p>
        </p:txBody>
      </p:sp>
      <p:sp>
        <p:nvSpPr>
          <p:cNvPr id="11" name="texto-173"/>
          <p:cNvSpPr txBox="1"/>
          <p:nvPr/>
        </p:nvSpPr>
        <p:spPr>
          <a:xfrm>
            <a:off x="4892040" y="1508760"/>
            <a:ext cx="2971800" cy="384048"/>
          </a:xfrm>
          <a:prstGeom prst="rect">
            <a:avLst/>
          </a:prstGeom>
          <a:noFill/>
          <a:ln/>
        </p:spPr>
        <p:txBody>
          <a:bodyPr wrap="square" lIns="0" tIns="0" rIns="0" bIns="0" rtlCol="0" anchor="ctr"/>
          <a:lstStyle/>
          <a:p>
            <a:pPr indent="0" marL="0">
              <a:buNone/>
            </a:pPr>
            <a:r>
              <a:rPr lang="en-US" sz="1800" b="1" dirty="0">
                <a:solidFill>
                  <a:schemeClr val="tx1"/>
                </a:solidFill>
              </a:rPr>
              <a:t>Abre la ficha</a:t>
            </a:r>
            <a:endParaRPr lang="en-US" sz="1800" dirty="0"/>
          </a:p>
        </p:txBody>
      </p:sp>
      <p:sp>
        <p:nvSpPr>
          <p:cNvPr id="12" name="texto-174"/>
          <p:cNvSpPr txBox="1"/>
          <p:nvPr/>
        </p:nvSpPr>
        <p:spPr>
          <a:xfrm>
            <a:off x="4343400" y="2011680"/>
            <a:ext cx="3520440" cy="640080"/>
          </a:xfrm>
          <a:prstGeom prst="rect">
            <a:avLst/>
          </a:prstGeom>
          <a:noFill/>
          <a:ln/>
        </p:spPr>
        <p:txBody>
          <a:bodyPr wrap="square" lIns="0" tIns="0" rIns="0" bIns="0" rtlCol="0" anchor="t"/>
          <a:lstStyle/>
          <a:p>
            <a:pPr indent="0" marL="0">
              <a:buNone/>
            </a:pPr>
            <a:r>
              <a:rPr lang="en-US" sz="1400" dirty="0">
                <a:solidFill>
                  <a:schemeClr val="tx1"/>
                </a:solidFill>
              </a:rPr>
              <a:t>Pide S/ 1,200 y el modelo estima S/ 1,586: 24.3 % por debajo.</a:t>
            </a:r>
            <a:endParaRPr lang="en-US" sz="1400" dirty="0"/>
          </a:p>
        </p:txBody>
      </p:sp>
      <p:pic>
        <p:nvPicPr>
          <p:cNvPr id="13" name="captura-i2_ficha" descr="Ficha de un anuncio de Lince frente al precio estimado">    </p:cNvPr>
          <p:cNvPicPr>
            <a:picLocks noChangeAspect="1"/>
          </p:cNvPicPr>
          <p:nvPr/>
        </p:nvPicPr>
        <p:blipFill>
          <a:blip r:embed="rId2"/>
          <a:stretch>
            <a:fillRect/>
          </a:stretch>
        </p:blipFill>
        <p:spPr>
          <a:xfrm>
            <a:off x="4343400" y="2743200"/>
            <a:ext cx="3520440" cy="2640330"/>
          </a:xfrm>
          <a:prstGeom prst="rect">
            <a:avLst/>
          </a:prstGeom>
        </p:spPr>
      </p:pic>
      <p:sp>
        <p:nvSpPr>
          <p:cNvPr id="14" name="borde-175"/>
          <p:cNvSpPr/>
          <p:nvPr/>
        </p:nvSpPr>
        <p:spPr>
          <a:xfrm>
            <a:off x="4343400" y="2743200"/>
            <a:ext cx="3520440" cy="2640330"/>
          </a:xfrm>
          <a:prstGeom prst="rect">
            <a:avLst/>
          </a:prstGeom>
          <a:ln w="9525">
            <a:solidFill>
              <a:schemeClr val="accent6"/>
            </a:solidFill>
            <a:prstDash val="solid"/>
          </a:ln>
        </p:spPr>
      </p:sp>
      <p:sp>
        <p:nvSpPr>
          <p:cNvPr id="15" name="caja-176"/>
          <p:cNvSpPr/>
          <p:nvPr/>
        </p:nvSpPr>
        <p:spPr>
          <a:xfrm>
            <a:off x="8138160" y="1508760"/>
            <a:ext cx="384048" cy="384048"/>
          </a:xfrm>
          <a:prstGeom prst="rect">
            <a:avLst/>
          </a:prstGeom>
          <a:solidFill>
            <a:schemeClr val="accent1"/>
          </a:solidFill>
          <a:ln/>
        </p:spPr>
      </p:sp>
      <p:sp>
        <p:nvSpPr>
          <p:cNvPr id="16" name="texto-177"/>
          <p:cNvSpPr txBox="1"/>
          <p:nvPr/>
        </p:nvSpPr>
        <p:spPr>
          <a:xfrm>
            <a:off x="8138160" y="1508760"/>
            <a:ext cx="384048" cy="384048"/>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3</a:t>
            </a:r>
            <a:endParaRPr lang="en-US" sz="1400" dirty="0"/>
          </a:p>
        </p:txBody>
      </p:sp>
      <p:sp>
        <p:nvSpPr>
          <p:cNvPr id="17" name="texto-178"/>
          <p:cNvSpPr txBox="1"/>
          <p:nvPr/>
        </p:nvSpPr>
        <p:spPr>
          <a:xfrm>
            <a:off x="8686800" y="1508760"/>
            <a:ext cx="2971800" cy="384048"/>
          </a:xfrm>
          <a:prstGeom prst="rect">
            <a:avLst/>
          </a:prstGeom>
          <a:noFill/>
          <a:ln/>
        </p:spPr>
        <p:txBody>
          <a:bodyPr wrap="square" lIns="0" tIns="0" rIns="0" bIns="0" rtlCol="0" anchor="ctr"/>
          <a:lstStyle/>
          <a:p>
            <a:pPr indent="0" marL="0">
              <a:buNone/>
            </a:pPr>
            <a:r>
              <a:rPr lang="en-US" sz="1800" b="1" dirty="0">
                <a:solidFill>
                  <a:schemeClr val="tx1"/>
                </a:solidFill>
              </a:rPr>
              <a:t>Escribe al propietario</a:t>
            </a:r>
            <a:endParaRPr lang="en-US" sz="1800" dirty="0"/>
          </a:p>
        </p:txBody>
      </p:sp>
      <p:sp>
        <p:nvSpPr>
          <p:cNvPr id="18" name="texto-179"/>
          <p:cNvSpPr txBox="1"/>
          <p:nvPr/>
        </p:nvSpPr>
        <p:spPr>
          <a:xfrm>
            <a:off x="8138160" y="2011680"/>
            <a:ext cx="3520440" cy="640080"/>
          </a:xfrm>
          <a:prstGeom prst="rect">
            <a:avLst/>
          </a:prstGeom>
          <a:noFill/>
          <a:ln/>
        </p:spPr>
        <p:txBody>
          <a:bodyPr wrap="square" lIns="0" tIns="0" rIns="0" bIns="0" rtlCol="0" anchor="t"/>
          <a:lstStyle/>
          <a:p>
            <a:pPr indent="0" marL="0">
              <a:buNone/>
            </a:pPr>
            <a:r>
              <a:rPr lang="en-US" sz="1400" dirty="0">
                <a:solidFill>
                  <a:schemeClr val="tx1"/>
                </a:solidFill>
              </a:rPr>
              <a:t>El mensaje le llega a su pestaña Interesados.</a:t>
            </a:r>
            <a:endParaRPr lang="en-US" sz="1400" dirty="0"/>
          </a:p>
        </p:txBody>
      </p:sp>
      <p:pic>
        <p:nvPicPr>
          <p:cNvPr id="19" name="captura-i3_mensaje" descr="Formulario Me interesa de la ficha publicada">    </p:cNvPr>
          <p:cNvPicPr>
            <a:picLocks noChangeAspect="1"/>
          </p:cNvPicPr>
          <p:nvPr/>
        </p:nvPicPr>
        <p:blipFill>
          <a:blip r:embed="rId3"/>
          <a:stretch>
            <a:fillRect/>
          </a:stretch>
        </p:blipFill>
        <p:spPr>
          <a:xfrm>
            <a:off x="8138160" y="2743200"/>
            <a:ext cx="3520440" cy="2640330"/>
          </a:xfrm>
          <a:prstGeom prst="rect">
            <a:avLst/>
          </a:prstGeom>
        </p:spPr>
      </p:pic>
      <p:sp>
        <p:nvSpPr>
          <p:cNvPr id="20" name="borde-180"/>
          <p:cNvSpPr/>
          <p:nvPr/>
        </p:nvSpPr>
        <p:spPr>
          <a:xfrm>
            <a:off x="8138160" y="2743200"/>
            <a:ext cx="3520440" cy="2640330"/>
          </a:xfrm>
          <a:prstGeom prst="rect">
            <a:avLst/>
          </a:prstGeom>
          <a:ln w="9525">
            <a:solidFill>
              <a:schemeClr val="accent6"/>
            </a:solidFill>
            <a:prstDash val="solid"/>
          </a:ln>
        </p:spPr>
      </p:sp>
      <p:sp>
        <p:nvSpPr>
          <p:cNvPr id="21" name="texto-181"/>
          <p:cNvSpPr txBox="1"/>
          <p:nvPr/>
        </p:nvSpPr>
        <p:spPr>
          <a:xfrm>
            <a:off x="548640" y="5623560"/>
            <a:ext cx="11094415" cy="411480"/>
          </a:xfrm>
          <a:prstGeom prst="rect">
            <a:avLst/>
          </a:prstGeom>
          <a:noFill/>
          <a:ln/>
        </p:spPr>
        <p:txBody>
          <a:bodyPr wrap="square" lIns="0" tIns="0" rIns="0" bIns="0" rtlCol="0" anchor="ctr"/>
          <a:lstStyle/>
          <a:p>
            <a:pPr indent="0" marL="0">
              <a:buNone/>
            </a:pPr>
            <a:r>
              <a:rPr lang="en-US" sz="1500" b="1" dirty="0">
                <a:solidFill>
                  <a:schemeClr val="tx1"/>
                </a:solidFill>
              </a:rPr>
              <a:t>Sin cuenta: el inquilino solo busca, compara y escribe.</a:t>
            </a:r>
            <a:endParaRPr lang="en-US" sz="15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dirty="0">
                <a:solidFill>
                  <a:schemeClr val="tx1"/>
                </a:solidFill>
              </a:rPr>
              <a:t>El error baja a la mitad</a:t>
            </a:r>
            <a:endParaRPr lang="en-US" sz="3200" dirty="0"/>
          </a:p>
        </p:txBody>
      </p:sp>
      <p:graphicFrame>
        <p:nvGraphicFramePr>
          <p:cNvPr id="3" name="grafico-mae" descr=""/>
          <p:cNvGraphicFramePr/>
          <p:nvPr/>
        </p:nvGraphicFramePr>
        <p:xfrm>
          <a:off x="548640" y="141732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texto-182"/>
          <p:cNvSpPr txBox="1"/>
          <p:nvPr/>
        </p:nvSpPr>
        <p:spPr>
          <a:xfrm>
            <a:off x="8001000" y="1554480"/>
            <a:ext cx="3657600" cy="685800"/>
          </a:xfrm>
          <a:prstGeom prst="rect">
            <a:avLst/>
          </a:prstGeom>
          <a:noFill/>
          <a:ln/>
        </p:spPr>
        <p:txBody>
          <a:bodyPr wrap="square" lIns="0" tIns="0" rIns="0" bIns="0" rtlCol="0" anchor="ctr"/>
          <a:lstStyle/>
          <a:p>
            <a:pPr indent="0" marL="0">
              <a:buNone/>
            </a:pPr>
            <a:r>
              <a:rPr lang="en-US" sz="3600" dirty="0">
                <a:solidFill>
                  <a:schemeClr val="tx1"/>
                </a:solidFill>
                <a:latin typeface="Arial Black" pitchFamily="34" charset="0"/>
                <a:ea typeface="Arial Black" pitchFamily="34" charset="-122"/>
                <a:cs typeface="Arial Black" pitchFamily="34" charset="-120"/>
              </a:rPr>
              <a:t>R² 0.76</a:t>
            </a:r>
            <a:endParaRPr lang="en-US" sz="3600" dirty="0"/>
          </a:p>
        </p:txBody>
      </p:sp>
      <p:sp>
        <p:nvSpPr>
          <p:cNvPr id="5" name="texto-183"/>
          <p:cNvSpPr txBox="1"/>
          <p:nvPr/>
        </p:nvSpPr>
        <p:spPr>
          <a:xfrm>
            <a:off x="8001000" y="2267712"/>
            <a:ext cx="3657600" cy="640080"/>
          </a:xfrm>
          <a:prstGeom prst="rect">
            <a:avLst/>
          </a:prstGeom>
          <a:noFill/>
          <a:ln/>
        </p:spPr>
        <p:txBody>
          <a:bodyPr wrap="square" lIns="0" tIns="0" rIns="0" bIns="0" rtlCol="0" anchor="t"/>
          <a:lstStyle/>
          <a:p>
            <a:pPr indent="0" marL="0">
              <a:buNone/>
            </a:pPr>
            <a:r>
              <a:rPr lang="en-US" sz="1400" dirty="0">
                <a:solidFill>
                  <a:schemeClr val="tx1"/>
                </a:solidFill>
              </a:rPr>
              <a:t>en la prueba de septiembre (629 anuncios), sin ajustar hiperparámetros</a:t>
            </a:r>
            <a:endParaRPr lang="en-US" sz="1400" dirty="0"/>
          </a:p>
        </p:txBody>
      </p:sp>
      <p:sp>
        <p:nvSpPr>
          <p:cNvPr id="6" name="texto-184"/>
          <p:cNvSpPr txBox="1"/>
          <p:nvPr/>
        </p:nvSpPr>
        <p:spPr>
          <a:xfrm>
            <a:off x="8001000" y="3063240"/>
            <a:ext cx="3657600" cy="685800"/>
          </a:xfrm>
          <a:prstGeom prst="rect">
            <a:avLst/>
          </a:prstGeom>
          <a:noFill/>
          <a:ln/>
        </p:spPr>
        <p:txBody>
          <a:bodyPr wrap="square" lIns="0" tIns="0" rIns="0" bIns="0" rtlCol="0" anchor="ctr"/>
          <a:lstStyle/>
          <a:p>
            <a:pPr indent="0" marL="0">
              <a:buNone/>
            </a:pPr>
            <a:r>
              <a:rPr lang="en-US" sz="3600" dirty="0">
                <a:solidFill>
                  <a:schemeClr val="tx1"/>
                </a:solidFill>
                <a:latin typeface="Arial Black" pitchFamily="34" charset="0"/>
                <a:ea typeface="Arial Black" pitchFamily="34" charset="-122"/>
                <a:cs typeface="Arial Black" pitchFamily="34" charset="-120"/>
              </a:rPr>
              <a:t>92 %</a:t>
            </a:r>
            <a:endParaRPr lang="en-US" sz="3600" dirty="0"/>
          </a:p>
        </p:txBody>
      </p:sp>
      <p:sp>
        <p:nvSpPr>
          <p:cNvPr id="7" name="texto-185"/>
          <p:cNvSpPr txBox="1"/>
          <p:nvPr/>
        </p:nvSpPr>
        <p:spPr>
          <a:xfrm>
            <a:off x="8001000" y="3776472"/>
            <a:ext cx="3657600" cy="640080"/>
          </a:xfrm>
          <a:prstGeom prst="rect">
            <a:avLst/>
          </a:prstGeom>
          <a:noFill/>
          <a:ln/>
        </p:spPr>
        <p:txBody>
          <a:bodyPr wrap="square" lIns="0" tIns="0" rIns="0" bIns="0" rtlCol="0" anchor="t"/>
          <a:lstStyle/>
          <a:p>
            <a:pPr indent="0" marL="0">
              <a:buNone/>
            </a:pPr>
            <a:r>
              <a:rPr lang="en-US" sz="1400" dirty="0">
                <a:solidFill>
                  <a:schemeClr val="tx1"/>
                </a:solidFill>
              </a:rPr>
              <a:t>de los precios de prueba cayeron dentro del rango al 90 %</a:t>
            </a:r>
            <a:endParaRPr lang="en-US" sz="1400" dirty="0"/>
          </a:p>
        </p:txBody>
      </p:sp>
      <p:sp>
        <p:nvSpPr>
          <p:cNvPr id="8" name="texto-186"/>
          <p:cNvSpPr txBox="1"/>
          <p:nvPr/>
        </p:nvSpPr>
        <p:spPr>
          <a:xfrm>
            <a:off x="8001000" y="4572000"/>
            <a:ext cx="3657600" cy="685800"/>
          </a:xfrm>
          <a:prstGeom prst="rect">
            <a:avLst/>
          </a:prstGeom>
          <a:noFill/>
          <a:ln/>
        </p:spPr>
        <p:txBody>
          <a:bodyPr wrap="square" lIns="0" tIns="0" rIns="0" bIns="0" rtlCol="0" anchor="ctr"/>
          <a:lstStyle/>
          <a:p>
            <a:pPr indent="0" marL="0">
              <a:buNone/>
            </a:pPr>
            <a:r>
              <a:rPr lang="en-US" sz="3600" dirty="0">
                <a:solidFill>
                  <a:schemeClr val="accent4"/>
                </a:solidFill>
                <a:latin typeface="Arial Black" pitchFamily="34" charset="0"/>
                <a:ea typeface="Arial Black" pitchFamily="34" charset="-122"/>
                <a:cs typeface="Arial Black" pitchFamily="34" charset="-120"/>
              </a:rPr>
              <a:t>S/ 512</a:t>
            </a:r>
            <a:endParaRPr lang="en-US" sz="3600" dirty="0"/>
          </a:p>
        </p:txBody>
      </p:sp>
      <p:sp>
        <p:nvSpPr>
          <p:cNvPr id="9" name="texto-187"/>
          <p:cNvSpPr txBox="1"/>
          <p:nvPr/>
        </p:nvSpPr>
        <p:spPr>
          <a:xfrm>
            <a:off x="8001000" y="5285232"/>
            <a:ext cx="3657600" cy="640080"/>
          </a:xfrm>
          <a:prstGeom prst="rect">
            <a:avLst/>
          </a:prstGeom>
          <a:noFill/>
          <a:ln/>
        </p:spPr>
        <p:txBody>
          <a:bodyPr wrap="square" lIns="0" tIns="0" rIns="0" bIns="0" rtlCol="0" anchor="t"/>
          <a:lstStyle/>
          <a:p>
            <a:pPr indent="0" marL="0">
              <a:buNone/>
            </a:pPr>
            <a:r>
              <a:rPr lang="en-US" sz="1400" dirty="0">
                <a:solidFill>
                  <a:schemeClr val="tx1"/>
                </a:solidFill>
              </a:rPr>
              <a:t>de error en 1,712 anuncios nuevos de octubre, sin reentrenar</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dirty="0">
                <a:solidFill>
                  <a:schemeClr val="tx1"/>
                </a:solidFill>
              </a:rPr>
              <a:t>Ejercicio: Lince coincide con la app</a:t>
            </a:r>
            <a:endParaRPr lang="en-US" sz="3200" dirty="0"/>
          </a:p>
        </p:txBody>
      </p:sp>
      <p:graphicFrame>
        <p:nvGraphicFramePr>
          <p:cNvPr id="11" name="tabla-linc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212848"/>
                <a:gridCol w="2212848"/>
                <a:gridCol w="2212848"/>
                <a:gridCol w="2212848"/>
                <a:gridCol w="2212848"/>
              </a:tblGrid>
              <a:tr h="457200">
                <a:tc>
                  <a:txBody>
                    <a:bodyPr/>
                    <a:lstStyle/>
                    <a:p>
                      <a:pPr algn="ctr" indent="0" marL="0">
                        <a:buNone/>
                      </a:pPr>
                      <a:r>
                        <a:rPr lang="en-US" sz="1600" b="1" dirty="0">
                          <a:solidFill>
                            <a:schemeClr val="bg1"/>
                          </a:solidFill>
                          <a:latin typeface="Arial" pitchFamily="34" charset="0"/>
                          <a:ea typeface="Arial" pitchFamily="34" charset="-122"/>
                          <a:cs typeface="Arial" pitchFamily="34" charset="-120"/>
                        </a:rPr>
                        <a:t>Distrito</a:t>
                      </a:r>
                      <a:endParaRPr lang="en-US" sz="1600" dirty="0">
                        <a:latin typeface="Arial" charset="0"/>
                        <a:ea typeface="Arial" charset="0"/>
                        <a:cs typeface="Arial" charset="0"/>
                      </a:endParaRPr>
                    </a:p>
                  </a:txBody>
                  <a:tcPr marL="91440" marR="91440" marT="45720" marB="45720" anchor="ctr">
                    <a:lnL w="9525" cap="flat" cmpd="sng" algn="ctr">
                      <a:solidFill>
                        <a:srgbClr val="E3E2DE"/>
                      </a:solidFill>
                      <a:prstDash val="solid"/>
                      <a:round/>
                      <a:headEnd type="none" w="med" len="med"/>
                      <a:tailEnd type="none" w="med" len="med"/>
                    </a:lnL>
                    <a:lnR w="9525" cap="flat" cmpd="sng" algn="ctr">
                      <a:solidFill>
                        <a:srgbClr val="E3E2DE"/>
                      </a:solidFill>
                      <a:prstDash val="solid"/>
                      <a:round/>
                      <a:headEnd type="none" w="med" len="med"/>
                      <a:tailEnd type="none" w="med" len="med"/>
                    </a:lnR>
                    <a:lnT w="9525" cap="flat" cmpd="sng" algn="ctr">
                      <a:solidFill>
                        <a:srgbClr val="E3E2DE"/>
                      </a:solidFill>
                      <a:prstDash val="solid"/>
                      <a:round/>
                      <a:headEnd type="none" w="med" len="med"/>
                      <a:tailEnd type="none" w="med" len="med"/>
                    </a:lnT>
                    <a:lnB w="9525" cap="flat" cmpd="sng" algn="ctr">
                      <a:solidFill>
                        <a:srgbClr val="E3E2DE"/>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latin typeface="Arial" pitchFamily="34" charset="0"/>
                          <a:ea typeface="Arial" pitchFamily="34" charset="-122"/>
                          <a:cs typeface="Arial" pitchFamily="34" charset="-120"/>
                        </a:rPr>
                        <a:t>n (prueba)</a:t>
                      </a:r>
                      <a:endParaRPr lang="en-US" sz="1600" dirty="0">
                        <a:latin typeface="Arial" charset="0"/>
                        <a:ea typeface="Arial" charset="0"/>
                        <a:cs typeface="Arial" charset="0"/>
                      </a:endParaRPr>
                    </a:p>
                  </a:txBody>
                  <a:tcPr marL="91440" marR="91440" marT="45720" marB="45720" anchor="ctr">
                    <a:lnL w="9525" cap="flat" cmpd="sng" algn="ctr">
                      <a:solidFill>
                        <a:srgbClr val="E3E2DE"/>
                      </a:solidFill>
                      <a:prstDash val="solid"/>
                      <a:round/>
                      <a:headEnd type="none" w="med" len="med"/>
                      <a:tailEnd type="none" w="med" len="med"/>
                    </a:lnL>
                    <a:lnR w="9525" cap="flat" cmpd="sng" algn="ctr">
                      <a:solidFill>
                        <a:srgbClr val="E3E2DE"/>
                      </a:solidFill>
                      <a:prstDash val="solid"/>
                      <a:round/>
                      <a:headEnd type="none" w="med" len="med"/>
                      <a:tailEnd type="none" w="med" len="med"/>
                    </a:lnR>
                    <a:lnT w="9525" cap="flat" cmpd="sng" algn="ctr">
                      <a:solidFill>
                        <a:srgbClr val="E3E2DE"/>
                      </a:solidFill>
                      <a:prstDash val="solid"/>
                      <a:round/>
                      <a:headEnd type="none" w="med" len="med"/>
                      <a:tailEnd type="none" w="med" len="med"/>
                    </a:lnT>
                    <a:lnB w="9525" cap="flat" cmpd="sng" algn="ctr">
                      <a:solidFill>
                        <a:srgbClr val="E3E2DE"/>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latin typeface="Arial" pitchFamily="34" charset="0"/>
                          <a:ea typeface="Arial" pitchFamily="34" charset="-122"/>
                          <a:cs typeface="Arial" pitchFamily="34" charset="-120"/>
                        </a:rPr>
                        <a:t>MAE calculado</a:t>
                      </a:r>
                      <a:endParaRPr lang="en-US" sz="1600" dirty="0">
                        <a:latin typeface="Arial" charset="0"/>
                        <a:ea typeface="Arial" charset="0"/>
                        <a:cs typeface="Arial" charset="0"/>
                      </a:endParaRPr>
                    </a:p>
                  </a:txBody>
                  <a:tcPr marL="91440" marR="91440" marT="45720" marB="45720" anchor="ctr">
                    <a:lnL w="9525" cap="flat" cmpd="sng" algn="ctr">
                      <a:solidFill>
                        <a:srgbClr val="E3E2DE"/>
                      </a:solidFill>
                      <a:prstDash val="solid"/>
                      <a:round/>
                      <a:headEnd type="none" w="med" len="med"/>
                      <a:tailEnd type="none" w="med" len="med"/>
                    </a:lnL>
                    <a:lnR w="9525" cap="flat" cmpd="sng" algn="ctr">
                      <a:solidFill>
                        <a:srgbClr val="E3E2DE"/>
                      </a:solidFill>
                      <a:prstDash val="solid"/>
                      <a:round/>
                      <a:headEnd type="none" w="med" len="med"/>
                      <a:tailEnd type="none" w="med" len="med"/>
                    </a:lnR>
                    <a:lnT w="9525" cap="flat" cmpd="sng" algn="ctr">
                      <a:solidFill>
                        <a:srgbClr val="E3E2DE"/>
                      </a:solidFill>
                      <a:prstDash val="solid"/>
                      <a:round/>
                      <a:headEnd type="none" w="med" len="med"/>
                      <a:tailEnd type="none" w="med" len="med"/>
                    </a:lnT>
                    <a:lnB w="9525" cap="flat" cmpd="sng" algn="ctr">
                      <a:solidFill>
                        <a:srgbClr val="E3E2DE"/>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latin typeface="Arial" pitchFamily="34" charset="0"/>
                          <a:ea typeface="Arial" pitchFamily="34" charset="-122"/>
                          <a:cs typeface="Arial" pitchFamily="34" charset="-120"/>
                        </a:rPr>
                        <a:t>n en la app</a:t>
                      </a:r>
                      <a:endParaRPr lang="en-US" sz="1600" dirty="0">
                        <a:latin typeface="Arial" charset="0"/>
                        <a:ea typeface="Arial" charset="0"/>
                        <a:cs typeface="Arial" charset="0"/>
                      </a:endParaRPr>
                    </a:p>
                  </a:txBody>
                  <a:tcPr marL="91440" marR="91440" marT="45720" marB="45720" anchor="ctr">
                    <a:lnL w="9525" cap="flat" cmpd="sng" algn="ctr">
                      <a:solidFill>
                        <a:srgbClr val="E3E2DE"/>
                      </a:solidFill>
                      <a:prstDash val="solid"/>
                      <a:round/>
                      <a:headEnd type="none" w="med" len="med"/>
                      <a:tailEnd type="none" w="med" len="med"/>
                    </a:lnL>
                    <a:lnR w="9525" cap="flat" cmpd="sng" algn="ctr">
                      <a:solidFill>
                        <a:srgbClr val="E3E2DE"/>
                      </a:solidFill>
                      <a:prstDash val="solid"/>
                      <a:round/>
                      <a:headEnd type="none" w="med" len="med"/>
                      <a:tailEnd type="none" w="med" len="med"/>
                    </a:lnR>
                    <a:lnT w="9525" cap="flat" cmpd="sng" algn="ctr">
                      <a:solidFill>
                        <a:srgbClr val="E3E2DE"/>
                      </a:solidFill>
                      <a:prstDash val="solid"/>
                      <a:round/>
                      <a:headEnd type="none" w="med" len="med"/>
                      <a:tailEnd type="none" w="med" len="med"/>
                    </a:lnT>
                    <a:lnB w="9525" cap="flat" cmpd="sng" algn="ctr">
                      <a:solidFill>
                        <a:srgbClr val="E3E2DE"/>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latin typeface="Arial" pitchFamily="34" charset="0"/>
                          <a:ea typeface="Arial" pitchFamily="34" charset="-122"/>
                          <a:cs typeface="Arial" pitchFamily="34" charset="-120"/>
                        </a:rPr>
                        <a:t>MAE en la app</a:t>
                      </a:r>
                      <a:endParaRPr lang="en-US" sz="1600" dirty="0">
                        <a:latin typeface="Arial" charset="0"/>
                        <a:ea typeface="Arial" charset="0"/>
                        <a:cs typeface="Arial" charset="0"/>
                      </a:endParaRPr>
                    </a:p>
                  </a:txBody>
                  <a:tcPr marL="91440" marR="91440" marT="45720" marB="45720" anchor="ctr">
                    <a:lnL w="9525" cap="flat" cmpd="sng" algn="ctr">
                      <a:solidFill>
                        <a:srgbClr val="E3E2DE"/>
                      </a:solidFill>
                      <a:prstDash val="solid"/>
                      <a:round/>
                      <a:headEnd type="none" w="med" len="med"/>
                      <a:tailEnd type="none" w="med" len="med"/>
                    </a:lnL>
                    <a:lnR w="9525" cap="flat" cmpd="sng" algn="ctr">
                      <a:solidFill>
                        <a:srgbClr val="E3E2DE"/>
                      </a:solidFill>
                      <a:prstDash val="solid"/>
                      <a:round/>
                      <a:headEnd type="none" w="med" len="med"/>
                      <a:tailEnd type="none" w="med" len="med"/>
                    </a:lnR>
                    <a:lnT w="9525" cap="flat" cmpd="sng" algn="ctr">
                      <a:solidFill>
                        <a:srgbClr val="E3E2DE"/>
                      </a:solidFill>
                      <a:prstDash val="solid"/>
                      <a:round/>
                      <a:headEnd type="none" w="med" len="med"/>
                      <a:tailEnd type="none" w="med" len="med"/>
                    </a:lnT>
                    <a:lnB w="9525" cap="flat" cmpd="sng" algn="ctr">
                      <a:solidFill>
                        <a:srgbClr val="E3E2DE"/>
                      </a:solidFill>
                      <a:prstDash val="solid"/>
                      <a:round/>
                      <a:headEnd type="none" w="med" len="med"/>
                      <a:tailEnd type="none" w="med" len="med"/>
                    </a:lnB>
                    <a:solidFill>
                      <a:schemeClr val="tx1"/>
                    </a:solidFill>
                  </a:tcPr>
                </a:tc>
              </a:tr>
              <a:tr h="548640">
                <a:tc>
                  <a:txBody>
                    <a:bodyPr/>
                    <a:lstStyle/>
                    <a:p>
                      <a:pPr algn="ctr" indent="0" marL="0">
                        <a:buNone/>
                      </a:pPr>
                      <a:r>
                        <a:rPr lang="en-US" sz="1600" b="1" dirty="0">
                          <a:solidFill>
                            <a:schemeClr val="tx1"/>
                          </a:solidFill>
                          <a:latin typeface="Arial" pitchFamily="34" charset="0"/>
                          <a:ea typeface="Arial" pitchFamily="34" charset="-122"/>
                          <a:cs typeface="Arial" pitchFamily="34" charset="-120"/>
                        </a:rPr>
                        <a:t>Lince</a:t>
                      </a:r>
                      <a:endParaRPr lang="en-US" sz="1600" dirty="0">
                        <a:latin typeface="Arial" charset="0"/>
                        <a:ea typeface="Arial" charset="0"/>
                        <a:cs typeface="Arial" charset="0"/>
                      </a:endParaRPr>
                    </a:p>
                  </a:txBody>
                  <a:tcPr marL="91440" marR="91440" marT="45720" marB="45720" anchor="ctr">
                    <a:lnL w="9525" cap="flat" cmpd="sng" algn="ctr">
                      <a:solidFill>
                        <a:srgbClr val="E3E2DE"/>
                      </a:solidFill>
                      <a:prstDash val="solid"/>
                      <a:round/>
                      <a:headEnd type="none" w="med" len="med"/>
                      <a:tailEnd type="none" w="med" len="med"/>
                    </a:lnL>
                    <a:lnR w="9525" cap="flat" cmpd="sng" algn="ctr">
                      <a:solidFill>
                        <a:srgbClr val="E3E2DE"/>
                      </a:solidFill>
                      <a:prstDash val="solid"/>
                      <a:round/>
                      <a:headEnd type="none" w="med" len="med"/>
                      <a:tailEnd type="none" w="med" len="med"/>
                    </a:lnR>
                    <a:lnT w="9525" cap="flat" cmpd="sng" algn="ctr">
                      <a:solidFill>
                        <a:srgbClr val="E3E2DE"/>
                      </a:solidFill>
                      <a:prstDash val="solid"/>
                      <a:round/>
                      <a:headEnd type="none" w="med" len="med"/>
                      <a:tailEnd type="none" w="med" len="med"/>
                    </a:lnT>
                    <a:lnB w="9525" cap="flat" cmpd="sng" algn="ctr">
                      <a:solidFill>
                        <a:srgbClr val="E3E2DE"/>
                      </a:solidFill>
                      <a:prstDash val="solid"/>
                      <a:round/>
                      <a:headEnd type="none" w="med" len="med"/>
                      <a:tailEnd type="none" w="med" len="med"/>
                    </a:lnB>
                  </a:tcPr>
                </a:tc>
                <a:tc>
                  <a:txBody>
                    <a:bodyPr/>
                    <a:lstStyle/>
                    <a:p>
                      <a:pPr algn="ctr" indent="0" marL="0">
                        <a:buNone/>
                      </a:pPr>
                      <a:r>
                        <a:rPr lang="en-US" sz="1600" dirty="0">
                          <a:solidFill>
                            <a:schemeClr val="tx1"/>
                          </a:solidFill>
                          <a:latin typeface="Arial" pitchFamily="34" charset="0"/>
                          <a:ea typeface="Arial" pitchFamily="34" charset="-122"/>
                          <a:cs typeface="Arial" pitchFamily="34" charset="-120"/>
                        </a:rPr>
                        <a:t>25</a:t>
                      </a:r>
                      <a:endParaRPr lang="en-US" sz="1600" dirty="0">
                        <a:latin typeface="Arial" charset="0"/>
                        <a:ea typeface="Arial" charset="0"/>
                        <a:cs typeface="Arial" charset="0"/>
                      </a:endParaRPr>
                    </a:p>
                  </a:txBody>
                  <a:tcPr marL="91440" marR="91440" marT="45720" marB="45720" anchor="ctr">
                    <a:lnL w="9525" cap="flat" cmpd="sng" algn="ctr">
                      <a:solidFill>
                        <a:srgbClr val="E3E2DE"/>
                      </a:solidFill>
                      <a:prstDash val="solid"/>
                      <a:round/>
                      <a:headEnd type="none" w="med" len="med"/>
                      <a:tailEnd type="none" w="med" len="med"/>
                    </a:lnL>
                    <a:lnR w="9525" cap="flat" cmpd="sng" algn="ctr">
                      <a:solidFill>
                        <a:srgbClr val="E3E2DE"/>
                      </a:solidFill>
                      <a:prstDash val="solid"/>
                      <a:round/>
                      <a:headEnd type="none" w="med" len="med"/>
                      <a:tailEnd type="none" w="med" len="med"/>
                    </a:lnR>
                    <a:lnT w="9525" cap="flat" cmpd="sng" algn="ctr">
                      <a:solidFill>
                        <a:srgbClr val="E3E2DE"/>
                      </a:solidFill>
                      <a:prstDash val="solid"/>
                      <a:round/>
                      <a:headEnd type="none" w="med" len="med"/>
                      <a:tailEnd type="none" w="med" len="med"/>
                    </a:lnT>
                    <a:lnB w="9525" cap="flat" cmpd="sng" algn="ctr">
                      <a:solidFill>
                        <a:srgbClr val="E3E2DE"/>
                      </a:solidFill>
                      <a:prstDash val="solid"/>
                      <a:round/>
                      <a:headEnd type="none" w="med" len="med"/>
                      <a:tailEnd type="none" w="med" len="med"/>
                    </a:lnB>
                  </a:tcPr>
                </a:tc>
                <a:tc>
                  <a:txBody>
                    <a:bodyPr/>
                    <a:lstStyle/>
                    <a:p>
                      <a:pPr algn="ctr" indent="0" marL="0">
                        <a:buNone/>
                      </a:pPr>
                      <a:r>
                        <a:rPr lang="en-US" sz="1600" b="1" dirty="0">
                          <a:solidFill>
                            <a:schemeClr val="accent4"/>
                          </a:solidFill>
                          <a:latin typeface="Arial" pitchFamily="34" charset="0"/>
                          <a:ea typeface="Arial" pitchFamily="34" charset="-122"/>
                          <a:cs typeface="Arial" pitchFamily="34" charset="-120"/>
                        </a:rPr>
                        <a:t>S/ 284.90</a:t>
                      </a:r>
                      <a:endParaRPr lang="en-US" sz="1600" dirty="0">
                        <a:latin typeface="Arial" charset="0"/>
                        <a:ea typeface="Arial" charset="0"/>
                        <a:cs typeface="Arial" charset="0"/>
                      </a:endParaRPr>
                    </a:p>
                  </a:txBody>
                  <a:tcPr marL="91440" marR="91440" marT="45720" marB="45720" anchor="ctr">
                    <a:lnL w="9525" cap="flat" cmpd="sng" algn="ctr">
                      <a:solidFill>
                        <a:srgbClr val="E3E2DE"/>
                      </a:solidFill>
                      <a:prstDash val="solid"/>
                      <a:round/>
                      <a:headEnd type="none" w="med" len="med"/>
                      <a:tailEnd type="none" w="med" len="med"/>
                    </a:lnL>
                    <a:lnR w="9525" cap="flat" cmpd="sng" algn="ctr">
                      <a:solidFill>
                        <a:srgbClr val="E3E2DE"/>
                      </a:solidFill>
                      <a:prstDash val="solid"/>
                      <a:round/>
                      <a:headEnd type="none" w="med" len="med"/>
                      <a:tailEnd type="none" w="med" len="med"/>
                    </a:lnR>
                    <a:lnT w="9525" cap="flat" cmpd="sng" algn="ctr">
                      <a:solidFill>
                        <a:srgbClr val="E3E2DE"/>
                      </a:solidFill>
                      <a:prstDash val="solid"/>
                      <a:round/>
                      <a:headEnd type="none" w="med" len="med"/>
                      <a:tailEnd type="none" w="med" len="med"/>
                    </a:lnT>
                    <a:lnB w="9525" cap="flat" cmpd="sng" algn="ctr">
                      <a:solidFill>
                        <a:srgbClr val="E3E2DE"/>
                      </a:solidFill>
                      <a:prstDash val="solid"/>
                      <a:round/>
                      <a:headEnd type="none" w="med" len="med"/>
                      <a:tailEnd type="none" w="med" len="med"/>
                    </a:lnB>
                  </a:tcPr>
                </a:tc>
                <a:tc>
                  <a:txBody>
                    <a:bodyPr/>
                    <a:lstStyle/>
                    <a:p>
                      <a:pPr algn="ctr" indent="0" marL="0">
                        <a:buNone/>
                      </a:pPr>
                      <a:r>
                        <a:rPr lang="en-US" sz="1600" dirty="0">
                          <a:solidFill>
                            <a:schemeClr val="tx1"/>
                          </a:solidFill>
                          <a:latin typeface="Arial" pitchFamily="34" charset="0"/>
                          <a:ea typeface="Arial" pitchFamily="34" charset="-122"/>
                          <a:cs typeface="Arial" pitchFamily="34" charset="-120"/>
                        </a:rPr>
                        <a:t>25</a:t>
                      </a:r>
                      <a:endParaRPr lang="en-US" sz="1600" dirty="0">
                        <a:latin typeface="Arial" charset="0"/>
                        <a:ea typeface="Arial" charset="0"/>
                        <a:cs typeface="Arial" charset="0"/>
                      </a:endParaRPr>
                    </a:p>
                  </a:txBody>
                  <a:tcPr marL="91440" marR="91440" marT="45720" marB="45720" anchor="ctr">
                    <a:lnL w="9525" cap="flat" cmpd="sng" algn="ctr">
                      <a:solidFill>
                        <a:srgbClr val="E3E2DE"/>
                      </a:solidFill>
                      <a:prstDash val="solid"/>
                      <a:round/>
                      <a:headEnd type="none" w="med" len="med"/>
                      <a:tailEnd type="none" w="med" len="med"/>
                    </a:lnL>
                    <a:lnR w="9525" cap="flat" cmpd="sng" algn="ctr">
                      <a:solidFill>
                        <a:srgbClr val="E3E2DE"/>
                      </a:solidFill>
                      <a:prstDash val="solid"/>
                      <a:round/>
                      <a:headEnd type="none" w="med" len="med"/>
                      <a:tailEnd type="none" w="med" len="med"/>
                    </a:lnR>
                    <a:lnT w="9525" cap="flat" cmpd="sng" algn="ctr">
                      <a:solidFill>
                        <a:srgbClr val="E3E2DE"/>
                      </a:solidFill>
                      <a:prstDash val="solid"/>
                      <a:round/>
                      <a:headEnd type="none" w="med" len="med"/>
                      <a:tailEnd type="none" w="med" len="med"/>
                    </a:lnT>
                    <a:lnB w="9525" cap="flat" cmpd="sng" algn="ctr">
                      <a:solidFill>
                        <a:srgbClr val="E3E2DE"/>
                      </a:solidFill>
                      <a:prstDash val="solid"/>
                      <a:round/>
                      <a:headEnd type="none" w="med" len="med"/>
                      <a:tailEnd type="none" w="med" len="med"/>
                    </a:lnB>
                  </a:tcPr>
                </a:tc>
                <a:tc>
                  <a:txBody>
                    <a:bodyPr/>
                    <a:lstStyle/>
                    <a:p>
                      <a:pPr algn="ctr" indent="0" marL="0">
                        <a:buNone/>
                      </a:pPr>
                      <a:r>
                        <a:rPr lang="en-US" sz="1600" b="1" dirty="0">
                          <a:solidFill>
                            <a:schemeClr val="accent4"/>
                          </a:solidFill>
                          <a:latin typeface="Arial" pitchFamily="34" charset="0"/>
                          <a:ea typeface="Arial" pitchFamily="34" charset="-122"/>
                          <a:cs typeface="Arial" pitchFamily="34" charset="-120"/>
                        </a:rPr>
                        <a:t>S/ 284.90</a:t>
                      </a:r>
                      <a:endParaRPr lang="en-US" sz="1600" dirty="0">
                        <a:latin typeface="Arial" charset="0"/>
                        <a:ea typeface="Arial" charset="0"/>
                        <a:cs typeface="Arial" charset="0"/>
                      </a:endParaRPr>
                    </a:p>
                  </a:txBody>
                  <a:tcPr marL="91440" marR="91440" marT="45720" marB="45720" anchor="ctr">
                    <a:lnL w="9525" cap="flat" cmpd="sng" algn="ctr">
                      <a:solidFill>
                        <a:srgbClr val="E3E2DE"/>
                      </a:solidFill>
                      <a:prstDash val="solid"/>
                      <a:round/>
                      <a:headEnd type="none" w="med" len="med"/>
                      <a:tailEnd type="none" w="med" len="med"/>
                    </a:lnL>
                    <a:lnR w="9525" cap="flat" cmpd="sng" algn="ctr">
                      <a:solidFill>
                        <a:srgbClr val="E3E2DE"/>
                      </a:solidFill>
                      <a:prstDash val="solid"/>
                      <a:round/>
                      <a:headEnd type="none" w="med" len="med"/>
                      <a:tailEnd type="none" w="med" len="med"/>
                    </a:lnR>
                    <a:lnT w="9525" cap="flat" cmpd="sng" algn="ctr">
                      <a:solidFill>
                        <a:srgbClr val="E3E2DE"/>
                      </a:solidFill>
                      <a:prstDash val="solid"/>
                      <a:round/>
                      <a:headEnd type="none" w="med" len="med"/>
                      <a:tailEnd type="none" w="med" len="med"/>
                    </a:lnT>
                    <a:lnB w="9525" cap="flat" cmpd="sng" algn="ctr">
                      <a:solidFill>
                        <a:srgbClr val="E3E2DE"/>
                      </a:solidFill>
                      <a:prstDash val="solid"/>
                      <a:round/>
                      <a:headEnd type="none" w="med" len="med"/>
                      <a:tailEnd type="none" w="med" len="med"/>
                    </a:lnB>
                  </a:tcPr>
                </a:tc>
              </a:tr>
            </a:tbl>
          </a:graphicData>
        </a:graphic>
      </p:graphicFrame>
      <p:sp>
        <p:nvSpPr>
          <p:cNvPr id="4" name="caja-188"/>
          <p:cNvSpPr/>
          <p:nvPr/>
        </p:nvSpPr>
        <p:spPr>
          <a:xfrm>
            <a:off x="548640" y="2880360"/>
            <a:ext cx="4937760" cy="3063240"/>
          </a:xfrm>
          <a:prstGeom prst="rect">
            <a:avLst/>
          </a:prstGeom>
          <a:solidFill>
            <a:schemeClr val="accent3"/>
          </a:solidFill>
          <a:ln/>
        </p:spPr>
      </p:sp>
      <p:sp>
        <p:nvSpPr>
          <p:cNvPr id="5" name="texto-189"/>
          <p:cNvSpPr txBox="1"/>
          <p:nvPr/>
        </p:nvSpPr>
        <p:spPr>
          <a:xfrm>
            <a:off x="868680" y="3154680"/>
            <a:ext cx="4297680" cy="365760"/>
          </a:xfrm>
          <a:prstGeom prst="rect">
            <a:avLst/>
          </a:prstGeom>
          <a:noFill/>
          <a:ln/>
        </p:spPr>
        <p:txBody>
          <a:bodyPr wrap="square" lIns="0" tIns="0" rIns="0" bIns="0" rtlCol="0" anchor="t"/>
          <a:lstStyle/>
          <a:p>
            <a:pPr indent="0" marL="0">
              <a:buNone/>
            </a:pPr>
            <a:r>
              <a:rPr lang="en-US" sz="1600" b="1" dirty="0">
                <a:solidFill>
                  <a:schemeClr val="tx1"/>
                </a:solidFill>
              </a:rPr>
              <a:t>Error promedio en Lince</a:t>
            </a:r>
            <a:endParaRPr lang="en-US" sz="1600" dirty="0"/>
          </a:p>
        </p:txBody>
      </p:sp>
      <p:sp>
        <p:nvSpPr>
          <p:cNvPr id="6" name="texto-190"/>
          <p:cNvSpPr txBox="1"/>
          <p:nvPr/>
        </p:nvSpPr>
        <p:spPr>
          <a:xfrm>
            <a:off x="868680" y="3566160"/>
            <a:ext cx="4297680" cy="1005840"/>
          </a:xfrm>
          <a:prstGeom prst="rect">
            <a:avLst/>
          </a:prstGeom>
          <a:noFill/>
          <a:ln/>
        </p:spPr>
        <p:txBody>
          <a:bodyPr wrap="square" lIns="0" tIns="0" rIns="0" bIns="0" rtlCol="0" anchor="ctr"/>
          <a:lstStyle/>
          <a:p>
            <a:pPr indent="0" marL="0">
              <a:buNone/>
            </a:pPr>
            <a:r>
              <a:rPr lang="en-US" sz="5000" dirty="0">
                <a:solidFill>
                  <a:schemeClr val="tx1"/>
                </a:solidFill>
                <a:latin typeface="Arial Black" pitchFamily="34" charset="0"/>
                <a:ea typeface="Arial Black" pitchFamily="34" charset="-122"/>
                <a:cs typeface="Arial Black" pitchFamily="34" charset="-120"/>
              </a:rPr>
              <a:t>S/ 284.90</a:t>
            </a:r>
            <a:endParaRPr lang="en-US" sz="5000" dirty="0"/>
          </a:p>
        </p:txBody>
      </p:sp>
      <p:sp>
        <p:nvSpPr>
          <p:cNvPr id="7" name="texto-191"/>
          <p:cNvSpPr txBox="1"/>
          <p:nvPr/>
        </p:nvSpPr>
        <p:spPr>
          <a:xfrm>
            <a:off x="868680" y="4709160"/>
            <a:ext cx="4297680" cy="822960"/>
          </a:xfrm>
          <a:prstGeom prst="rect">
            <a:avLst/>
          </a:prstGeom>
          <a:noFill/>
          <a:ln/>
        </p:spPr>
        <p:txBody>
          <a:bodyPr wrap="square" lIns="0" tIns="0" rIns="0" bIns="0" rtlCol="0" anchor="t"/>
          <a:lstStyle/>
          <a:p>
            <a:pPr indent="0" marL="0">
              <a:buNone/>
            </a:pPr>
            <a:r>
              <a:rPr lang="en-US" sz="1500" dirty="0">
                <a:solidFill>
                  <a:schemeClr val="tx1"/>
                </a:solidFill>
              </a:rPr>
              <a:t>La mitad que el error del conjunto de prueba completo (S/ 553).</a:t>
            </a:r>
            <a:endParaRPr lang="en-US" sz="1500" dirty="0"/>
          </a:p>
        </p:txBody>
      </p:sp>
      <p:sp>
        <p:nvSpPr>
          <p:cNvPr id="8" name="texto-192"/>
          <p:cNvSpPr txBox="1"/>
          <p:nvPr/>
        </p:nvSpPr>
        <p:spPr>
          <a:xfrm>
            <a:off x="5852160" y="2880360"/>
            <a:ext cx="5760720" cy="411480"/>
          </a:xfrm>
          <a:prstGeom prst="rect">
            <a:avLst/>
          </a:prstGeom>
          <a:noFill/>
          <a:ln/>
        </p:spPr>
        <p:txBody>
          <a:bodyPr wrap="square" lIns="0" tIns="0" rIns="0" bIns="0" rtlCol="0" anchor="t"/>
          <a:lstStyle/>
          <a:p>
            <a:pPr indent="0" marL="0">
              <a:buNone/>
            </a:pPr>
            <a:r>
              <a:rPr lang="en-US" sz="1800" b="1" dirty="0">
                <a:solidFill>
                  <a:schemeClr val="tx1"/>
                </a:solidFill>
              </a:rPr>
              <a:t>Cómo lo leemos</a:t>
            </a:r>
            <a:endParaRPr lang="en-US" sz="1800" dirty="0"/>
          </a:p>
        </p:txBody>
      </p:sp>
      <p:sp>
        <p:nvSpPr>
          <p:cNvPr id="9" name="texto-193"/>
          <p:cNvSpPr txBox="1"/>
          <p:nvPr/>
        </p:nvSpPr>
        <p:spPr>
          <a:xfrm>
            <a:off x="5852160" y="3383280"/>
            <a:ext cx="5760720" cy="25603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Filtro: anuncios de prueba de Lince; 25 casos, por encima del mínimo de 20.</a:t>
            </a:r>
            <a:endParaRPr lang="en-US" sz="1500" dirty="0"/>
          </a:p>
          <a:p>
            <a:pPr marL="342900" indent="-342900">
              <a:spcAft>
                <a:spcPts val="800"/>
              </a:spcAft>
              <a:buSzPct val="100000"/>
              <a:buChar char="•"/>
            </a:pPr>
            <a:r>
              <a:rPr lang="en-US" sz="1500" dirty="0">
                <a:solidFill>
                  <a:schemeClr val="tx1"/>
                </a:solidFill>
              </a:rPr>
              <a:t>Error de cada anuncio: mediana S/ 200, entre S/ 10 y S/ 895.</a:t>
            </a:r>
            <a:endParaRPr lang="en-US" sz="1500" dirty="0"/>
          </a:p>
          <a:p>
            <a:pPr marL="342900" indent="-342900">
              <a:spcAft>
                <a:spcPts val="800"/>
              </a:spcAft>
              <a:buSzPct val="100000"/>
              <a:buChar char="•"/>
            </a:pPr>
            <a:r>
              <a:rPr lang="en-US" sz="1500" dirty="0">
                <a:solidFill>
                  <a:schemeClr val="tx1"/>
                </a:solidFill>
              </a:rPr>
              <a:t>El cálculo de EJERCICIO_FINAL.py da lo mismo que muestra la app: el filtro y el redondeo son correctos.</a:t>
            </a:r>
            <a:endParaRPr lang="en-US" sz="1500" dirty="0"/>
          </a:p>
          <a:p>
            <a:pPr marL="342900" indent="-342900">
              <a:spcAft>
                <a:spcPts val="800"/>
              </a:spcAft>
              <a:buSzPct val="100000"/>
              <a:buChar char="•"/>
            </a:pPr>
            <a:r>
              <a:rPr lang="en-US" sz="1500" dirty="0">
                <a:solidFill>
                  <a:schemeClr val="tx1"/>
                </a:solidFill>
              </a:rPr>
              <a:t>Es un promedio de septiembre: no garantiza el error de otra vivienda ni de meses posteriores.</a:t>
            </a:r>
            <a:endParaRPr lang="en-US" sz="15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dirty="0">
                <a:solidFill>
                  <a:schemeClr val="tx1"/>
                </a:solidFill>
              </a:rPr>
              <a:t>Limitaciones y desafíos</a:t>
            </a:r>
            <a:endParaRPr lang="en-US" sz="3200" dirty="0"/>
          </a:p>
        </p:txBody>
      </p:sp>
      <p:sp>
        <p:nvSpPr>
          <p:cNvPr id="3" name="caja-194"/>
          <p:cNvSpPr/>
          <p:nvPr/>
        </p:nvSpPr>
        <p:spPr>
          <a:xfrm>
            <a:off x="548640" y="1508760"/>
            <a:ext cx="5394960" cy="4023360"/>
          </a:xfrm>
          <a:prstGeom prst="rect">
            <a:avLst/>
          </a:prstGeom>
          <a:solidFill>
            <a:schemeClr val="accent3"/>
          </a:solidFill>
          <a:ln/>
        </p:spPr>
      </p:sp>
      <p:sp>
        <p:nvSpPr>
          <p:cNvPr id="4" name="texto-195"/>
          <p:cNvSpPr txBox="1"/>
          <p:nvPr/>
        </p:nvSpPr>
        <p:spPr>
          <a:xfrm>
            <a:off x="868680" y="1783080"/>
            <a:ext cx="4754880" cy="411480"/>
          </a:xfrm>
          <a:prstGeom prst="rect">
            <a:avLst/>
          </a:prstGeom>
          <a:noFill/>
          <a:ln/>
        </p:spPr>
        <p:txBody>
          <a:bodyPr wrap="square" lIns="0" tIns="0" rIns="0" bIns="0" rtlCol="0" anchor="t"/>
          <a:lstStyle/>
          <a:p>
            <a:pPr indent="0" marL="0">
              <a:buNone/>
            </a:pPr>
            <a:r>
              <a:rPr lang="en-US" sz="2000" dirty="0">
                <a:solidFill>
                  <a:schemeClr val="tx1"/>
                </a:solidFill>
                <a:latin typeface="Arial Black" pitchFamily="34" charset="0"/>
                <a:ea typeface="Arial Black" pitchFamily="34" charset="-122"/>
                <a:cs typeface="Arial Black" pitchFamily="34" charset="-120"/>
              </a:rPr>
              <a:t>Limitaciones</a:t>
            </a:r>
            <a:endParaRPr lang="en-US" sz="2000" dirty="0"/>
          </a:p>
        </p:txBody>
      </p:sp>
      <p:sp>
        <p:nvSpPr>
          <p:cNvPr id="5" name="texto-196"/>
          <p:cNvSpPr txBox="1"/>
          <p:nvPr/>
        </p:nvSpPr>
        <p:spPr>
          <a:xfrm>
            <a:off x="868680" y="2377440"/>
            <a:ext cx="475488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Precios de oferta, no de cierre.</a:t>
            </a:r>
            <a:endParaRPr lang="en-US" sz="1500" dirty="0"/>
          </a:p>
          <a:p>
            <a:pPr marL="342900" indent="-342900">
              <a:spcAft>
                <a:spcPts val="1000"/>
              </a:spcAft>
              <a:buSzPct val="100000"/>
              <a:buChar char="•"/>
            </a:pPr>
            <a:r>
              <a:rPr lang="en-US" sz="1500" dirty="0">
                <a:solidFill>
                  <a:schemeClr val="tx1"/>
                </a:solidFill>
              </a:rPr>
              <a:t>El rango es global (±S/ 1,357): ancho para los depas baratos.</a:t>
            </a:r>
            <a:endParaRPr lang="en-US" sz="1500" dirty="0"/>
          </a:p>
          <a:p>
            <a:pPr marL="342900" indent="-342900">
              <a:spcAft>
                <a:spcPts val="1000"/>
              </a:spcAft>
              <a:buSzPct val="100000"/>
              <a:buChar char="•"/>
            </a:pPr>
            <a:r>
              <a:rPr lang="en-US" sz="1500" dirty="0">
                <a:solidFill>
                  <a:schemeClr val="tx1"/>
                </a:solidFill>
              </a:rPr>
              <a:t>Distritos con menos de 20 anuncios de prueba: error inestable (la app lo avisa).</a:t>
            </a:r>
            <a:endParaRPr lang="en-US" sz="1500" dirty="0"/>
          </a:p>
          <a:p>
            <a:pPr marL="342900" indent="-342900">
              <a:spcAft>
                <a:spcPts val="1000"/>
              </a:spcAft>
              <a:buSzPct val="100000"/>
              <a:buChar char="•"/>
            </a:pPr>
            <a:r>
              <a:rPr lang="en-US" sz="1500" dirty="0">
                <a:solidFill>
                  <a:schemeClr val="tx1"/>
                </a:solidFill>
              </a:rPr>
              <a:t>Paraderos ATU de 2021; el BCRP no cubre todos los distritos.</a:t>
            </a:r>
            <a:endParaRPr lang="en-US" sz="1500" dirty="0"/>
          </a:p>
          <a:p>
            <a:pPr marL="342900" indent="-342900">
              <a:spcAft>
                <a:spcPts val="1000"/>
              </a:spcAft>
              <a:buSzPct val="100000"/>
              <a:buChar char="•"/>
            </a:pPr>
            <a:r>
              <a:rPr lang="en-US" sz="1500" dirty="0">
                <a:solidFill>
                  <a:schemeClr val="tx1"/>
                </a:solidFill>
              </a:rPr>
              <a:t>Desde el 25-oct los portales bloquean (403) la descarga diaria desde la nube.</a:t>
            </a:r>
            <a:endParaRPr lang="en-US" sz="1500" dirty="0"/>
          </a:p>
        </p:txBody>
      </p:sp>
      <p:sp>
        <p:nvSpPr>
          <p:cNvPr id="6" name="caja-197"/>
          <p:cNvSpPr/>
          <p:nvPr/>
        </p:nvSpPr>
        <p:spPr>
          <a:xfrm>
            <a:off x="6245352" y="1508760"/>
            <a:ext cx="5394960" cy="4023360"/>
          </a:xfrm>
          <a:prstGeom prst="rect">
            <a:avLst/>
          </a:prstGeom>
          <a:solidFill>
            <a:schemeClr val="bg2"/>
          </a:solidFill>
          <a:ln/>
        </p:spPr>
      </p:sp>
      <p:sp>
        <p:nvSpPr>
          <p:cNvPr id="7" name="texto-198"/>
          <p:cNvSpPr txBox="1"/>
          <p:nvPr/>
        </p:nvSpPr>
        <p:spPr>
          <a:xfrm>
            <a:off x="6565392" y="1783080"/>
            <a:ext cx="4754880" cy="411480"/>
          </a:xfrm>
          <a:prstGeom prst="rect">
            <a:avLst/>
          </a:prstGeom>
          <a:noFill/>
          <a:ln/>
        </p:spPr>
        <p:txBody>
          <a:bodyPr wrap="square" lIns="0" tIns="0" rIns="0" bIns="0" rtlCol="0" anchor="t"/>
          <a:lstStyle/>
          <a:p>
            <a:pPr indent="0" marL="0">
              <a:buNone/>
            </a:pPr>
            <a:r>
              <a:rPr lang="en-US" sz="2000" dirty="0">
                <a:solidFill>
                  <a:schemeClr val="tx1"/>
                </a:solidFill>
                <a:latin typeface="Arial Black" pitchFamily="34" charset="0"/>
                <a:ea typeface="Arial Black" pitchFamily="34" charset="-122"/>
                <a:cs typeface="Arial Black" pitchFamily="34" charset="-120"/>
              </a:rPr>
              <a:t>Desafíos resueltos</a:t>
            </a:r>
            <a:endParaRPr lang="en-US" sz="2000" dirty="0"/>
          </a:p>
        </p:txBody>
      </p:sp>
      <p:sp>
        <p:nvSpPr>
          <p:cNvPr id="8" name="texto-199"/>
          <p:cNvSpPr txBox="1"/>
          <p:nvPr/>
        </p:nvSpPr>
        <p:spPr>
          <a:xfrm>
            <a:off x="6565392" y="2377440"/>
            <a:ext cx="475488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Duplicados entre portales: 3,013 grupos, sin un mismo inmueble en entrenamiento y prueba.</a:t>
            </a:r>
            <a:endParaRPr lang="en-US" sz="1500" dirty="0"/>
          </a:p>
          <a:p>
            <a:pPr marL="342900" indent="-342900">
              <a:spcAft>
                <a:spcPts val="1000"/>
              </a:spcAft>
              <a:buSzPct val="100000"/>
              <a:buChar char="•"/>
            </a:pPr>
            <a:r>
              <a:rPr lang="en-US" sz="1500" dirty="0">
                <a:solidFill>
                  <a:schemeClr val="tx1"/>
                </a:solidFill>
              </a:rPr>
              <a:t>Validar octubre sin repetir anuncios de septiembre (se excluyeron 2,464).</a:t>
            </a:r>
            <a:endParaRPr lang="en-US" sz="1500" dirty="0"/>
          </a:p>
          <a:p>
            <a:pPr marL="342900" indent="-342900">
              <a:spcAft>
                <a:spcPts val="1000"/>
              </a:spcAft>
              <a:buSzPct val="100000"/>
              <a:buChar char="•"/>
            </a:pPr>
            <a:r>
              <a:rPr lang="en-US" sz="1500" dirty="0">
                <a:solidFill>
                  <a:schemeClr val="tx1"/>
                </a:solidFill>
              </a:rPr>
              <a:t>Datos persistentes en un plan gratuito: Postgres en Neon.</a:t>
            </a:r>
            <a:endParaRPr lang="en-US" sz="1500" dirty="0"/>
          </a:p>
          <a:p>
            <a:pPr marL="342900" indent="-342900">
              <a:spcAft>
                <a:spcPts val="1000"/>
              </a:spcAft>
              <a:buSzPct val="100000"/>
              <a:buChar char="•"/>
            </a:pPr>
            <a:r>
              <a:rPr lang="en-US" sz="1500" dirty="0">
                <a:solidFill>
                  <a:schemeClr val="tx1"/>
                </a:solidFill>
              </a:rPr>
              <a:t>Modelos reproducibles: versiones fijas y hashes verificados al cargar.</a:t>
            </a:r>
            <a:endParaRPr lang="en-US" sz="15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dirty="0">
                <a:solidFill>
                  <a:schemeClr val="bg1"/>
                </a:solidFill>
              </a:rPr>
              <a:t>Hacia la Semana 12</a:t>
            </a:r>
            <a:endParaRPr lang="en-US" sz="3200" dirty="0"/>
          </a:p>
        </p:txBody>
      </p:sp>
      <p:sp>
        <p:nvSpPr>
          <p:cNvPr id="3" name="caja-200"/>
          <p:cNvSpPr/>
          <p:nvPr/>
        </p:nvSpPr>
        <p:spPr>
          <a:xfrm>
            <a:off x="548640" y="1600200"/>
            <a:ext cx="457200" cy="457200"/>
          </a:xfrm>
          <a:prstGeom prst="rect">
            <a:avLst/>
          </a:prstGeom>
          <a:solidFill>
            <a:schemeClr val="accent1"/>
          </a:solidFill>
          <a:ln/>
        </p:spPr>
      </p:sp>
      <p:sp>
        <p:nvSpPr>
          <p:cNvPr id="4" name="texto-201"/>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1</a:t>
            </a:r>
            <a:endParaRPr lang="en-US" sz="1400" dirty="0"/>
          </a:p>
        </p:txBody>
      </p:sp>
      <p:sp>
        <p:nvSpPr>
          <p:cNvPr id="5" name="texto-202"/>
          <p:cNvSpPr txBox="1"/>
          <p:nvPr/>
        </p:nvSpPr>
        <p:spPr>
          <a:xfrm>
            <a:off x="1234440" y="1600200"/>
            <a:ext cx="4754880" cy="457200"/>
          </a:xfrm>
          <a:prstGeom prst="rect">
            <a:avLst/>
          </a:prstGeom>
          <a:noFill/>
          <a:ln/>
        </p:spPr>
        <p:txBody>
          <a:bodyPr wrap="square" lIns="0" tIns="0" rIns="0" bIns="0" rtlCol="0" anchor="ctr"/>
          <a:lstStyle/>
          <a:p>
            <a:pPr indent="0" marL="0">
              <a:buNone/>
            </a:pPr>
            <a:r>
              <a:rPr lang="en-US" sz="1700" dirty="0">
                <a:solidFill>
                  <a:schemeClr val="bg1"/>
                </a:solidFill>
              </a:rPr>
              <a:t>Informe de evaluación con líneas base y error por distrito</a:t>
            </a:r>
            <a:endParaRPr lang="en-US" sz="1700" dirty="0"/>
          </a:p>
        </p:txBody>
      </p:sp>
      <p:sp>
        <p:nvSpPr>
          <p:cNvPr id="6" name="caja-203"/>
          <p:cNvSpPr/>
          <p:nvPr/>
        </p:nvSpPr>
        <p:spPr>
          <a:xfrm>
            <a:off x="6172200" y="1600200"/>
            <a:ext cx="457200" cy="457200"/>
          </a:xfrm>
          <a:prstGeom prst="rect">
            <a:avLst/>
          </a:prstGeom>
          <a:solidFill>
            <a:schemeClr val="accent1"/>
          </a:solidFill>
          <a:ln/>
        </p:spPr>
      </p:sp>
      <p:sp>
        <p:nvSpPr>
          <p:cNvPr id="7" name="texto-204"/>
          <p:cNvSpPr txBox="1"/>
          <p:nvPr/>
        </p:nvSpPr>
        <p:spPr>
          <a:xfrm>
            <a:off x="6172200" y="1600200"/>
            <a:ext cx="457200" cy="457200"/>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2</a:t>
            </a:r>
            <a:endParaRPr lang="en-US" sz="1400" dirty="0"/>
          </a:p>
        </p:txBody>
      </p:sp>
      <p:sp>
        <p:nvSpPr>
          <p:cNvPr id="8" name="texto-205"/>
          <p:cNvSpPr txBox="1"/>
          <p:nvPr/>
        </p:nvSpPr>
        <p:spPr>
          <a:xfrm>
            <a:off x="6858000" y="1600200"/>
            <a:ext cx="4754880" cy="457200"/>
          </a:xfrm>
          <a:prstGeom prst="rect">
            <a:avLst/>
          </a:prstGeom>
          <a:noFill/>
          <a:ln/>
        </p:spPr>
        <p:txBody>
          <a:bodyPr wrap="square" lIns="0" tIns="0" rIns="0" bIns="0" rtlCol="0" anchor="ctr"/>
          <a:lstStyle/>
          <a:p>
            <a:pPr indent="0" marL="0">
              <a:buNone/>
            </a:pPr>
            <a:r>
              <a:rPr lang="en-US" sz="1700" dirty="0">
                <a:solidFill>
                  <a:schemeClr val="bg1"/>
                </a:solidFill>
              </a:rPr>
              <a:t>Casos de estudio: un propietario y un inquilino</a:t>
            </a:r>
            <a:endParaRPr lang="en-US" sz="1700" dirty="0"/>
          </a:p>
        </p:txBody>
      </p:sp>
      <p:sp>
        <p:nvSpPr>
          <p:cNvPr id="9" name="caja-206"/>
          <p:cNvSpPr/>
          <p:nvPr/>
        </p:nvSpPr>
        <p:spPr>
          <a:xfrm>
            <a:off x="548640" y="2697480"/>
            <a:ext cx="457200" cy="457200"/>
          </a:xfrm>
          <a:prstGeom prst="rect">
            <a:avLst/>
          </a:prstGeom>
          <a:solidFill>
            <a:schemeClr val="accent1"/>
          </a:solidFill>
          <a:ln/>
        </p:spPr>
      </p:sp>
      <p:sp>
        <p:nvSpPr>
          <p:cNvPr id="10" name="texto-207"/>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3</a:t>
            </a:r>
            <a:endParaRPr lang="en-US" sz="1400" dirty="0"/>
          </a:p>
        </p:txBody>
      </p:sp>
      <p:sp>
        <p:nvSpPr>
          <p:cNvPr id="11" name="texto-208"/>
          <p:cNvSpPr txBox="1"/>
          <p:nvPr/>
        </p:nvSpPr>
        <p:spPr>
          <a:xfrm>
            <a:off x="1234440" y="2697480"/>
            <a:ext cx="4754880" cy="457200"/>
          </a:xfrm>
          <a:prstGeom prst="rect">
            <a:avLst/>
          </a:prstGeom>
          <a:noFill/>
          <a:ln/>
        </p:spPr>
        <p:txBody>
          <a:bodyPr wrap="square" lIns="0" tIns="0" rIns="0" bIns="0" rtlCol="0" anchor="ctr"/>
          <a:lstStyle/>
          <a:p>
            <a:pPr indent="0" marL="0">
              <a:buNone/>
            </a:pPr>
            <a:r>
              <a:rPr lang="en-US" sz="1700" dirty="0">
                <a:solidFill>
                  <a:schemeClr val="bg1"/>
                </a:solidFill>
              </a:rPr>
              <a:t>Rango que dependa del precio del depa</a:t>
            </a:r>
            <a:endParaRPr lang="en-US" sz="1700" dirty="0"/>
          </a:p>
        </p:txBody>
      </p:sp>
      <p:sp>
        <p:nvSpPr>
          <p:cNvPr id="12" name="caja-209"/>
          <p:cNvSpPr/>
          <p:nvPr/>
        </p:nvSpPr>
        <p:spPr>
          <a:xfrm>
            <a:off x="6172200" y="2697480"/>
            <a:ext cx="457200" cy="457200"/>
          </a:xfrm>
          <a:prstGeom prst="rect">
            <a:avLst/>
          </a:prstGeom>
          <a:solidFill>
            <a:schemeClr val="accent1"/>
          </a:solidFill>
          <a:ln/>
        </p:spPr>
      </p:sp>
      <p:sp>
        <p:nvSpPr>
          <p:cNvPr id="13" name="texto-210"/>
          <p:cNvSpPr txBox="1"/>
          <p:nvPr/>
        </p:nvSpPr>
        <p:spPr>
          <a:xfrm>
            <a:off x="6172200" y="2697480"/>
            <a:ext cx="457200" cy="457200"/>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4</a:t>
            </a:r>
            <a:endParaRPr lang="en-US" sz="1400" dirty="0"/>
          </a:p>
        </p:txBody>
      </p:sp>
      <p:sp>
        <p:nvSpPr>
          <p:cNvPr id="14" name="texto-211"/>
          <p:cNvSpPr txBox="1"/>
          <p:nvPr/>
        </p:nvSpPr>
        <p:spPr>
          <a:xfrm>
            <a:off x="6858000" y="2697480"/>
            <a:ext cx="4754880" cy="457200"/>
          </a:xfrm>
          <a:prstGeom prst="rect">
            <a:avLst/>
          </a:prstGeom>
          <a:noFill/>
          <a:ln/>
        </p:spPr>
        <p:txBody>
          <a:bodyPr wrap="square" lIns="0" tIns="0" rIns="0" bIns="0" rtlCol="0" anchor="ctr"/>
          <a:lstStyle/>
          <a:p>
            <a:pPr indent="0" marL="0">
              <a:buNone/>
            </a:pPr>
            <a:r>
              <a:rPr lang="en-US" sz="1700" dirty="0">
                <a:solidFill>
                  <a:schemeClr val="bg1"/>
                </a:solidFill>
              </a:rPr>
              <a:t>Mercado al día con la tarea programada local</a:t>
            </a:r>
            <a:endParaRPr lang="en-US" sz="1700" dirty="0"/>
          </a:p>
        </p:txBody>
      </p:sp>
      <p:sp>
        <p:nvSpPr>
          <p:cNvPr id="15" name="caja-212"/>
          <p:cNvSpPr/>
          <p:nvPr/>
        </p:nvSpPr>
        <p:spPr>
          <a:xfrm>
            <a:off x="548640" y="3794760"/>
            <a:ext cx="457200" cy="457200"/>
          </a:xfrm>
          <a:prstGeom prst="rect">
            <a:avLst/>
          </a:prstGeom>
          <a:solidFill>
            <a:schemeClr val="accent1"/>
          </a:solidFill>
          <a:ln/>
        </p:spPr>
      </p:sp>
      <p:sp>
        <p:nvSpPr>
          <p:cNvPr id="16" name="texto-213"/>
          <p:cNvSpPr txBox="1"/>
          <p:nvPr/>
        </p:nvSpPr>
        <p:spPr>
          <a:xfrm>
            <a:off x="548640" y="3794760"/>
            <a:ext cx="457200" cy="457200"/>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5</a:t>
            </a:r>
            <a:endParaRPr lang="en-US" sz="1400" dirty="0"/>
          </a:p>
        </p:txBody>
      </p:sp>
      <p:sp>
        <p:nvSpPr>
          <p:cNvPr id="17" name="texto-214"/>
          <p:cNvSpPr txBox="1"/>
          <p:nvPr/>
        </p:nvSpPr>
        <p:spPr>
          <a:xfrm>
            <a:off x="1234440" y="3794760"/>
            <a:ext cx="4754880" cy="457200"/>
          </a:xfrm>
          <a:prstGeom prst="rect">
            <a:avLst/>
          </a:prstGeom>
          <a:noFill/>
          <a:ln/>
        </p:spPr>
        <p:txBody>
          <a:bodyPr wrap="square" lIns="0" tIns="0" rIns="0" bIns="0" rtlCol="0" anchor="ctr"/>
          <a:lstStyle/>
          <a:p>
            <a:pPr indent="0" marL="0">
              <a:buNone/>
            </a:pPr>
            <a:r>
              <a:rPr lang="en-US" sz="1700" dirty="0">
                <a:solidFill>
                  <a:schemeClr val="bg1"/>
                </a:solidFill>
              </a:rPr>
              <a:t>Pruebas de uso con 3 a 5 personas</a:t>
            </a:r>
            <a:endParaRPr lang="en-US" sz="1700" dirty="0"/>
          </a:p>
        </p:txBody>
      </p:sp>
      <p:sp>
        <p:nvSpPr>
          <p:cNvPr id="18" name="caja-215"/>
          <p:cNvSpPr/>
          <p:nvPr/>
        </p:nvSpPr>
        <p:spPr>
          <a:xfrm>
            <a:off x="6172200" y="3794760"/>
            <a:ext cx="457200" cy="457200"/>
          </a:xfrm>
          <a:prstGeom prst="rect">
            <a:avLst/>
          </a:prstGeom>
          <a:solidFill>
            <a:schemeClr val="accent1"/>
          </a:solidFill>
          <a:ln/>
        </p:spPr>
      </p:sp>
      <p:sp>
        <p:nvSpPr>
          <p:cNvPr id="19" name="texto-216"/>
          <p:cNvSpPr txBox="1"/>
          <p:nvPr/>
        </p:nvSpPr>
        <p:spPr>
          <a:xfrm>
            <a:off x="6172200" y="3794760"/>
            <a:ext cx="457200" cy="457200"/>
          </a:xfrm>
          <a:prstGeom prst="rect">
            <a:avLst/>
          </a:prstGeom>
          <a:noFill/>
          <a:ln/>
        </p:spPr>
        <p:txBody>
          <a:bodyPr wrap="square" lIns="0" tIns="0" rIns="0" bIns="0" rtlCol="0" anchor="ctr"/>
          <a:lstStyle/>
          <a:p>
            <a:pPr algn="ctr" indent="0" marL="0">
              <a:buNone/>
            </a:pPr>
            <a:r>
              <a:rPr lang="en-US" sz="1400" dirty="0">
                <a:solidFill>
                  <a:schemeClr val="tx1"/>
                </a:solidFill>
                <a:latin typeface="Arial Black" pitchFamily="34" charset="0"/>
                <a:ea typeface="Arial Black" pitchFamily="34" charset="-122"/>
                <a:cs typeface="Arial Black" pitchFamily="34" charset="-120"/>
              </a:rPr>
              <a:t>6</a:t>
            </a:r>
            <a:endParaRPr lang="en-US" sz="1400" dirty="0"/>
          </a:p>
        </p:txBody>
      </p:sp>
      <p:sp>
        <p:nvSpPr>
          <p:cNvPr id="20" name="texto-217"/>
          <p:cNvSpPr txBox="1"/>
          <p:nvPr/>
        </p:nvSpPr>
        <p:spPr>
          <a:xfrm>
            <a:off x="6858000" y="3794760"/>
            <a:ext cx="4754880" cy="457200"/>
          </a:xfrm>
          <a:prstGeom prst="rect">
            <a:avLst/>
          </a:prstGeom>
          <a:noFill/>
          <a:ln/>
        </p:spPr>
        <p:txBody>
          <a:bodyPr wrap="square" lIns="0" tIns="0" rIns="0" bIns="0" rtlCol="0" anchor="ctr"/>
          <a:lstStyle/>
          <a:p>
            <a:pPr indent="0" marL="0">
              <a:buNone/>
            </a:pPr>
            <a:r>
              <a:rPr lang="en-US" sz="1700" dirty="0">
                <a:solidFill>
                  <a:schemeClr val="bg1"/>
                </a:solidFill>
              </a:rPr>
              <a:t>Plan de tareas para las tres últimas semanas</a:t>
            </a:r>
            <a:endParaRPr lang="en-US" sz="1700" dirty="0"/>
          </a:p>
        </p:txBody>
      </p:sp>
      <p:sp>
        <p:nvSpPr>
          <p:cNvPr id="21" name="texto-218"/>
          <p:cNvSpPr txBox="1"/>
          <p:nvPr/>
        </p:nvSpPr>
        <p:spPr>
          <a:xfrm>
            <a:off x="548640" y="5120640"/>
            <a:ext cx="11094415" cy="640080"/>
          </a:xfrm>
          <a:prstGeom prst="rect">
            <a:avLst/>
          </a:prstGeom>
          <a:noFill/>
          <a:ln/>
        </p:spPr>
        <p:txBody>
          <a:bodyPr wrap="square" lIns="0" tIns="0" rIns="0" bIns="0" rtlCol="0" anchor="ctr"/>
          <a:lstStyle/>
          <a:p>
            <a:pPr indent="0" marL="0">
              <a:buNone/>
            </a:pPr>
            <a:r>
              <a:rPr lang="en-US" sz="2800" dirty="0">
                <a:solidFill>
                  <a:schemeClr val="bg1"/>
                </a:solidFill>
                <a:latin typeface="Arial Black" pitchFamily="34" charset="0"/>
                <a:ea typeface="Arial Black" pitchFamily="34" charset="-122"/>
                <a:cs typeface="Arial Black" pitchFamily="34" charset="-120"/>
              </a:rPr>
              <a:t>Pruébalo: </a:t>
            </a:r>
            <a:pPr indent="0" marL="0">
              <a:buNone/>
            </a:pPr>
            <a:r>
              <a:rPr lang="en-US" sz="2800" u="sng" dirty="0">
                <a:solidFill>
                  <a:schemeClr val="accent1"/>
                </a:solidFill>
                <a:latin typeface="Arial Black" pitchFamily="34" charset="0"/>
                <a:ea typeface="Arial Black" pitchFamily="34" charset="-122"/>
                <a:cs typeface="Arial Black" pitchFamily="34" charset="-120"/>
                <a:hlinkClick r:id="rId1" invalidUrl="" action="" tgtFrame="" tooltip="" history="1" highlightClick="0" endSnd="0">
                  <a:extLst>
                    <a:ext uri="{A12FA001-AC4F-418D-AE19-62706E023703}">
                      <ahyp:hlinkClr xmlns:ahyp="http://schemas.microsoft.com/office/drawing/2018/hyperlinkcolor" val="tx"/>
                    </a:ext>
                  </a:extLst>
                </a:hlinkClick>
              </a:rPr>
              <a:t>deparent.onrender.com</a:t>
            </a:r>
            <a:endParaRPr lang="en-US" sz="28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DepaRent Cartel">
  <a:themeElements>
    <a:clrScheme name="DepaRent Cartel">
      <a:dk1>
        <a:srgbClr val="050F16"/>
      </a:dk1>
      <a:lt1>
        <a:srgbClr val="FFFFFF"/>
      </a:lt1>
      <a:dk2>
        <a:srgbClr val="5A2306"/>
      </a:dk2>
      <a:lt2>
        <a:srgbClr val="F2F2F0"/>
      </a:lt2>
      <a:accent1>
        <a:srgbClr val="FF7A1F"/>
      </a:accent1>
      <a:accent2>
        <a:srgbClr val="5A2306"/>
      </a:accent2>
      <a:accent3>
        <a:srgbClr val="FFC59A"/>
      </a:accent3>
      <a:accent4>
        <a:srgbClr val="C2510A"/>
      </a:accent4>
      <a:accent5>
        <a:srgbClr val="5D5F63"/>
      </a:accent5>
      <a:accent6>
        <a:srgbClr val="E3E2DE"/>
      </a:accent6>
      <a:hlink>
        <a:srgbClr val="C2510A"/>
      </a:hlink>
      <a:folHlink>
        <a:srgbClr val="5A2306"/>
      </a:folHlink>
    </a:clrScheme>
    <a:fontScheme name="DepaRent Cartel">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DepaRent · Prototipo funcional · Semana 10</dc:title>
  <dc:subject>DS3022 Desarrollo de Producto de Datos · UTEC 2026-2</dc:subject>
  <dc:creator>Equipo DepaRent</dc:creator>
  <cp:lastModifiedBy>Equipo DepaRent</cp:lastModifiedBy>
  <cp:revision>1</cp:revision>
  <dcterms:created xsi:type="dcterms:W3CDTF">2026-10-25T18:04:09Z</dcterms:created>
  <dcterms:modified xsi:type="dcterms:W3CDTF">2026-10-25T18:04:09Z</dcterms:modified>
</cp:coreProperties>
</file>