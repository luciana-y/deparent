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F5CD0C75-1F47-7196-5936-E040E8B10D92}">
          <p14:sldIdLst>
            <p14:sldId id="256"/>
          </p14:sldIdLst>
        </p14:section>
        <p14:section name="Problema y producto" id="{DA380113-89A8-FE0A-BDDF-878F47CE72EC}">
          <p14:sldIdLst>
            <p14:sldId id="257"/>
            <p14:sldId id="258"/>
          </p14:sldIdLst>
        </p14:section>
        <p14:section name="Datos y arquitectura" id="{C2C771DF-3E86-FF30-786B-1ED66F46B9AE}">
          <p14:sldIdLst>
            <p14:sldId id="259"/>
            <p14:sldId id="260"/>
          </p14:sldIdLst>
        </p14:section>
        <p14:section name="Componentes y demo" id="{605906B0-4203-0707-B341-BC4AF8959B07}">
          <p14:sldIdLst>
            <p14:sldId id="261"/>
            <p14:sldId id="262"/>
            <p14:sldId id="263"/>
          </p14:sldIdLst>
        </p14:section>
        <p14:section name="Resultados" id="{BE3AAA20-9146-9959-642E-DB24B66652A1}">
          <p14:sldIdLst>
            <p14:sldId id="264"/>
            <p14:sldId id="265"/>
          </p14:sldIdLst>
        </p14:section>
        <p14:section name="Cierre" id="{2D7A2AFB-A156-2BA3-82DD-36A0B2CB567F}">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 Urbina" userId="40c2b7f722f83dfd" providerId="LiveId" clId="{83111F7C-D39F-4B6A-B510-E020300DEA3E}"/>
    <pc:docChg chg="modSld">
      <pc:chgData name="Adrian Urbina" userId="40c2b7f722f83dfd" providerId="LiveId" clId="{83111F7C-D39F-4B6A-B510-E020300DEA3E}" dt="2026-10-25T18:16:14.034" v="5" actId="20577"/>
      <pc:docMkLst>
        <pc:docMk/>
      </pc:docMkLst>
      <pc:sldChg chg="modSp mod">
        <pc:chgData name="Adrian Urbina" userId="40c2b7f722f83dfd" providerId="LiveId" clId="{83111F7C-D39F-4B6A-B510-E020300DEA3E}" dt="2026-10-25T18:16:03.824" v="3" actId="20577"/>
        <pc:sldMkLst>
          <pc:docMk/>
          <pc:sldMk cId="0" sldId="256"/>
        </pc:sldMkLst>
        <pc:spChg chg="mod">
          <ac:chgData name="Adrian Urbina" userId="40c2b7f722f83dfd" providerId="LiveId" clId="{83111F7C-D39F-4B6A-B510-E020300DEA3E}" dt="2026-10-25T18:16:00.471" v="0" actId="20577"/>
          <ac:spMkLst>
            <pc:docMk/>
            <pc:sldMk cId="0" sldId="256"/>
            <ac:spMk id="8" creationId="{00000000-0000-0000-0000-000000000000}"/>
          </ac:spMkLst>
        </pc:spChg>
        <pc:spChg chg="mod">
          <ac:chgData name="Adrian Urbina" userId="40c2b7f722f83dfd" providerId="LiveId" clId="{83111F7C-D39F-4B6A-B510-E020300DEA3E}" dt="2026-10-25T18:16:01.443" v="1" actId="20577"/>
          <ac:spMkLst>
            <pc:docMk/>
            <pc:sldMk cId="0" sldId="256"/>
            <ac:spMk id="9" creationId="{00000000-0000-0000-0000-000000000000}"/>
          </ac:spMkLst>
        </pc:spChg>
        <pc:spChg chg="mod">
          <ac:chgData name="Adrian Urbina" userId="40c2b7f722f83dfd" providerId="LiveId" clId="{83111F7C-D39F-4B6A-B510-E020300DEA3E}" dt="2026-10-25T18:16:03.824" v="3" actId="20577"/>
          <ac:spMkLst>
            <pc:docMk/>
            <pc:sldMk cId="0" sldId="256"/>
            <ac:spMk id="10" creationId="{00000000-0000-0000-0000-000000000000}"/>
          </ac:spMkLst>
        </pc:spChg>
        <pc:spChg chg="mod">
          <ac:chgData name="Adrian Urbina" userId="40c2b7f722f83dfd" providerId="LiveId" clId="{83111F7C-D39F-4B6A-B510-E020300DEA3E}" dt="2026-10-25T18:16:02.237" v="2" actId="20577"/>
          <ac:spMkLst>
            <pc:docMk/>
            <pc:sldMk cId="0" sldId="256"/>
            <ac:spMk id="11" creationId="{00000000-0000-0000-0000-000000000000}"/>
          </ac:spMkLst>
        </pc:spChg>
      </pc:sldChg>
      <pc:sldChg chg="modSp mod">
        <pc:chgData name="Adrian Urbina" userId="40c2b7f722f83dfd" providerId="LiveId" clId="{83111F7C-D39F-4B6A-B510-E020300DEA3E}" dt="2026-10-25T18:16:14.034" v="5" actId="20577"/>
        <pc:sldMkLst>
          <pc:docMk/>
          <pc:sldMk cId="0" sldId="267"/>
        </pc:sldMkLst>
        <pc:spChg chg="mod">
          <ac:chgData name="Adrian Urbina" userId="40c2b7f722f83dfd" providerId="LiveId" clId="{83111F7C-D39F-4B6A-B510-E020300DEA3E}" dt="2026-10-25T18:16:14.034" v="5" actId="20577"/>
          <ac:spMkLst>
            <pc:docMk/>
            <pc:sldMk cId="0" sldId="267"/>
            <ac:spMk id="2"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050F16"/>
                </a:solidFill>
                <a:latin typeface="+mn-lt"/>
              </a:defRPr>
            </a:pPr>
            <a:r>
              <a:rPr sz="1400" b="0" i="0" u="none" strike="noStrike">
                <a:solidFill>
                  <a:srgbClr val="050F16"/>
                </a:solidFill>
                <a:latin typeface="+mn-lt"/>
              </a:rPr>
              <a:t>Error medio absoluto por anuncio (S/ al mes)</a:t>
            </a:r>
          </a:p>
        </c:rich>
      </c:tx>
      <c:overlay val="0"/>
    </c:title>
    <c:autoTitleDeleted val="0"/>
    <c:plotArea>
      <c:layout/>
      <c:barChart>
        <c:barDir val="col"/>
        <c:grouping val="clustered"/>
        <c:varyColors val="0"/>
        <c:ser>
          <c:idx val="0"/>
          <c:order val="0"/>
          <c:tx>
            <c:strRef>
              <c:f>Sheet1!$B$1</c:f>
              <c:strCache>
                <c:ptCount val="1"/>
                <c:pt idx="0">
                  <c:v>MAE (S/)</c:v>
                </c:pt>
              </c:strCache>
            </c:strRef>
          </c:tx>
          <c:spPr>
            <a:solidFill>
              <a:srgbClr val="BDBBB5"/>
            </a:solidFill>
            <a:effectLst/>
          </c:spPr>
          <c:invertIfNegative val="0"/>
          <c:dPt>
            <c:idx val="0"/>
            <c:invertIfNegative val="0"/>
            <c:bubble3D val="0"/>
            <c:extLst>
              <c:ext xmlns:c16="http://schemas.microsoft.com/office/drawing/2014/chart" uri="{C3380CC4-5D6E-409C-BE32-E72D297353CC}">
                <c16:uniqueId val="{00000001-DA65-46C9-A9DE-46A4F3DF7315}"/>
              </c:ext>
            </c:extLst>
          </c:dPt>
          <c:dPt>
            <c:idx val="1"/>
            <c:invertIfNegative val="0"/>
            <c:bubble3D val="0"/>
            <c:extLst>
              <c:ext xmlns:c16="http://schemas.microsoft.com/office/drawing/2014/chart" uri="{C3380CC4-5D6E-409C-BE32-E72D297353CC}">
                <c16:uniqueId val="{00000003-DA65-46C9-A9DE-46A4F3DF7315}"/>
              </c:ext>
            </c:extLst>
          </c:dPt>
          <c:dPt>
            <c:idx val="2"/>
            <c:invertIfNegative val="0"/>
            <c:bubble3D val="0"/>
            <c:spPr>
              <a:solidFill>
                <a:srgbClr val="FF7A1F"/>
              </a:solidFill>
              <a:effectLst/>
            </c:spPr>
            <c:extLst>
              <c:ext xmlns:c16="http://schemas.microsoft.com/office/drawing/2014/chart" uri="{C3380CC4-5D6E-409C-BE32-E72D297353CC}">
                <c16:uniqueId val="{00000005-DA65-46C9-A9DE-46A4F3DF7315}"/>
              </c:ext>
            </c:extLst>
          </c:dPt>
          <c:dPt>
            <c:idx val="3"/>
            <c:invertIfNegative val="0"/>
            <c:bubble3D val="0"/>
            <c:spPr>
              <a:solidFill>
                <a:srgbClr val="C2510A"/>
              </a:solidFill>
              <a:effectLst/>
            </c:spPr>
            <c:extLst>
              <c:ext xmlns:c16="http://schemas.microsoft.com/office/drawing/2014/chart" uri="{C3380CC4-5D6E-409C-BE32-E72D297353CC}">
                <c16:uniqueId val="{00000007-DA65-46C9-A9DE-46A4F3DF7315}"/>
              </c:ext>
            </c:extLst>
          </c:dPt>
          <c:dLbls>
            <c:numFmt formatCode="&quot;S/ &quot;#,##0" sourceLinked="0"/>
            <c:spPr>
              <a:noFill/>
              <a:ln>
                <a:noFill/>
              </a:ln>
              <a:effectLst/>
            </c:spPr>
            <c:txPr>
              <a:bodyPr/>
              <a:lstStyle/>
              <a:p>
                <a:pPr>
                  <a:defRPr sz="1400" b="1" i="0" u="none" strike="noStrike">
                    <a:solidFill>
                      <a:srgbClr val="050F16"/>
                    </a:solidFill>
                    <a:latin typeface="+mn-lt"/>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Mediana global</c:v>
                </c:pt>
                <c:pt idx="1">
                  <c:v>Mediana del distrito</c:v>
                </c:pt>
                <c:pt idx="2">
                  <c:v>DepaRent · septiembre</c:v>
                </c:pt>
                <c:pt idx="3">
                  <c:v>DepaRent · octubre</c:v>
                </c:pt>
              </c:strCache>
            </c:strRef>
          </c:cat>
          <c:val>
            <c:numRef>
              <c:f>Sheet1!$B$2:$B$5</c:f>
              <c:numCache>
                <c:formatCode>General</c:formatCode>
                <c:ptCount val="4"/>
                <c:pt idx="0">
                  <c:v>1216</c:v>
                </c:pt>
                <c:pt idx="1">
                  <c:v>993</c:v>
                </c:pt>
                <c:pt idx="2">
                  <c:v>553</c:v>
                </c:pt>
                <c:pt idx="3">
                  <c:v>512</c:v>
                </c:pt>
              </c:numCache>
            </c:numRef>
          </c:val>
          <c:extLst>
            <c:ext xmlns:c16="http://schemas.microsoft.com/office/drawing/2014/chart" uri="{C3380CC4-5D6E-409C-BE32-E72D297353CC}">
              <c16:uniqueId val="{00000008-DA65-46C9-A9DE-46A4F3DF731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50F16"/>
                </a:solidFill>
                <a:latin typeface="+mn-lt"/>
              </a:defRPr>
            </a:pPr>
            <a:endParaRPr lang="es-PE"/>
          </a:p>
        </c:txPr>
        <c:crossAx val="2094734552"/>
        <c:crosses val="autoZero"/>
        <c:auto val="1"/>
        <c:lblAlgn val="ctr"/>
        <c:lblOffset val="100"/>
        <c:noMultiLvlLbl val="1"/>
      </c:catAx>
      <c:valAx>
        <c:axId val="2094734552"/>
        <c:scaling>
          <c:orientation val="minMax"/>
          <c:max val="14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4630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[BREYSI · diapos 1 a 3 · unos 5 min en total · esta diapo: 1 min]</a:t>
            </a:r>
          </a:p>
          <a:p>
            <a:r>
              <a:rPr lang="es-PE" dirty="0"/>
              <a:t>Buenos días. Somos Breysi, Luciana, Adrián y Armando, y les presentamos DepaRent, nuestro producto de datos para el curso DS3022 de Desarrollo de Producto de Datos.</a:t>
            </a:r>
          </a:p>
          <a:p>
            <a:r>
              <a:rPr lang="es-PE" dirty="0"/>
              <a:t>DepaRent responde una pregunta muy concreta que se hace cualquiera que tiene un departamento en Lima: ¿a cuánto lo alquilo? El cartel de "Se alquila" que ven en la portada representa justamente eso: en la página de inicio de la app el cartel se llena con el precio que estima nuestro modelo.</a:t>
            </a:r>
          </a:p>
          <a:p>
            <a:r>
              <a:rPr lang="es-PE" dirty="0"/>
              <a:t>Hoy les mostramos el prototipo funcional de la Semana 10. No es una maqueta: todo lo que vamos a enseñar está publicado y se puede usar ahora en deparent.onrender.com.</a:t>
            </a:r>
          </a:p>
          <a:p>
            <a:r>
              <a:rPr lang="es-PE" dirty="0"/>
              <a:t>Les cuento primero el problema y cómo lo resolvemos; luego Luciana explica los datos y cómo está construido; Adrián hace la demo y muestra los resultados; y Armando cierra con el ejercicio del profesor, las limitaciones y lo que sigue.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[BREYSI · 2 min]</a:t>
            </a:r>
          </a:p>
          <a:p>
            <a:r>
              <a:rPr lang="es-PE" dirty="0"/>
              <a:t>Este problema tiene dos lados.</a:t>
            </a:r>
          </a:p>
          <a:p>
            <a:r>
              <a:rPr lang="es-PE" dirty="0"/>
              <a:t>Primero, el propietario. Si pide de más, el departamento se queda vacío semanas o meses, y cada mes vacío es un mes sin renta. Si pide de menos, lo alquila rápido, pero pierde dinero todos los meses que dure el contrato. Necesita un número razonable y saber cuánto se puede mover.</a:t>
            </a:r>
          </a:p>
          <a:p>
            <a:r>
              <a:rPr lang="es-PE" dirty="0"/>
              <a:t>Segundo, el inquilino. Ve un anuncio que pide, por ejemplo, 2,000 soles y no tiene cómo saber si es justo frente a departamentos parecidos de la misma zona.</a:t>
            </a:r>
          </a:p>
          <a:p>
            <a:r>
              <a:rPr lang="es-PE" dirty="0"/>
              <a:t>¿Qué hace hoy la gente? Mira cuánto piden en promedio en el distrito, o la mediana. Nosotros medimos qué tan bien funciona esa regla: fijar el precio con la mediana del distrito se equivoca en promedio 993 soles al mes por departamento. Es casi mil soles de error, en un mercado donde muchos depas cuestan entre 1,500 y 4,000.</a:t>
            </a:r>
          </a:p>
          <a:p>
            <a:r>
              <a:rPr lang="es-PE" dirty="0"/>
              <a:t>DepaRent baja ese error a 553 soles, casi la mitad, porque no solo mira el distrito: mira el área, los dormitorios, los baños, las amenidades, la ubicación exacta y la cercanía al transporte.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[BREYSI · 2 min]</a:t>
            </a:r>
          </a:p>
          <a:p>
            <a:r>
              <a:rPr lang="es-PE" dirty="0"/>
              <a:t>El producto tiene dos recorridos, uno para cada usuario, pero los dos usan el mismo análisis por detrás.</a:t>
            </a:r>
          </a:p>
          <a:p>
            <a:r>
              <a:rPr lang="es-PE" dirty="0"/>
              <a:t>El propietario, arriba: primero describe su departamento, con área, dormitorios, amenidades y la ubicación, que marca con un clic en el mapa. Después recibe el análisis: el precio esperado, un rango de cuánto puede variar, los departamentos con los que compite y la tendencia del distrito. Luego elige uno de tres precios de publicación y publica. Y al final le llegan a su cuenta los mensajes de los interesados.</a:t>
            </a:r>
          </a:p>
          <a:p>
            <a:r>
              <a:rPr lang="es-PE" dirty="0"/>
              <a:t>El inquilino, abajo: filtra el mercado por distrito, presupuesto, tamaño y cercanía a paraderos. Para cada anuncio ve si el precio está por debajo, en línea o por encima de lo que estima el modelo. Abre la ficha, donde ve anuncios parecidos y el transporte cercano. Y si le interesa, escribe al dueño, o va al anuncio original del portal.</a:t>
            </a:r>
          </a:p>
          <a:p>
            <a:r>
              <a:rPr lang="es-PE" dirty="0"/>
              <a:t>Lo importante es que el mismo modelo sirve a los dos lados: al propietario para fijar el precio y al inquilino para juzgarlo.</a:t>
            </a:r>
          </a:p>
          <a:p>
            <a:r>
              <a:rPr lang="es-PE" dirty="0"/>
              <a:t>Ahora Luciana les cuenta con qué datos trabajamos.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[LUCIANA · diapos 4 a 6 · unos 5 min en total · esta diapo: 1 min 30 s]</a:t>
            </a:r>
          </a:p>
          <a:p>
            <a:r>
              <a:rPr lang="es-PE" dirty="0"/>
              <a:t>Gracias, Breysi. Todo el producto se basa en datos reales de Lima, de cuatro fuentes.</a:t>
            </a:r>
          </a:p>
          <a:p>
            <a:r>
              <a:rPr lang="es-PE" dirty="0"/>
              <a:t>La primera son 3,128 anuncios de alquiler de Adondevivir y Urbania, capturados el 14 de septiembre de 2026. Con estos entrenamos los modelos.</a:t>
            </a:r>
          </a:p>
          <a:p>
            <a:r>
              <a:rPr lang="es-PE" dirty="0"/>
              <a:t>La segunda es una captura nueva del 23 de octubre: 3,055 anuncios únicos, ya sin duplicados entre portales. Ese es el mercado que ve el inquilino en la app, y además nos sirvió para validar el modelo con datos que nunca vio.</a:t>
            </a:r>
          </a:p>
          <a:p>
            <a:r>
              <a:rPr lang="es-PE" dirty="0"/>
              <a:t>La tercera son 3,233 paraderos de la ATU, del inventario de mayo de 2021. Con ellos medimos la accesibilidad de cada departamento.</a:t>
            </a:r>
          </a:p>
          <a:p>
            <a:r>
              <a:rPr lang="es-PE" dirty="0"/>
              <a:t>La cuarta son 13 series trimestrales del BCRP con el precio por metro cuadrado por distrito, que alimentan la tendencia.</a:t>
            </a:r>
          </a:p>
          <a:p>
            <a:r>
              <a:rPr lang="es-PE" dirty="0"/>
              <a:t>Abajo ven el flujo: descargamos de los portales, el script preprocesar.py aplica las mismas reglas de limpieza que definimos en la Semana 7, genera data/mercado.csv y eso es lo que lee la app.</a:t>
            </a:r>
          </a:p>
          <a:p>
            <a:r>
              <a:rPr lang="es-PE" dirty="0"/>
              <a:t>Un punto de privacidad: al repositorio no llegan direcciones ni contactos de los anuncios. La ficha solo enlaza al anuncio original.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[LUCIANA · 2 min]</a:t>
            </a:r>
          </a:p>
          <a:p>
            <a:r>
              <a:rPr lang="es-PE" dirty="0"/>
              <a:t>Así está construido el prototipo. Es un solo servicio en Render, lo que lo hace simple de desplegar y mantener.</a:t>
            </a:r>
          </a:p>
          <a:p>
            <a:r>
              <a:rPr lang="es-PE" dirty="0"/>
              <a:t>A la izquierda está el navegador: el frontend es HTML, CSS y JavaScript en módulos, con un mapa Leaflet para marcar la ubicación y ver los paraderos.</a:t>
            </a:r>
          </a:p>
          <a:p>
            <a:r>
              <a:rPr lang="es-PE" dirty="0"/>
              <a:t>Al centro está la API, hecha en FastAPI, en code/api.py. Expone endpoints JSON y también sirve el frontend, así que no necesitamos un segundo servidor.</a:t>
            </a:r>
          </a:p>
          <a:p>
            <a:r>
              <a:rPr lang="es-PE" dirty="0"/>
              <a:t>La API llama a tres bloques: los seis componentes analíticos, que están en code; busqueda.py, que junta el mercado con los departamentos publicados en DepaRent; y cuentas.py, que maneja usuarios, departamentos e interesados.</a:t>
            </a:r>
          </a:p>
          <a:p>
            <a:r>
              <a:rPr lang="es-PE" dirty="0"/>
              <a:t>Los modelos se guardan como archivos joblib, y al cargarlos verificamos su hash para estar seguros de que es exactamente el modelo que evaluamos.</a:t>
            </a:r>
          </a:p>
          <a:p>
            <a:r>
              <a:rPr lang="es-PE" dirty="0"/>
              <a:t>Las cuentas se guardan en Postgres en Neon, que es gratuito y, a diferencia del disco de Render, no se borra en cada despliegue. En local usamos SQLite.</a:t>
            </a:r>
          </a:p>
          <a:p>
            <a:r>
              <a:rPr lang="es-PE" dirty="0"/>
              <a:t>Y la flecha de abajo: cada día una tarea de GitHub Actions descarga el mercado, hace commit en main y Render vuelve a desplegar solo. Armando les contará al final un problema que apareció con esto.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[LUCIANA · 1 min 30 s]</a:t>
            </a:r>
          </a:p>
          <a:p>
            <a:r>
              <a:rPr lang="es-PE" dirty="0"/>
              <a:t>Estos son los seis componentes analíticos. El corazón es el número 3, el precio esperado: un modelo HistGradientBoosting con un rango calibrado al 90 %, es decir, un rango que debería contener el precio real 9 de cada 10 veces. Responde cuánto pedir y cuánto puede equivocarse.</a:t>
            </a:r>
          </a:p>
          <a:p>
            <a:r>
              <a:rPr lang="es-PE" dirty="0"/>
              <a:t>Alrededor de él: el componente 1, el perfil competitivo, agrupa los departamentos con K-Means en 4 perfiles, sin usar el precio, y busca los 8 departamentos más parecidos para mostrar con quién compite.</a:t>
            </a:r>
          </a:p>
          <a:p>
            <a:r>
              <a:rPr lang="es-PE" dirty="0"/>
              <a:t>El 2, la accesibilidad, calcula la distancia al paradero de la ATU más cercano con un cKDTree en metros.</a:t>
            </a:r>
          </a:p>
          <a:p>
            <a:r>
              <a:rPr lang="es-PE" dirty="0"/>
              <a:t>El 4, la tendencia distrital, usa un modelo SARIMA sobre las series del BCRP para decir si el distrito sube o se mantiene.</a:t>
            </a:r>
          </a:p>
          <a:p>
            <a:r>
              <a:rPr lang="es-PE" dirty="0"/>
              <a:t>El 5 combina los modelos 1, 3 y 4 con reglas para proponer tres precios: competitivo, equilibrado o renta superior.</a:t>
            </a:r>
          </a:p>
          <a:p>
            <a:r>
              <a:rPr lang="es-PE" dirty="0"/>
              <a:t>Y el 6 es un simulador: usa el modelo de precio para responder qué pasaría si, por ejemplo, el depa tuviera ascensor o más área.</a:t>
            </a:r>
          </a:p>
          <a:p>
            <a:r>
              <a:rPr lang="es-PE" dirty="0"/>
              <a:t>Ahora Adrián les muestra todo esto funcionando.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[ADRIÁN · diapos 7 a 9 · unos 6 a 7 min en total · esta diapo: 2 min 30 s · DEMO EN VIVO]</a:t>
            </a:r>
          </a:p>
          <a:p>
            <a:r>
              <a:rPr lang="es-PE" dirty="0"/>
              <a:t>Gracias, Luciana. Vamos a verlo en la app publicada.</a:t>
            </a:r>
          </a:p>
          <a:p>
            <a:r>
              <a:rPr lang="es-PE" dirty="0"/>
              <a:t>(Abrir deparent.onrender.com, ya cargada antes de empezar. Si falla el internet, usar las capturas de esta diapo.)</a:t>
            </a:r>
          </a:p>
          <a:p>
            <a:r>
              <a:rPr lang="es-PE" dirty="0"/>
              <a:t>Este es el recorrido del propietario. Entro con mi cuenta y agrego un departamento: un depa en Miraflores. Lleno las características: área, dormitorios, baños, estacionamiento y amenidades. La ubicación la marco con un clic en el mapa.</a:t>
            </a:r>
          </a:p>
          <a:p>
            <a:r>
              <a:rPr lang="es-PE" dirty="0"/>
              <a:t>Al enviar recibo el análisis. En el ejemplo de la diapo el precio esperado es 3,656 soles. Debajo está el rango: no les decimos solo un número, les decimos cuánto puede variar. También aparecen los comparables, la distancia al paradero y la tendencia del distrito.</a:t>
            </a:r>
          </a:p>
          <a:p>
            <a:r>
              <a:rPr lang="es-PE" dirty="0"/>
              <a:t>Luego los tres precios de publicación. Aquí elegimos la renta superior, 3,840 soles, porque el depa tiene buenas características para su zona.</a:t>
            </a:r>
          </a:p>
          <a:p>
            <a:r>
              <a:rPr lang="es-PE" dirty="0"/>
              <a:t>Al publicar, el departamento ya aparece en la búsqueda que ven los inquilinos.</a:t>
            </a:r>
          </a:p>
          <a:p>
            <a:r>
              <a:rPr lang="es-PE" dirty="0"/>
              <a:t>Todo esto funciona en la versión publicada: con cuenta propia y con los datos guardados en la base de datos, no en la memoria del servidor.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[ADRIÁN · 2 min 30 s · DEMO EN VIVO]</a:t>
            </a:r>
          </a:p>
          <a:p>
            <a:r>
              <a:rPr lang="es-PE" dirty="0"/>
              <a:t>Ahora me pongo en el lugar del inquilino, que no necesita cuenta.</a:t>
            </a:r>
          </a:p>
          <a:p>
            <a:r>
              <a:rPr lang="es-PE" dirty="0"/>
              <a:t>Voy a la búsqueda. Hay 3,056 departamentos: los 3,055 del mercado más los publicados en DepaRent. De ellos, 895 piden menos de lo que estima el modelo. Puedo filtrar por distrito, presupuesto, tamaño y cercanía a un paradero.</a:t>
            </a:r>
          </a:p>
          <a:p>
            <a:r>
              <a:rPr lang="es-PE" dirty="0"/>
              <a:t>Abro una ficha. Este depa de Lince pide 1,200 soles y el modelo estima 1,586: está 24.3 % por debajo. Para el inquilino es una señal de oportunidad, o de que conviene revisar bien el anuncio. En la ficha también ve los anuncios parecidos y el transporte cercano.</a:t>
            </a:r>
          </a:p>
          <a:p>
            <a:r>
              <a:rPr lang="es-PE" dirty="0"/>
              <a:t>Si el departamento está publicado en DepaRent, le escribe al propietario desde la ficha. (Mostrar el mensaje.) El mensaje le llega al propietario a su pestaña Interesados. Si es un anuncio del mercado, lo llevamos al anuncio original del portal.</a:t>
            </a:r>
          </a:p>
          <a:p>
            <a:r>
              <a:rPr lang="es-PE" dirty="0"/>
              <a:t>Así el inquilino puede buscar, comparar y escribir sin crear una cuenta.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[ADRIÁN · 1 min 30 s]</a:t>
            </a:r>
          </a:p>
          <a:p>
            <a:r>
              <a:rPr lang="es-PE" dirty="0"/>
              <a:t>¿Qué tan bien funciona el modelo? Lo comparamos con dos líneas base. La mediana de todo Lima se equivoca en 1,216 soles en promedio; la mediana del distrito, en 993. Nuestro modelo baja a 553 soles en la prueba de septiembre, con 629 anuncios, y explica el 76 % de la variación del precio, eso es el R² de 0.76. Y lo logramos sin ajustar hiperparámetros.</a:t>
            </a:r>
          </a:p>
          <a:p>
            <a:r>
              <a:rPr lang="es-PE" dirty="0"/>
              <a:t>Segundo número: el rango al 90 %. En la prueba, el 92 % de los precios reales cayó dentro del rango, así que el rango cumple lo que promete.</a:t>
            </a:r>
          </a:p>
          <a:p>
            <a:r>
              <a:rPr lang="es-PE" dirty="0"/>
              <a:t>Tercer número, el más importante: probamos el mismo modelo, congelado y sin reentrenar, con 1,712 anuncios nuevos de octubre que nunca había visto. El error fue 512 soles. O sea, el modelo no se degradó con el paso del mes; incluso le fue un poco mejor.</a:t>
            </a:r>
          </a:p>
          <a:p>
            <a:r>
              <a:rPr lang="es-PE" dirty="0"/>
              <a:t>Armando les explica ahora el ejercicio que nos pidió el profesor.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[ARMANDO · diapos 10 a 12 · unos 5 min en total · esta diapo: 2 min]</a:t>
            </a:r>
          </a:p>
          <a:p>
            <a:r>
              <a:rPr lang="es-PE" dirty="0"/>
              <a:t>Gracias, Adrián. El profesor nos pidió elegir un distrito con al menos 20 anuncios de prueba, calcular su error con el archivo EJERCICIO_FINAL.py y compararlo con la app.</a:t>
            </a:r>
          </a:p>
          <a:p>
            <a:r>
              <a:rPr lang="es-PE" dirty="0"/>
              <a:t>Elegimos Lince. Tiene 25 anuncios en el conjunto de prueba, por encima del mínimo de 20.</a:t>
            </a:r>
          </a:p>
          <a:p>
            <a:r>
              <a:rPr lang="es-PE" dirty="0"/>
              <a:t>Los pasos fueron: primero filtramos los anuncios de prueba de Lince; después contamos los casos, que son 25; para cada uno calculamos el error absoluto, la diferencia entre el precio real y el que estima el modelo; y al final los promediamos. Eso es el MAE.</a:t>
            </a:r>
          </a:p>
          <a:p>
            <a:r>
              <a:rPr lang="es-PE" dirty="0"/>
              <a:t>Resultado: 284.90 soles, exactamente lo mismo que muestra la aplicación, también con 25 casos. Eso nos confirma que el filtro y el redondeo de la app son correctos. No reentrenamos el modelo.</a:t>
            </a:r>
          </a:p>
          <a:p>
            <a:r>
              <a:rPr lang="es-PE" dirty="0"/>
              <a:t>En Lince el modelo se equivoca la mitad que en todo el conjunto de prueba, 285 frente a 553. Los errores individuales tienen una mediana de unos 200 soles y van de 10 a 895.</a:t>
            </a:r>
          </a:p>
          <a:p>
            <a:r>
              <a:rPr lang="es-PE" dirty="0"/>
              <a:t>Ojo con la lectura: es el promedio de esos 25 anuncios de septiembre. No garantiza el error para otra vivienda ni para meses posteriores.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[ARMANDO · 1 min 30 s]</a:t>
            </a:r>
          </a:p>
          <a:p>
            <a:r>
              <a:rPr lang="es-PE" dirty="0"/>
              <a:t>Queremos ser honestos con los límites.</a:t>
            </a:r>
          </a:p>
          <a:p>
            <a:r>
              <a:rPr lang="es-PE" dirty="0"/>
              <a:t>Primero, usamos precios de oferta, lo que se pide en el portal, no el precio con el que se cierra el contrato.</a:t>
            </a:r>
          </a:p>
          <a:p>
            <a:r>
              <a:rPr lang="es-PE" dirty="0"/>
              <a:t>Segundo, el rango es global, más o menos 1,357 soles para todos. Para un depa de 1,200 soles es demasiado ancho.</a:t>
            </a:r>
          </a:p>
          <a:p>
            <a:r>
              <a:rPr lang="es-PE" dirty="0"/>
              <a:t>Tercero, en distritos con menos de 20 anuncios de prueba el error es inestable, y la app lo avisa.</a:t>
            </a:r>
          </a:p>
          <a:p>
            <a:r>
              <a:rPr lang="es-PE" dirty="0"/>
              <a:t>Cuarto, los paraderos de la ATU son de 2021 y el BCRP no cubre todos los distritos.</a:t>
            </a:r>
          </a:p>
          <a:p>
            <a:r>
              <a:rPr lang="es-PE" dirty="0"/>
              <a:t>Y quinto: desde el 25 de octubre los portales bloquean, con un error 403, la descarga diaria desde la nube de GitHub. Por eso la app sigue mostrando el mercado del 23 de octubre.</a:t>
            </a:r>
          </a:p>
          <a:p>
            <a:r>
              <a:rPr lang="es-PE" dirty="0"/>
              <a:t>A la derecha, los desafíos que sí resolvimos. Un mismo inmueble aparece en varios portales: armamos 3,013 grupos para que un depa nunca esté a la vez en entrenamiento y en prueba. Para validar octubre sin trampa excluimos los 2,464 anuncios que ya estaban en septiembre. Logramos datos persistentes en un plan gratuito con Postgres en Neon. Y los modelos son reproducibles: versiones fijas y hashes verificados al cargar.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[ARMANDO · 1 min 30 s]</a:t>
            </a:r>
          </a:p>
          <a:p>
            <a:r>
              <a:rPr lang="es-PE" dirty="0"/>
              <a:t>Para cerrar, esto es lo que viene.</a:t>
            </a:r>
          </a:p>
          <a:p>
            <a:r>
              <a:rPr lang="es-PE" dirty="0"/>
              <a:t>Primero, el informe de evaluación, con las líneas base y el error por distrito. Segundo, dos casos de estudio: un propietario y un inquilino usando el producto de verdad. Tercero, un rango que dependa del precio del depa, para que sea útil también en los departamentos baratos y en los caros. Cuarto, mantener el mercado al día con una tarea programada local, que no tiene el bloqueo de la nube. Quinto, pruebas de uso con 3 a 5 personas. Y sexto, el plan de tareas para las tres últimas semanas.</a:t>
            </a:r>
          </a:p>
          <a:p>
            <a:r>
              <a:rPr lang="es-PE" dirty="0"/>
              <a:t>En resumen: DepaRent ya funciona de punta a punta, con datos reales, y baja a la mitad el error de la regla que usa la gente hoy.</a:t>
            </a:r>
          </a:p>
          <a:p>
            <a:r>
              <a:rPr lang="es-PE" dirty="0"/>
              <a:t>Los invitamos a probarlo en deparent.onrender.com. Muchas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accen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rtlCol="0"/>
          <a:lstStyle>
            <a:lvl1pPr marL="0" indent="0" algn="l">
              <a:buNone/>
              <a:defRPr lang="en-US" sz="3200" dirty="0">
                <a:solidFill>
                  <a:schemeClr val="tx1"/>
                </a:solidFill>
              </a:defRPr>
            </a:lvl1pPr>
          </a:lstStyle>
          <a:p>
            <a:pPr marL="0" indent="0" algn="l">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DepaRent · Prototipo funcional · Semana 10</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rtlCol="0"/>
          <a:lstStyle>
            <a:lvl1pPr marL="0" indent="0" algn="l">
              <a:buNone/>
              <a:defRPr lang="en-US" sz="3200" dirty="0">
                <a:solidFill>
                  <a:schemeClr val="bg1"/>
                </a:solidFill>
              </a:defRPr>
            </a:lvl1pPr>
          </a:lstStyle>
          <a:p>
            <a:pPr marL="0" indent="0" algn="l">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accent3"/>
                </a:solidFill>
              </a:rPr>
              <a:t>DepaRent · Prototipo funcional · Semana 10</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eparent.onrender.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deparent.onrender.com"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o-1"/>
          <p:cNvSpPr txBox="1"/>
          <p:nvPr/>
        </p:nvSpPr>
        <p:spPr>
          <a:xfrm>
            <a:off x="548640" y="502920"/>
            <a:ext cx="6766560" cy="320040"/>
          </a:xfrm>
          <a:prstGeom prst="rect">
            <a:avLst/>
          </a:prstGeom>
          <a:noFill/>
          <a:ln/>
        </p:spPr>
        <p:txBody>
          <a:bodyPr wrap="square" lIns="0" tIns="0" rIns="0" bIns="0" rtlCol="0" anchor="t"/>
          <a:lstStyle/>
          <a:p>
            <a:pPr marL="0" indent="0">
              <a:buNone/>
            </a:pPr>
            <a:r>
              <a:rPr lang="en-US" sz="1400" dirty="0">
                <a:solidFill>
                  <a:schemeClr val="tx1"/>
                </a:solidFill>
              </a:rPr>
              <a:t>DS3022 Desarrollo de Producto de Datos · UTEC · ciclo 2026-2</a:t>
            </a:r>
            <a:endParaRPr lang="en-US" sz="1400" dirty="0"/>
          </a:p>
        </p:txBody>
      </p:sp>
      <p:sp>
        <p:nvSpPr>
          <p:cNvPr id="3" name="texto-2"/>
          <p:cNvSpPr txBox="1"/>
          <p:nvPr/>
        </p:nvSpPr>
        <p:spPr>
          <a:xfrm>
            <a:off x="548640" y="1143000"/>
            <a:ext cx="6766560" cy="1234440"/>
          </a:xfrm>
          <a:prstGeom prst="rect">
            <a:avLst/>
          </a:prstGeom>
          <a:noFill/>
          <a:ln/>
        </p:spPr>
        <p:txBody>
          <a:bodyPr wrap="square" lIns="0" tIns="0" rIns="0" bIns="0" rtlCol="0" anchor="ctr"/>
          <a:lstStyle/>
          <a:p>
            <a:pPr marL="0" indent="0">
              <a:buNone/>
            </a:pPr>
            <a:r>
              <a:rPr lang="en-US" sz="8000" dirty="0">
                <a:solidFill>
                  <a:schemeClr val="tx1"/>
                </a:solidFill>
                <a:latin typeface="Arial Black" pitchFamily="34" charset="0"/>
                <a:ea typeface="Arial Black" pitchFamily="34" charset="-122"/>
                <a:cs typeface="Arial Black" pitchFamily="34" charset="-120"/>
              </a:rPr>
              <a:t>DepaRent</a:t>
            </a:r>
            <a:endParaRPr lang="en-US" sz="8000" dirty="0"/>
          </a:p>
        </p:txBody>
      </p:sp>
      <p:sp>
        <p:nvSpPr>
          <p:cNvPr id="4" name="texto-3"/>
          <p:cNvSpPr txBox="1"/>
          <p:nvPr/>
        </p:nvSpPr>
        <p:spPr>
          <a:xfrm>
            <a:off x="548640" y="2423160"/>
            <a:ext cx="6766560" cy="640080"/>
          </a:xfrm>
          <a:prstGeom prst="rect">
            <a:avLst/>
          </a:prstGeom>
          <a:noFill/>
          <a:ln/>
        </p:spPr>
        <p:txBody>
          <a:bodyPr wrap="square" lIns="0" tIns="0" rIns="0" bIns="0" rtlCol="0" anchor="t"/>
          <a:lstStyle/>
          <a:p>
            <a:pPr marL="0" indent="0">
              <a:buNone/>
            </a:pPr>
            <a:r>
              <a:rPr lang="en-US" sz="3000" dirty="0">
                <a:solidFill>
                  <a:schemeClr val="tx2"/>
                </a:solidFill>
                <a:latin typeface="Arial Black" pitchFamily="34" charset="0"/>
                <a:ea typeface="Arial Black" pitchFamily="34" charset="-122"/>
                <a:cs typeface="Arial Black" pitchFamily="34" charset="-120"/>
              </a:rPr>
              <a:t>Se alquila. ¿A cuánto?</a:t>
            </a:r>
            <a:endParaRPr lang="en-US" sz="3000" dirty="0"/>
          </a:p>
        </p:txBody>
      </p:sp>
      <p:sp>
        <p:nvSpPr>
          <p:cNvPr id="5" name="texto-4"/>
          <p:cNvSpPr txBox="1"/>
          <p:nvPr/>
        </p:nvSpPr>
        <p:spPr>
          <a:xfrm>
            <a:off x="548640" y="3154680"/>
            <a:ext cx="6766560" cy="365760"/>
          </a:xfrm>
          <a:prstGeom prst="rect">
            <a:avLst/>
          </a:prstGeom>
          <a:noFill/>
          <a:ln/>
        </p:spPr>
        <p:txBody>
          <a:bodyPr wrap="square" lIns="0" tIns="0" rIns="0" bIns="0" rtlCol="0" anchor="t"/>
          <a:lstStyle/>
          <a:p>
            <a:pPr marL="0" indent="0">
              <a:buNone/>
            </a:pPr>
            <a:r>
              <a:rPr lang="en-US" sz="1800" dirty="0">
                <a:solidFill>
                  <a:schemeClr val="tx1"/>
                </a:solidFill>
              </a:rPr>
              <a:t>Prototipo funcional · Semana 10</a:t>
            </a:r>
            <a:endParaRPr lang="en-US" sz="1800" dirty="0"/>
          </a:p>
        </p:txBody>
      </p:sp>
      <p:sp>
        <p:nvSpPr>
          <p:cNvPr id="6" name="caja-5"/>
          <p:cNvSpPr/>
          <p:nvPr/>
        </p:nvSpPr>
        <p:spPr>
          <a:xfrm>
            <a:off x="548640" y="3749040"/>
            <a:ext cx="3383280" cy="502920"/>
          </a:xfrm>
          <a:prstGeom prst="rect">
            <a:avLst/>
          </a:prstGeom>
          <a:solidFill>
            <a:schemeClr val="tx1"/>
          </a:solidFill>
          <a:ln/>
        </p:spPr>
        <p:txBody>
          <a:bodyPr/>
          <a:lstStyle/>
          <a:p>
            <a:endParaRPr lang="es-PE"/>
          </a:p>
        </p:txBody>
      </p:sp>
      <p:sp>
        <p:nvSpPr>
          <p:cNvPr id="7" name="texto-6">
            <a:hlinkClick r:id="rId3"/>
          </p:cNvPr>
          <p:cNvSpPr txBox="1"/>
          <p:nvPr/>
        </p:nvSpPr>
        <p:spPr>
          <a:xfrm>
            <a:off x="548640" y="3749040"/>
            <a:ext cx="3383280" cy="502920"/>
          </a:xfrm>
          <a:prstGeom prst="rect">
            <a:avLst/>
          </a:prstGeom>
          <a:noFill/>
          <a:ln/>
        </p:spPr>
        <p:txBody>
          <a:bodyPr wrap="square" lIns="0" tIns="0" rIns="0" bIns="0" rtlCol="0" anchor="ctr"/>
          <a:lstStyle/>
          <a:p>
            <a:pPr marL="0" indent="0" algn="ctr">
              <a:buNone/>
            </a:pPr>
            <a:r>
              <a:rPr lang="en-US" sz="1500" u="sng" dirty="0">
                <a:solidFill>
                  <a:schemeClr val="accent1"/>
                </a:solidFill>
                <a:latin typeface="Arial Black" pitchFamily="34" charset="0"/>
                <a:ea typeface="Arial Black" pitchFamily="34" charset="-122"/>
                <a:cs typeface="Arial Black" pitchFamily="34" charset="-120"/>
                <a:hlinkClick r:id="rId3">
                  <a:extLst>
                    <a:ext uri="{A12FA001-AC4F-418D-AE19-62706E023703}">
                      <ahyp:hlinkClr xmlns:ahyp="http://schemas.microsoft.com/office/drawing/2018/hyperlinkcolor" val="tx"/>
                    </a:ext>
                  </a:extLst>
                </a:hlinkClick>
              </a:rPr>
              <a:t>deparent.onrender.com</a:t>
            </a:r>
            <a:endParaRPr lang="en-US" sz="1500" dirty="0"/>
          </a:p>
        </p:txBody>
      </p:sp>
      <p:sp>
        <p:nvSpPr>
          <p:cNvPr id="8" name="texto-7"/>
          <p:cNvSpPr txBox="1"/>
          <p:nvPr/>
        </p:nvSpPr>
        <p:spPr>
          <a:xfrm>
            <a:off x="548640" y="4800600"/>
            <a:ext cx="3291840" cy="594360"/>
          </a:xfrm>
          <a:prstGeom prst="rect">
            <a:avLst/>
          </a:prstGeom>
          <a:noFill/>
          <a:ln/>
        </p:spPr>
        <p:txBody>
          <a:bodyPr wrap="square" lIns="0" tIns="0" rIns="0" bIns="0" rtlCol="0" anchor="t"/>
          <a:lstStyle/>
          <a:p>
            <a:pPr marL="0" indent="0">
              <a:buNone/>
            </a:pPr>
            <a:r>
              <a:rPr lang="en-US" sz="1400" b="1" dirty="0">
                <a:solidFill>
                  <a:schemeClr val="tx1"/>
                </a:solidFill>
              </a:rPr>
              <a:t>Breysi Salazar Medina</a:t>
            </a:r>
            <a:endParaRPr lang="en-US" sz="1400" dirty="0"/>
          </a:p>
          <a:p>
            <a:pPr marL="0" indent="0">
              <a:buNone/>
            </a:pPr>
            <a:endParaRPr lang="en-US" sz="1400" dirty="0"/>
          </a:p>
        </p:txBody>
      </p:sp>
      <p:sp>
        <p:nvSpPr>
          <p:cNvPr id="9" name="texto-8"/>
          <p:cNvSpPr txBox="1"/>
          <p:nvPr/>
        </p:nvSpPr>
        <p:spPr>
          <a:xfrm>
            <a:off x="3977640" y="4800600"/>
            <a:ext cx="3291840" cy="594360"/>
          </a:xfrm>
          <a:prstGeom prst="rect">
            <a:avLst/>
          </a:prstGeom>
          <a:noFill/>
          <a:ln/>
        </p:spPr>
        <p:txBody>
          <a:bodyPr wrap="square" lIns="0" tIns="0" rIns="0" bIns="0" rtlCol="0" anchor="t"/>
          <a:lstStyle/>
          <a:p>
            <a:pPr marL="0" indent="0">
              <a:buNone/>
            </a:pPr>
            <a:r>
              <a:rPr lang="en-US" sz="1400" b="1" dirty="0">
                <a:solidFill>
                  <a:schemeClr val="tx1"/>
                </a:solidFill>
              </a:rPr>
              <a:t>Luciana </a:t>
            </a:r>
            <a:r>
              <a:rPr lang="en-US" sz="1400" b="1" dirty="0" err="1">
                <a:solidFill>
                  <a:schemeClr val="tx1"/>
                </a:solidFill>
              </a:rPr>
              <a:t>Yangali</a:t>
            </a:r>
            <a:r>
              <a:rPr lang="en-US" sz="1400" b="1" dirty="0">
                <a:solidFill>
                  <a:schemeClr val="tx1"/>
                </a:solidFill>
              </a:rPr>
              <a:t> </a:t>
            </a:r>
            <a:r>
              <a:rPr lang="en-US" sz="1400" b="1" dirty="0" err="1">
                <a:solidFill>
                  <a:schemeClr val="tx1"/>
                </a:solidFill>
              </a:rPr>
              <a:t>Cáceres</a:t>
            </a:r>
            <a:endParaRPr lang="en-US" sz="1400" dirty="0"/>
          </a:p>
        </p:txBody>
      </p:sp>
      <p:sp>
        <p:nvSpPr>
          <p:cNvPr id="10" name="texto-9"/>
          <p:cNvSpPr txBox="1"/>
          <p:nvPr/>
        </p:nvSpPr>
        <p:spPr>
          <a:xfrm>
            <a:off x="548640" y="5532120"/>
            <a:ext cx="3291840" cy="594360"/>
          </a:xfrm>
          <a:prstGeom prst="rect">
            <a:avLst/>
          </a:prstGeom>
          <a:noFill/>
          <a:ln/>
        </p:spPr>
        <p:txBody>
          <a:bodyPr wrap="square" lIns="0" tIns="0" rIns="0" bIns="0" rtlCol="0" anchor="t"/>
          <a:lstStyle/>
          <a:p>
            <a:pPr marL="0" indent="0">
              <a:buNone/>
            </a:pPr>
            <a:r>
              <a:rPr lang="en-US" sz="1400" b="1" dirty="0">
                <a:solidFill>
                  <a:schemeClr val="tx1"/>
                </a:solidFill>
              </a:rPr>
              <a:t>Adrian Urbina Mendoza</a:t>
            </a:r>
            <a:endParaRPr lang="en-US" sz="1400" dirty="0"/>
          </a:p>
        </p:txBody>
      </p:sp>
      <p:sp>
        <p:nvSpPr>
          <p:cNvPr id="11" name="texto-10"/>
          <p:cNvSpPr txBox="1"/>
          <p:nvPr/>
        </p:nvSpPr>
        <p:spPr>
          <a:xfrm>
            <a:off x="3977640" y="5532120"/>
            <a:ext cx="3291840" cy="594360"/>
          </a:xfrm>
          <a:prstGeom prst="rect">
            <a:avLst/>
          </a:prstGeom>
          <a:noFill/>
          <a:ln/>
        </p:spPr>
        <p:txBody>
          <a:bodyPr wrap="square" lIns="0" tIns="0" rIns="0" bIns="0" rtlCol="0" anchor="t"/>
          <a:lstStyle/>
          <a:p>
            <a:pPr marL="0" indent="0">
              <a:buNone/>
            </a:pPr>
            <a:r>
              <a:rPr lang="en-US" sz="1400" b="1" dirty="0">
                <a:solidFill>
                  <a:schemeClr val="tx1"/>
                </a:solidFill>
              </a:rPr>
              <a:t>Armando Martinez Palomino</a:t>
            </a:r>
            <a:endParaRPr lang="en-US" sz="1400" dirty="0"/>
          </a:p>
        </p:txBody>
      </p:sp>
      <p:pic>
        <p:nvPicPr>
          <p:cNvPr id="12" name="cartel-estimador" descr="El estimador en vivo de la página de inicio: Miraflores, 90 m², 3 dormitorios, 2 baños, S/ 3,551 al mes"/>
          <p:cNvPicPr>
            <a:picLocks noChangeAspect="1"/>
          </p:cNvPicPr>
          <p:nvPr/>
        </p:nvPicPr>
        <p:blipFill>
          <a:blip r:embed="rId4"/>
          <a:stretch>
            <a:fillRect/>
          </a:stretch>
        </p:blipFill>
        <p:spPr>
          <a:xfrm rot="120000">
            <a:off x="7543800" y="868680"/>
            <a:ext cx="4114800" cy="51970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¿A cuánto lo alquilo?</a:t>
            </a:r>
            <a:endParaRPr lang="en-US" sz="3200" dirty="0"/>
          </a:p>
        </p:txBody>
      </p:sp>
      <p:sp>
        <p:nvSpPr>
          <p:cNvPr id="3" name="caja-11"/>
          <p:cNvSpPr/>
          <p:nvPr/>
        </p:nvSpPr>
        <p:spPr>
          <a:xfrm>
            <a:off x="548640" y="1508760"/>
            <a:ext cx="6035040" cy="2011680"/>
          </a:xfrm>
          <a:prstGeom prst="rect">
            <a:avLst/>
          </a:prstGeom>
          <a:solidFill>
            <a:schemeClr val="accent3"/>
          </a:solidFill>
          <a:ln/>
        </p:spPr>
        <p:txBody>
          <a:bodyPr/>
          <a:lstStyle/>
          <a:p>
            <a:endParaRPr lang="es-PE"/>
          </a:p>
        </p:txBody>
      </p:sp>
      <p:sp>
        <p:nvSpPr>
          <p:cNvPr id="4" name="texto-12"/>
          <p:cNvSpPr txBox="1"/>
          <p:nvPr/>
        </p:nvSpPr>
        <p:spPr>
          <a:xfrm>
            <a:off x="868680" y="1783080"/>
            <a:ext cx="5394960" cy="411480"/>
          </a:xfrm>
          <a:prstGeom prst="rect">
            <a:avLst/>
          </a:prstGeom>
          <a:noFill/>
          <a:ln/>
        </p:spPr>
        <p:txBody>
          <a:bodyPr wrap="square" lIns="0" tIns="0" rIns="0" bIns="0" rtlCol="0" anchor="t"/>
          <a:lstStyle/>
          <a:p>
            <a:pPr marL="0" indent="0">
              <a:buNone/>
            </a:pPr>
            <a:r>
              <a:rPr lang="en-US" sz="2000" dirty="0">
                <a:solidFill>
                  <a:schemeClr val="tx1"/>
                </a:solidFill>
                <a:latin typeface="Arial Black" pitchFamily="34" charset="0"/>
                <a:ea typeface="Arial Black" pitchFamily="34" charset="-122"/>
                <a:cs typeface="Arial Black" pitchFamily="34" charset="-120"/>
              </a:rPr>
              <a:t>Propietario</a:t>
            </a:r>
            <a:endParaRPr lang="en-US" sz="2000" dirty="0"/>
          </a:p>
        </p:txBody>
      </p:sp>
      <p:sp>
        <p:nvSpPr>
          <p:cNvPr id="5" name="texto-13"/>
          <p:cNvSpPr txBox="1"/>
          <p:nvPr/>
        </p:nvSpPr>
        <p:spPr>
          <a:xfrm>
            <a:off x="868680" y="2331720"/>
            <a:ext cx="5394960" cy="1005840"/>
          </a:xfrm>
          <a:prstGeom prst="rect">
            <a:avLst/>
          </a:prstGeom>
          <a:noFill/>
          <a:ln/>
        </p:spPr>
        <p:txBody>
          <a:bodyPr wrap="square" lIns="0" tIns="0" rIns="0" bIns="0" rtlCol="0" anchor="t"/>
          <a:lstStyle/>
          <a:p>
            <a:pPr marL="0" indent="0">
              <a:buNone/>
            </a:pPr>
            <a:r>
              <a:rPr lang="en-US" sz="1600" dirty="0">
                <a:solidFill>
                  <a:schemeClr val="tx1"/>
                </a:solidFill>
              </a:rPr>
              <a:t>Si pide de más, el departamento se queda vacío; si pide de menos, pierde renta cada mes.</a:t>
            </a:r>
            <a:endParaRPr lang="en-US" sz="1600" dirty="0"/>
          </a:p>
        </p:txBody>
      </p:sp>
      <p:sp>
        <p:nvSpPr>
          <p:cNvPr id="6" name="caja-14"/>
          <p:cNvSpPr/>
          <p:nvPr/>
        </p:nvSpPr>
        <p:spPr>
          <a:xfrm>
            <a:off x="548640" y="3749040"/>
            <a:ext cx="6035040" cy="2011680"/>
          </a:xfrm>
          <a:prstGeom prst="rect">
            <a:avLst/>
          </a:prstGeom>
          <a:solidFill>
            <a:schemeClr val="bg2"/>
          </a:solidFill>
          <a:ln/>
        </p:spPr>
        <p:txBody>
          <a:bodyPr/>
          <a:lstStyle/>
          <a:p>
            <a:endParaRPr lang="es-PE"/>
          </a:p>
        </p:txBody>
      </p:sp>
      <p:sp>
        <p:nvSpPr>
          <p:cNvPr id="7" name="texto-15"/>
          <p:cNvSpPr txBox="1"/>
          <p:nvPr/>
        </p:nvSpPr>
        <p:spPr>
          <a:xfrm>
            <a:off x="868680" y="4023360"/>
            <a:ext cx="5394960" cy="411480"/>
          </a:xfrm>
          <a:prstGeom prst="rect">
            <a:avLst/>
          </a:prstGeom>
          <a:noFill/>
          <a:ln/>
        </p:spPr>
        <p:txBody>
          <a:bodyPr wrap="square" lIns="0" tIns="0" rIns="0" bIns="0" rtlCol="0" anchor="t"/>
          <a:lstStyle/>
          <a:p>
            <a:pPr marL="0" indent="0">
              <a:buNone/>
            </a:pPr>
            <a:r>
              <a:rPr lang="en-US" sz="2000" dirty="0">
                <a:solidFill>
                  <a:schemeClr val="tx1"/>
                </a:solidFill>
                <a:latin typeface="Arial Black" pitchFamily="34" charset="0"/>
                <a:ea typeface="Arial Black" pitchFamily="34" charset="-122"/>
                <a:cs typeface="Arial Black" pitchFamily="34" charset="-120"/>
              </a:rPr>
              <a:t>Inquilino</a:t>
            </a:r>
            <a:endParaRPr lang="en-US" sz="2000" dirty="0"/>
          </a:p>
        </p:txBody>
      </p:sp>
      <p:sp>
        <p:nvSpPr>
          <p:cNvPr id="8" name="texto-16"/>
          <p:cNvSpPr txBox="1"/>
          <p:nvPr/>
        </p:nvSpPr>
        <p:spPr>
          <a:xfrm>
            <a:off x="868680" y="4572000"/>
            <a:ext cx="5394960" cy="1005840"/>
          </a:xfrm>
          <a:prstGeom prst="rect">
            <a:avLst/>
          </a:prstGeom>
          <a:noFill/>
          <a:ln/>
        </p:spPr>
        <p:txBody>
          <a:bodyPr wrap="square" lIns="0" tIns="0" rIns="0" bIns="0" rtlCol="0" anchor="t"/>
          <a:lstStyle/>
          <a:p>
            <a:pPr marL="0" indent="0">
              <a:buNone/>
            </a:pPr>
            <a:r>
              <a:rPr lang="en-US" sz="1600" dirty="0">
                <a:solidFill>
                  <a:schemeClr val="tx1"/>
                </a:solidFill>
              </a:rPr>
              <a:t>No sabe si un precio es justo frente a departamentos parecidos del mismo distrito.</a:t>
            </a:r>
            <a:endParaRPr lang="en-US" sz="1600" dirty="0"/>
          </a:p>
        </p:txBody>
      </p:sp>
      <p:sp>
        <p:nvSpPr>
          <p:cNvPr id="9" name="caja-17"/>
          <p:cNvSpPr/>
          <p:nvPr/>
        </p:nvSpPr>
        <p:spPr>
          <a:xfrm>
            <a:off x="6903720" y="1508760"/>
            <a:ext cx="4736592" cy="4251960"/>
          </a:xfrm>
          <a:prstGeom prst="rect">
            <a:avLst/>
          </a:prstGeom>
          <a:solidFill>
            <a:schemeClr val="tx1"/>
          </a:solidFill>
          <a:ln/>
        </p:spPr>
        <p:txBody>
          <a:bodyPr/>
          <a:lstStyle/>
          <a:p>
            <a:endParaRPr lang="es-PE"/>
          </a:p>
        </p:txBody>
      </p:sp>
      <p:sp>
        <p:nvSpPr>
          <p:cNvPr id="10" name="texto-18"/>
          <p:cNvSpPr txBox="1"/>
          <p:nvPr/>
        </p:nvSpPr>
        <p:spPr>
          <a:xfrm>
            <a:off x="7269480" y="1828800"/>
            <a:ext cx="4023360" cy="822960"/>
          </a:xfrm>
          <a:prstGeom prst="rect">
            <a:avLst/>
          </a:prstGeom>
          <a:noFill/>
          <a:ln/>
        </p:spPr>
        <p:txBody>
          <a:bodyPr wrap="square" lIns="0" tIns="0" rIns="0" bIns="0" rtlCol="0" anchor="t"/>
          <a:lstStyle/>
          <a:p>
            <a:pPr marL="0" indent="0">
              <a:buNone/>
            </a:pPr>
            <a:r>
              <a:rPr lang="en-US" sz="1600" dirty="0">
                <a:solidFill>
                  <a:schemeClr val="bg1"/>
                </a:solidFill>
              </a:rPr>
              <a:t>Fijar el precio con la mediana del distrito se equivoca, en promedio, en</a:t>
            </a:r>
            <a:endParaRPr lang="en-US" sz="1600" dirty="0"/>
          </a:p>
        </p:txBody>
      </p:sp>
      <p:sp>
        <p:nvSpPr>
          <p:cNvPr id="11" name="texto-19"/>
          <p:cNvSpPr txBox="1"/>
          <p:nvPr/>
        </p:nvSpPr>
        <p:spPr>
          <a:xfrm>
            <a:off x="7269480" y="2651760"/>
            <a:ext cx="4023360" cy="1005840"/>
          </a:xfrm>
          <a:prstGeom prst="rect">
            <a:avLst/>
          </a:prstGeom>
          <a:noFill/>
          <a:ln/>
        </p:spPr>
        <p:txBody>
          <a:bodyPr wrap="square" lIns="0" tIns="0" rIns="0" bIns="0" rtlCol="0" anchor="ctr"/>
          <a:lstStyle/>
          <a:p>
            <a:pPr marL="0" indent="0">
              <a:buNone/>
            </a:pPr>
            <a:r>
              <a:rPr lang="en-US" sz="6000" dirty="0">
                <a:solidFill>
                  <a:schemeClr val="accent1"/>
                </a:solidFill>
                <a:latin typeface="Arial Black" pitchFamily="34" charset="0"/>
                <a:ea typeface="Arial Black" pitchFamily="34" charset="-122"/>
                <a:cs typeface="Arial Black" pitchFamily="34" charset="-120"/>
              </a:rPr>
              <a:t>S/ 993</a:t>
            </a:r>
            <a:endParaRPr lang="en-US" sz="6000" dirty="0"/>
          </a:p>
        </p:txBody>
      </p:sp>
      <p:sp>
        <p:nvSpPr>
          <p:cNvPr id="12" name="texto-20"/>
          <p:cNvSpPr txBox="1"/>
          <p:nvPr/>
        </p:nvSpPr>
        <p:spPr>
          <a:xfrm>
            <a:off x="7269480" y="3657600"/>
            <a:ext cx="4023360" cy="365760"/>
          </a:xfrm>
          <a:prstGeom prst="rect">
            <a:avLst/>
          </a:prstGeom>
          <a:noFill/>
          <a:ln/>
        </p:spPr>
        <p:txBody>
          <a:bodyPr wrap="square" lIns="0" tIns="0" rIns="0" bIns="0" rtlCol="0" anchor="t"/>
          <a:lstStyle/>
          <a:p>
            <a:pPr marL="0" indent="0">
              <a:buNone/>
            </a:pPr>
            <a:r>
              <a:rPr lang="en-US" sz="1600" dirty="0">
                <a:solidFill>
                  <a:schemeClr val="bg1"/>
                </a:solidFill>
              </a:rPr>
              <a:t>al mes por departamento.</a:t>
            </a:r>
            <a:endParaRPr lang="en-US" sz="1600" dirty="0"/>
          </a:p>
        </p:txBody>
      </p:sp>
      <p:sp>
        <p:nvSpPr>
          <p:cNvPr id="13" name="texto-21"/>
          <p:cNvSpPr txBox="1"/>
          <p:nvPr/>
        </p:nvSpPr>
        <p:spPr>
          <a:xfrm>
            <a:off x="7269480" y="4434840"/>
            <a:ext cx="4023360" cy="822960"/>
          </a:xfrm>
          <a:prstGeom prst="rect">
            <a:avLst/>
          </a:prstGeom>
          <a:noFill/>
          <a:ln/>
        </p:spPr>
        <p:txBody>
          <a:bodyPr wrap="square" lIns="0" tIns="0" rIns="0" bIns="0" rtlCol="0" anchor="t"/>
          <a:lstStyle/>
          <a:p>
            <a:pPr marL="0" indent="0">
              <a:buNone/>
            </a:pPr>
            <a:r>
              <a:rPr lang="en-US" sz="1600" b="1" dirty="0">
                <a:solidFill>
                  <a:schemeClr val="bg1"/>
                </a:solidFill>
              </a:rPr>
              <a:t>DepaRent lo baja a S/ 553.</a:t>
            </a:r>
            <a:endParaRPr lang="en-US" sz="1600" dirty="0"/>
          </a:p>
          <a:p>
            <a:pPr marL="0" indent="0">
              <a:buNone/>
            </a:pPr>
            <a:r>
              <a:rPr lang="en-US" sz="1200" dirty="0">
                <a:solidFill>
                  <a:schemeClr val="accent3"/>
                </a:solidFill>
              </a:rPr>
              <a:t>Prueba de septiembre: 629 anuncios.</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Dos recorridos, un mismo análisis</a:t>
            </a:r>
            <a:endParaRPr lang="en-US" sz="3200" dirty="0"/>
          </a:p>
        </p:txBody>
      </p:sp>
      <p:sp>
        <p:nvSpPr>
          <p:cNvPr id="3" name="texto-22"/>
          <p:cNvSpPr txBox="1"/>
          <p:nvPr/>
        </p:nvSpPr>
        <p:spPr>
          <a:xfrm>
            <a:off x="548640" y="2286000"/>
            <a:ext cx="1645920" cy="457200"/>
          </a:xfrm>
          <a:prstGeom prst="rect">
            <a:avLst/>
          </a:prstGeom>
          <a:noFill/>
          <a:ln/>
        </p:spPr>
        <p:txBody>
          <a:bodyPr wrap="square" lIns="0" tIns="0" rIns="0" bIns="0" rtlCol="0" anchor="t"/>
          <a:lstStyle/>
          <a:p>
            <a:pPr marL="0" indent="0">
              <a:buNone/>
            </a:pPr>
            <a:r>
              <a:rPr lang="en-US" sz="1800" dirty="0">
                <a:solidFill>
                  <a:schemeClr val="tx1"/>
                </a:solidFill>
                <a:latin typeface="Arial Black" pitchFamily="34" charset="0"/>
                <a:ea typeface="Arial Black" pitchFamily="34" charset="-122"/>
                <a:cs typeface="Arial Black" pitchFamily="34" charset="-120"/>
              </a:rPr>
              <a:t>Propietario</a:t>
            </a:r>
            <a:endParaRPr lang="en-US" sz="1800" dirty="0"/>
          </a:p>
        </p:txBody>
      </p:sp>
      <p:sp>
        <p:nvSpPr>
          <p:cNvPr id="4" name="caja-23"/>
          <p:cNvSpPr/>
          <p:nvPr/>
        </p:nvSpPr>
        <p:spPr>
          <a:xfrm>
            <a:off x="2286000" y="1600200"/>
            <a:ext cx="2103120" cy="1828800"/>
          </a:xfrm>
          <a:prstGeom prst="rect">
            <a:avLst/>
          </a:prstGeom>
          <a:solidFill>
            <a:schemeClr val="accent3"/>
          </a:solidFill>
          <a:ln/>
        </p:spPr>
        <p:txBody>
          <a:bodyPr/>
          <a:lstStyle/>
          <a:p>
            <a:endParaRPr lang="es-PE"/>
          </a:p>
        </p:txBody>
      </p:sp>
      <p:sp>
        <p:nvSpPr>
          <p:cNvPr id="5" name="caja-24"/>
          <p:cNvSpPr/>
          <p:nvPr/>
        </p:nvSpPr>
        <p:spPr>
          <a:xfrm>
            <a:off x="2468880" y="1783080"/>
            <a:ext cx="384048" cy="384048"/>
          </a:xfrm>
          <a:prstGeom prst="rect">
            <a:avLst/>
          </a:prstGeom>
          <a:solidFill>
            <a:schemeClr val="accent1"/>
          </a:solidFill>
          <a:ln/>
        </p:spPr>
        <p:txBody>
          <a:bodyPr/>
          <a:lstStyle/>
          <a:p>
            <a:endParaRPr lang="es-PE"/>
          </a:p>
        </p:txBody>
      </p:sp>
      <p:sp>
        <p:nvSpPr>
          <p:cNvPr id="6" name="texto-25"/>
          <p:cNvSpPr txBox="1"/>
          <p:nvPr/>
        </p:nvSpPr>
        <p:spPr>
          <a:xfrm>
            <a:off x="2468880" y="178308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1</a:t>
            </a:r>
            <a:endParaRPr lang="en-US" sz="1400" dirty="0"/>
          </a:p>
        </p:txBody>
      </p:sp>
      <p:sp>
        <p:nvSpPr>
          <p:cNvPr id="7" name="texto-26"/>
          <p:cNvSpPr txBox="1"/>
          <p:nvPr/>
        </p:nvSpPr>
        <p:spPr>
          <a:xfrm>
            <a:off x="2468880" y="2286000"/>
            <a:ext cx="1783080" cy="365760"/>
          </a:xfrm>
          <a:prstGeom prst="rect">
            <a:avLst/>
          </a:prstGeom>
          <a:noFill/>
          <a:ln/>
        </p:spPr>
        <p:txBody>
          <a:bodyPr wrap="square" lIns="0" tIns="0" rIns="0" bIns="0" rtlCol="0" anchor="t"/>
          <a:lstStyle/>
          <a:p>
            <a:pPr marL="0" indent="0">
              <a:buNone/>
            </a:pPr>
            <a:r>
              <a:rPr lang="en-US" sz="1600" b="1" dirty="0">
                <a:solidFill>
                  <a:schemeClr val="tx1"/>
                </a:solidFill>
              </a:rPr>
              <a:t>Describe su depa</a:t>
            </a:r>
            <a:endParaRPr lang="en-US" sz="1600" dirty="0"/>
          </a:p>
        </p:txBody>
      </p:sp>
      <p:sp>
        <p:nvSpPr>
          <p:cNvPr id="8" name="texto-27"/>
          <p:cNvSpPr txBox="1"/>
          <p:nvPr/>
        </p:nvSpPr>
        <p:spPr>
          <a:xfrm>
            <a:off x="2468880" y="2651760"/>
            <a:ext cx="1783080" cy="685800"/>
          </a:xfrm>
          <a:prstGeom prst="rect">
            <a:avLst/>
          </a:prstGeom>
          <a:noFill/>
          <a:ln/>
        </p:spPr>
        <p:txBody>
          <a:bodyPr wrap="square" lIns="0" tIns="0" rIns="0" bIns="0" rtlCol="0" anchor="t"/>
          <a:lstStyle/>
          <a:p>
            <a:pPr marL="0" indent="0">
              <a:buNone/>
            </a:pPr>
            <a:r>
              <a:rPr lang="en-US" sz="1200" dirty="0">
                <a:solidFill>
                  <a:schemeClr val="tx1"/>
                </a:solidFill>
              </a:rPr>
              <a:t>Área, dormitorios, amenidades y ubicación en el mapa</a:t>
            </a:r>
            <a:endParaRPr lang="en-US" sz="1200" dirty="0"/>
          </a:p>
        </p:txBody>
      </p:sp>
      <p:sp>
        <p:nvSpPr>
          <p:cNvPr id="9" name="texto-28"/>
          <p:cNvSpPr txBox="1"/>
          <p:nvPr/>
        </p:nvSpPr>
        <p:spPr>
          <a:xfrm>
            <a:off x="4389120" y="2286000"/>
            <a:ext cx="274320" cy="411480"/>
          </a:xfrm>
          <a:prstGeom prst="rect">
            <a:avLst/>
          </a:prstGeom>
          <a:noFill/>
          <a:ln/>
        </p:spPr>
        <p:txBody>
          <a:bodyPr wrap="square" lIns="0" tIns="0" rIns="0" bIns="0" rtlCol="0" anchor="t"/>
          <a:lstStyle/>
          <a:p>
            <a:pPr marL="0" indent="0" algn="ctr">
              <a:buNone/>
            </a:pPr>
            <a:r>
              <a:rPr lang="en-US" sz="1800" b="1" dirty="0">
                <a:solidFill>
                  <a:schemeClr val="accent4"/>
                </a:solidFill>
              </a:rPr>
              <a:t>→</a:t>
            </a:r>
            <a:endParaRPr lang="en-US" sz="1800" dirty="0"/>
          </a:p>
        </p:txBody>
      </p:sp>
      <p:sp>
        <p:nvSpPr>
          <p:cNvPr id="10" name="caja-29"/>
          <p:cNvSpPr/>
          <p:nvPr/>
        </p:nvSpPr>
        <p:spPr>
          <a:xfrm>
            <a:off x="4663440" y="1600200"/>
            <a:ext cx="2103120" cy="1828800"/>
          </a:xfrm>
          <a:prstGeom prst="rect">
            <a:avLst/>
          </a:prstGeom>
          <a:solidFill>
            <a:schemeClr val="accent3"/>
          </a:solidFill>
          <a:ln/>
        </p:spPr>
        <p:txBody>
          <a:bodyPr/>
          <a:lstStyle/>
          <a:p>
            <a:endParaRPr lang="es-PE"/>
          </a:p>
        </p:txBody>
      </p:sp>
      <p:sp>
        <p:nvSpPr>
          <p:cNvPr id="11" name="caja-30"/>
          <p:cNvSpPr/>
          <p:nvPr/>
        </p:nvSpPr>
        <p:spPr>
          <a:xfrm>
            <a:off x="4846320" y="1783080"/>
            <a:ext cx="384048" cy="384048"/>
          </a:xfrm>
          <a:prstGeom prst="rect">
            <a:avLst/>
          </a:prstGeom>
          <a:solidFill>
            <a:schemeClr val="accent1"/>
          </a:solidFill>
          <a:ln/>
        </p:spPr>
        <p:txBody>
          <a:bodyPr/>
          <a:lstStyle/>
          <a:p>
            <a:endParaRPr lang="es-PE"/>
          </a:p>
        </p:txBody>
      </p:sp>
      <p:sp>
        <p:nvSpPr>
          <p:cNvPr id="12" name="texto-31"/>
          <p:cNvSpPr txBox="1"/>
          <p:nvPr/>
        </p:nvSpPr>
        <p:spPr>
          <a:xfrm>
            <a:off x="4846320" y="178308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2</a:t>
            </a:r>
            <a:endParaRPr lang="en-US" sz="1400" dirty="0"/>
          </a:p>
        </p:txBody>
      </p:sp>
      <p:sp>
        <p:nvSpPr>
          <p:cNvPr id="13" name="texto-32"/>
          <p:cNvSpPr txBox="1"/>
          <p:nvPr/>
        </p:nvSpPr>
        <p:spPr>
          <a:xfrm>
            <a:off x="4846320" y="2286000"/>
            <a:ext cx="1783080" cy="365760"/>
          </a:xfrm>
          <a:prstGeom prst="rect">
            <a:avLst/>
          </a:prstGeom>
          <a:noFill/>
          <a:ln/>
        </p:spPr>
        <p:txBody>
          <a:bodyPr wrap="square" lIns="0" tIns="0" rIns="0" bIns="0" rtlCol="0" anchor="t"/>
          <a:lstStyle/>
          <a:p>
            <a:pPr marL="0" indent="0">
              <a:buNone/>
            </a:pPr>
            <a:r>
              <a:rPr lang="en-US" sz="1600" b="1" dirty="0">
                <a:solidFill>
                  <a:schemeClr val="tx1"/>
                </a:solidFill>
              </a:rPr>
              <a:t>Recibe el análisis</a:t>
            </a:r>
            <a:endParaRPr lang="en-US" sz="1600" dirty="0"/>
          </a:p>
        </p:txBody>
      </p:sp>
      <p:sp>
        <p:nvSpPr>
          <p:cNvPr id="14" name="texto-33"/>
          <p:cNvSpPr txBox="1"/>
          <p:nvPr/>
        </p:nvSpPr>
        <p:spPr>
          <a:xfrm>
            <a:off x="4846320" y="2651760"/>
            <a:ext cx="1783080" cy="685800"/>
          </a:xfrm>
          <a:prstGeom prst="rect">
            <a:avLst/>
          </a:prstGeom>
          <a:noFill/>
          <a:ln/>
        </p:spPr>
        <p:txBody>
          <a:bodyPr wrap="square" lIns="0" tIns="0" rIns="0" bIns="0" rtlCol="0" anchor="t"/>
          <a:lstStyle/>
          <a:p>
            <a:pPr marL="0" indent="0">
              <a:buNone/>
            </a:pPr>
            <a:r>
              <a:rPr lang="en-US" sz="1200" dirty="0">
                <a:solidFill>
                  <a:schemeClr val="tx1"/>
                </a:solidFill>
              </a:rPr>
              <a:t>Precio esperado, rango, comparables y tendencia</a:t>
            </a:r>
            <a:endParaRPr lang="en-US" sz="1200" dirty="0"/>
          </a:p>
        </p:txBody>
      </p:sp>
      <p:sp>
        <p:nvSpPr>
          <p:cNvPr id="15" name="texto-34"/>
          <p:cNvSpPr txBox="1"/>
          <p:nvPr/>
        </p:nvSpPr>
        <p:spPr>
          <a:xfrm>
            <a:off x="6766560" y="2286000"/>
            <a:ext cx="274320" cy="411480"/>
          </a:xfrm>
          <a:prstGeom prst="rect">
            <a:avLst/>
          </a:prstGeom>
          <a:noFill/>
          <a:ln/>
        </p:spPr>
        <p:txBody>
          <a:bodyPr wrap="square" lIns="0" tIns="0" rIns="0" bIns="0" rtlCol="0" anchor="t"/>
          <a:lstStyle/>
          <a:p>
            <a:pPr marL="0" indent="0" algn="ctr">
              <a:buNone/>
            </a:pPr>
            <a:r>
              <a:rPr lang="en-US" sz="1800" b="1" dirty="0">
                <a:solidFill>
                  <a:schemeClr val="accent4"/>
                </a:solidFill>
              </a:rPr>
              <a:t>→</a:t>
            </a:r>
            <a:endParaRPr lang="en-US" sz="1800" dirty="0"/>
          </a:p>
        </p:txBody>
      </p:sp>
      <p:sp>
        <p:nvSpPr>
          <p:cNvPr id="16" name="caja-35"/>
          <p:cNvSpPr/>
          <p:nvPr/>
        </p:nvSpPr>
        <p:spPr>
          <a:xfrm>
            <a:off x="7040880" y="1600200"/>
            <a:ext cx="2103120" cy="1828800"/>
          </a:xfrm>
          <a:prstGeom prst="rect">
            <a:avLst/>
          </a:prstGeom>
          <a:solidFill>
            <a:schemeClr val="accent3"/>
          </a:solidFill>
          <a:ln/>
        </p:spPr>
        <p:txBody>
          <a:bodyPr/>
          <a:lstStyle/>
          <a:p>
            <a:endParaRPr lang="es-PE"/>
          </a:p>
        </p:txBody>
      </p:sp>
      <p:sp>
        <p:nvSpPr>
          <p:cNvPr id="17" name="caja-36"/>
          <p:cNvSpPr/>
          <p:nvPr/>
        </p:nvSpPr>
        <p:spPr>
          <a:xfrm>
            <a:off x="7223760" y="1783080"/>
            <a:ext cx="384048" cy="384048"/>
          </a:xfrm>
          <a:prstGeom prst="rect">
            <a:avLst/>
          </a:prstGeom>
          <a:solidFill>
            <a:schemeClr val="accent1"/>
          </a:solidFill>
          <a:ln/>
        </p:spPr>
        <p:txBody>
          <a:bodyPr/>
          <a:lstStyle/>
          <a:p>
            <a:endParaRPr lang="es-PE"/>
          </a:p>
        </p:txBody>
      </p:sp>
      <p:sp>
        <p:nvSpPr>
          <p:cNvPr id="18" name="texto-37"/>
          <p:cNvSpPr txBox="1"/>
          <p:nvPr/>
        </p:nvSpPr>
        <p:spPr>
          <a:xfrm>
            <a:off x="7223760" y="178308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3</a:t>
            </a:r>
            <a:endParaRPr lang="en-US" sz="1400" dirty="0"/>
          </a:p>
        </p:txBody>
      </p:sp>
      <p:sp>
        <p:nvSpPr>
          <p:cNvPr id="19" name="texto-38"/>
          <p:cNvSpPr txBox="1"/>
          <p:nvPr/>
        </p:nvSpPr>
        <p:spPr>
          <a:xfrm>
            <a:off x="7223760" y="2286000"/>
            <a:ext cx="1783080" cy="365760"/>
          </a:xfrm>
          <a:prstGeom prst="rect">
            <a:avLst/>
          </a:prstGeom>
          <a:noFill/>
          <a:ln/>
        </p:spPr>
        <p:txBody>
          <a:bodyPr wrap="square" lIns="0" tIns="0" rIns="0" bIns="0" rtlCol="0" anchor="t"/>
          <a:lstStyle/>
          <a:p>
            <a:pPr marL="0" indent="0">
              <a:buNone/>
            </a:pPr>
            <a:r>
              <a:rPr lang="en-US" sz="1600" b="1" dirty="0">
                <a:solidFill>
                  <a:schemeClr val="tx1"/>
                </a:solidFill>
              </a:rPr>
              <a:t>Publica</a:t>
            </a:r>
            <a:endParaRPr lang="en-US" sz="1600" dirty="0"/>
          </a:p>
        </p:txBody>
      </p:sp>
      <p:sp>
        <p:nvSpPr>
          <p:cNvPr id="20" name="texto-39"/>
          <p:cNvSpPr txBox="1"/>
          <p:nvPr/>
        </p:nvSpPr>
        <p:spPr>
          <a:xfrm>
            <a:off x="7223760" y="2651760"/>
            <a:ext cx="1783080" cy="685800"/>
          </a:xfrm>
          <a:prstGeom prst="rect">
            <a:avLst/>
          </a:prstGeom>
          <a:noFill/>
          <a:ln/>
        </p:spPr>
        <p:txBody>
          <a:bodyPr wrap="square" lIns="0" tIns="0" rIns="0" bIns="0" rtlCol="0" anchor="t"/>
          <a:lstStyle/>
          <a:p>
            <a:pPr marL="0" indent="0">
              <a:buNone/>
            </a:pPr>
            <a:r>
              <a:rPr lang="en-US" sz="1200" dirty="0">
                <a:solidFill>
                  <a:schemeClr val="tx1"/>
                </a:solidFill>
              </a:rPr>
              <a:t>Elige uno de tres precios de publicación</a:t>
            </a:r>
            <a:endParaRPr lang="en-US" sz="1200" dirty="0"/>
          </a:p>
        </p:txBody>
      </p:sp>
      <p:sp>
        <p:nvSpPr>
          <p:cNvPr id="21" name="texto-40"/>
          <p:cNvSpPr txBox="1"/>
          <p:nvPr/>
        </p:nvSpPr>
        <p:spPr>
          <a:xfrm>
            <a:off x="9144000" y="2286000"/>
            <a:ext cx="274320" cy="411480"/>
          </a:xfrm>
          <a:prstGeom prst="rect">
            <a:avLst/>
          </a:prstGeom>
          <a:noFill/>
          <a:ln/>
        </p:spPr>
        <p:txBody>
          <a:bodyPr wrap="square" lIns="0" tIns="0" rIns="0" bIns="0" rtlCol="0" anchor="t"/>
          <a:lstStyle/>
          <a:p>
            <a:pPr marL="0" indent="0" algn="ctr">
              <a:buNone/>
            </a:pPr>
            <a:r>
              <a:rPr lang="en-US" sz="1800" b="1" dirty="0">
                <a:solidFill>
                  <a:schemeClr val="accent4"/>
                </a:solidFill>
              </a:rPr>
              <a:t>→</a:t>
            </a:r>
            <a:endParaRPr lang="en-US" sz="1800" dirty="0"/>
          </a:p>
        </p:txBody>
      </p:sp>
      <p:sp>
        <p:nvSpPr>
          <p:cNvPr id="22" name="caja-41"/>
          <p:cNvSpPr/>
          <p:nvPr/>
        </p:nvSpPr>
        <p:spPr>
          <a:xfrm>
            <a:off x="9418320" y="1600200"/>
            <a:ext cx="2103120" cy="1828800"/>
          </a:xfrm>
          <a:prstGeom prst="rect">
            <a:avLst/>
          </a:prstGeom>
          <a:solidFill>
            <a:schemeClr val="accent3"/>
          </a:solidFill>
          <a:ln/>
        </p:spPr>
        <p:txBody>
          <a:bodyPr/>
          <a:lstStyle/>
          <a:p>
            <a:endParaRPr lang="es-PE"/>
          </a:p>
        </p:txBody>
      </p:sp>
      <p:sp>
        <p:nvSpPr>
          <p:cNvPr id="23" name="caja-42"/>
          <p:cNvSpPr/>
          <p:nvPr/>
        </p:nvSpPr>
        <p:spPr>
          <a:xfrm>
            <a:off x="9601200" y="1783080"/>
            <a:ext cx="384048" cy="384048"/>
          </a:xfrm>
          <a:prstGeom prst="rect">
            <a:avLst/>
          </a:prstGeom>
          <a:solidFill>
            <a:schemeClr val="accent1"/>
          </a:solidFill>
          <a:ln/>
        </p:spPr>
        <p:txBody>
          <a:bodyPr/>
          <a:lstStyle/>
          <a:p>
            <a:endParaRPr lang="es-PE"/>
          </a:p>
        </p:txBody>
      </p:sp>
      <p:sp>
        <p:nvSpPr>
          <p:cNvPr id="24" name="texto-43"/>
          <p:cNvSpPr txBox="1"/>
          <p:nvPr/>
        </p:nvSpPr>
        <p:spPr>
          <a:xfrm>
            <a:off x="9601200" y="178308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4</a:t>
            </a:r>
            <a:endParaRPr lang="en-US" sz="1400" dirty="0"/>
          </a:p>
        </p:txBody>
      </p:sp>
      <p:sp>
        <p:nvSpPr>
          <p:cNvPr id="25" name="texto-44"/>
          <p:cNvSpPr txBox="1"/>
          <p:nvPr/>
        </p:nvSpPr>
        <p:spPr>
          <a:xfrm>
            <a:off x="9601200" y="2286000"/>
            <a:ext cx="1783080" cy="365760"/>
          </a:xfrm>
          <a:prstGeom prst="rect">
            <a:avLst/>
          </a:prstGeom>
          <a:noFill/>
          <a:ln/>
        </p:spPr>
        <p:txBody>
          <a:bodyPr wrap="square" lIns="0" tIns="0" rIns="0" bIns="0" rtlCol="0" anchor="t"/>
          <a:lstStyle/>
          <a:p>
            <a:pPr marL="0" indent="0">
              <a:buNone/>
            </a:pPr>
            <a:r>
              <a:rPr lang="en-US" sz="1600" b="1" dirty="0">
                <a:solidFill>
                  <a:schemeClr val="tx1"/>
                </a:solidFill>
              </a:rPr>
              <a:t>Recibe mensajes</a:t>
            </a:r>
            <a:endParaRPr lang="en-US" sz="1600" dirty="0"/>
          </a:p>
        </p:txBody>
      </p:sp>
      <p:sp>
        <p:nvSpPr>
          <p:cNvPr id="26" name="texto-45"/>
          <p:cNvSpPr txBox="1"/>
          <p:nvPr/>
        </p:nvSpPr>
        <p:spPr>
          <a:xfrm>
            <a:off x="9601200" y="2651760"/>
            <a:ext cx="1783080" cy="685800"/>
          </a:xfrm>
          <a:prstGeom prst="rect">
            <a:avLst/>
          </a:prstGeom>
          <a:noFill/>
          <a:ln/>
        </p:spPr>
        <p:txBody>
          <a:bodyPr wrap="square" lIns="0" tIns="0" rIns="0" bIns="0" rtlCol="0" anchor="t"/>
          <a:lstStyle/>
          <a:p>
            <a:pPr marL="0" indent="0">
              <a:buNone/>
            </a:pPr>
            <a:r>
              <a:rPr lang="en-US" sz="1200" dirty="0">
                <a:solidFill>
                  <a:schemeClr val="tx1"/>
                </a:solidFill>
              </a:rPr>
              <a:t>Los interesados le llegan a su cuenta</a:t>
            </a:r>
            <a:endParaRPr lang="en-US" sz="1200" dirty="0"/>
          </a:p>
        </p:txBody>
      </p:sp>
      <p:sp>
        <p:nvSpPr>
          <p:cNvPr id="27" name="texto-46"/>
          <p:cNvSpPr txBox="1"/>
          <p:nvPr/>
        </p:nvSpPr>
        <p:spPr>
          <a:xfrm>
            <a:off x="548640" y="4526280"/>
            <a:ext cx="1645920" cy="457200"/>
          </a:xfrm>
          <a:prstGeom prst="rect">
            <a:avLst/>
          </a:prstGeom>
          <a:noFill/>
          <a:ln/>
        </p:spPr>
        <p:txBody>
          <a:bodyPr wrap="square" lIns="0" tIns="0" rIns="0" bIns="0" rtlCol="0" anchor="t"/>
          <a:lstStyle/>
          <a:p>
            <a:pPr marL="0" indent="0">
              <a:buNone/>
            </a:pPr>
            <a:r>
              <a:rPr lang="en-US" sz="1800" dirty="0">
                <a:solidFill>
                  <a:schemeClr val="tx1"/>
                </a:solidFill>
                <a:latin typeface="Arial Black" pitchFamily="34" charset="0"/>
                <a:ea typeface="Arial Black" pitchFamily="34" charset="-122"/>
                <a:cs typeface="Arial Black" pitchFamily="34" charset="-120"/>
              </a:rPr>
              <a:t>Inquilino</a:t>
            </a:r>
            <a:endParaRPr lang="en-US" sz="1800" dirty="0"/>
          </a:p>
        </p:txBody>
      </p:sp>
      <p:sp>
        <p:nvSpPr>
          <p:cNvPr id="28" name="caja-47"/>
          <p:cNvSpPr/>
          <p:nvPr/>
        </p:nvSpPr>
        <p:spPr>
          <a:xfrm>
            <a:off x="2286000" y="3840480"/>
            <a:ext cx="2103120" cy="1828800"/>
          </a:xfrm>
          <a:prstGeom prst="rect">
            <a:avLst/>
          </a:prstGeom>
          <a:solidFill>
            <a:schemeClr val="bg2"/>
          </a:solidFill>
          <a:ln/>
        </p:spPr>
        <p:txBody>
          <a:bodyPr/>
          <a:lstStyle/>
          <a:p>
            <a:endParaRPr lang="es-PE"/>
          </a:p>
        </p:txBody>
      </p:sp>
      <p:sp>
        <p:nvSpPr>
          <p:cNvPr id="29" name="caja-48"/>
          <p:cNvSpPr/>
          <p:nvPr/>
        </p:nvSpPr>
        <p:spPr>
          <a:xfrm>
            <a:off x="2468880" y="4023360"/>
            <a:ext cx="384048" cy="384048"/>
          </a:xfrm>
          <a:prstGeom prst="rect">
            <a:avLst/>
          </a:prstGeom>
          <a:solidFill>
            <a:schemeClr val="accent1"/>
          </a:solidFill>
          <a:ln/>
        </p:spPr>
        <p:txBody>
          <a:bodyPr/>
          <a:lstStyle/>
          <a:p>
            <a:endParaRPr lang="es-PE"/>
          </a:p>
        </p:txBody>
      </p:sp>
      <p:sp>
        <p:nvSpPr>
          <p:cNvPr id="30" name="texto-49"/>
          <p:cNvSpPr txBox="1"/>
          <p:nvPr/>
        </p:nvSpPr>
        <p:spPr>
          <a:xfrm>
            <a:off x="2468880" y="40233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1</a:t>
            </a:r>
            <a:endParaRPr lang="en-US" sz="1400" dirty="0"/>
          </a:p>
        </p:txBody>
      </p:sp>
      <p:sp>
        <p:nvSpPr>
          <p:cNvPr id="31" name="texto-50"/>
          <p:cNvSpPr txBox="1"/>
          <p:nvPr/>
        </p:nvSpPr>
        <p:spPr>
          <a:xfrm>
            <a:off x="2468880" y="4526280"/>
            <a:ext cx="1783080" cy="365760"/>
          </a:xfrm>
          <a:prstGeom prst="rect">
            <a:avLst/>
          </a:prstGeom>
          <a:noFill/>
          <a:ln/>
        </p:spPr>
        <p:txBody>
          <a:bodyPr wrap="square" lIns="0" tIns="0" rIns="0" bIns="0" rtlCol="0" anchor="t"/>
          <a:lstStyle/>
          <a:p>
            <a:pPr marL="0" indent="0">
              <a:buNone/>
            </a:pPr>
            <a:r>
              <a:rPr lang="en-US" sz="1600" b="1" dirty="0">
                <a:solidFill>
                  <a:schemeClr val="tx1"/>
                </a:solidFill>
              </a:rPr>
              <a:t>Filtra</a:t>
            </a:r>
            <a:endParaRPr lang="en-US" sz="1600" dirty="0"/>
          </a:p>
        </p:txBody>
      </p:sp>
      <p:sp>
        <p:nvSpPr>
          <p:cNvPr id="32" name="texto-51"/>
          <p:cNvSpPr txBox="1"/>
          <p:nvPr/>
        </p:nvSpPr>
        <p:spPr>
          <a:xfrm>
            <a:off x="2468880" y="4892040"/>
            <a:ext cx="1783080" cy="685800"/>
          </a:xfrm>
          <a:prstGeom prst="rect">
            <a:avLst/>
          </a:prstGeom>
          <a:noFill/>
          <a:ln/>
        </p:spPr>
        <p:txBody>
          <a:bodyPr wrap="square" lIns="0" tIns="0" rIns="0" bIns="0" rtlCol="0" anchor="t"/>
          <a:lstStyle/>
          <a:p>
            <a:pPr marL="0" indent="0">
              <a:buNone/>
            </a:pPr>
            <a:r>
              <a:rPr lang="en-US" sz="1200" dirty="0">
                <a:solidFill>
                  <a:schemeClr val="tx1"/>
                </a:solidFill>
              </a:rPr>
              <a:t>Distrito, presupuesto, tamaño y paraderos</a:t>
            </a:r>
            <a:endParaRPr lang="en-US" sz="1200" dirty="0"/>
          </a:p>
        </p:txBody>
      </p:sp>
      <p:sp>
        <p:nvSpPr>
          <p:cNvPr id="33" name="texto-52"/>
          <p:cNvSpPr txBox="1"/>
          <p:nvPr/>
        </p:nvSpPr>
        <p:spPr>
          <a:xfrm>
            <a:off x="4389120" y="4526280"/>
            <a:ext cx="274320" cy="411480"/>
          </a:xfrm>
          <a:prstGeom prst="rect">
            <a:avLst/>
          </a:prstGeom>
          <a:noFill/>
          <a:ln/>
        </p:spPr>
        <p:txBody>
          <a:bodyPr wrap="square" lIns="0" tIns="0" rIns="0" bIns="0" rtlCol="0" anchor="t"/>
          <a:lstStyle/>
          <a:p>
            <a:pPr marL="0" indent="0" algn="ctr">
              <a:buNone/>
            </a:pPr>
            <a:r>
              <a:rPr lang="en-US" sz="1800" b="1" dirty="0">
                <a:solidFill>
                  <a:schemeClr val="accent4"/>
                </a:solidFill>
              </a:rPr>
              <a:t>→</a:t>
            </a:r>
            <a:endParaRPr lang="en-US" sz="1800" dirty="0"/>
          </a:p>
        </p:txBody>
      </p:sp>
      <p:sp>
        <p:nvSpPr>
          <p:cNvPr id="34" name="caja-53"/>
          <p:cNvSpPr/>
          <p:nvPr/>
        </p:nvSpPr>
        <p:spPr>
          <a:xfrm>
            <a:off x="4663440" y="3840480"/>
            <a:ext cx="2103120" cy="1828800"/>
          </a:xfrm>
          <a:prstGeom prst="rect">
            <a:avLst/>
          </a:prstGeom>
          <a:solidFill>
            <a:schemeClr val="bg2"/>
          </a:solidFill>
          <a:ln/>
        </p:spPr>
        <p:txBody>
          <a:bodyPr/>
          <a:lstStyle/>
          <a:p>
            <a:endParaRPr lang="es-PE"/>
          </a:p>
        </p:txBody>
      </p:sp>
      <p:sp>
        <p:nvSpPr>
          <p:cNvPr id="35" name="caja-54"/>
          <p:cNvSpPr/>
          <p:nvPr/>
        </p:nvSpPr>
        <p:spPr>
          <a:xfrm>
            <a:off x="4846320" y="4023360"/>
            <a:ext cx="384048" cy="384048"/>
          </a:xfrm>
          <a:prstGeom prst="rect">
            <a:avLst/>
          </a:prstGeom>
          <a:solidFill>
            <a:schemeClr val="accent1"/>
          </a:solidFill>
          <a:ln/>
        </p:spPr>
        <p:txBody>
          <a:bodyPr/>
          <a:lstStyle/>
          <a:p>
            <a:endParaRPr lang="es-PE"/>
          </a:p>
        </p:txBody>
      </p:sp>
      <p:sp>
        <p:nvSpPr>
          <p:cNvPr id="36" name="texto-55"/>
          <p:cNvSpPr txBox="1"/>
          <p:nvPr/>
        </p:nvSpPr>
        <p:spPr>
          <a:xfrm>
            <a:off x="4846320" y="40233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2</a:t>
            </a:r>
            <a:endParaRPr lang="en-US" sz="1400" dirty="0"/>
          </a:p>
        </p:txBody>
      </p:sp>
      <p:sp>
        <p:nvSpPr>
          <p:cNvPr id="37" name="texto-56"/>
          <p:cNvSpPr txBox="1"/>
          <p:nvPr/>
        </p:nvSpPr>
        <p:spPr>
          <a:xfrm>
            <a:off x="4846320" y="4526280"/>
            <a:ext cx="1783080" cy="365760"/>
          </a:xfrm>
          <a:prstGeom prst="rect">
            <a:avLst/>
          </a:prstGeom>
          <a:noFill/>
          <a:ln/>
        </p:spPr>
        <p:txBody>
          <a:bodyPr wrap="square" lIns="0" tIns="0" rIns="0" bIns="0" rtlCol="0" anchor="t"/>
          <a:lstStyle/>
          <a:p>
            <a:pPr marL="0" indent="0">
              <a:buNone/>
            </a:pPr>
            <a:r>
              <a:rPr lang="en-US" sz="1600" b="1" dirty="0">
                <a:solidFill>
                  <a:schemeClr val="tx1"/>
                </a:solidFill>
              </a:rPr>
              <a:t>Compara</a:t>
            </a:r>
            <a:endParaRPr lang="en-US" sz="1600" dirty="0"/>
          </a:p>
        </p:txBody>
      </p:sp>
      <p:sp>
        <p:nvSpPr>
          <p:cNvPr id="38" name="texto-57"/>
          <p:cNvSpPr txBox="1"/>
          <p:nvPr/>
        </p:nvSpPr>
        <p:spPr>
          <a:xfrm>
            <a:off x="4846320" y="4892040"/>
            <a:ext cx="1783080" cy="685800"/>
          </a:xfrm>
          <a:prstGeom prst="rect">
            <a:avLst/>
          </a:prstGeom>
          <a:noFill/>
          <a:ln/>
        </p:spPr>
        <p:txBody>
          <a:bodyPr wrap="square" lIns="0" tIns="0" rIns="0" bIns="0" rtlCol="0" anchor="t"/>
          <a:lstStyle/>
          <a:p>
            <a:pPr marL="0" indent="0">
              <a:buNone/>
            </a:pPr>
            <a:r>
              <a:rPr lang="en-US" sz="1200" dirty="0">
                <a:solidFill>
                  <a:schemeClr val="tx1"/>
                </a:solidFill>
              </a:rPr>
              <a:t>Por debajo, en línea o por encima del estimado</a:t>
            </a:r>
            <a:endParaRPr lang="en-US" sz="1200" dirty="0"/>
          </a:p>
        </p:txBody>
      </p:sp>
      <p:sp>
        <p:nvSpPr>
          <p:cNvPr id="39" name="texto-58"/>
          <p:cNvSpPr txBox="1"/>
          <p:nvPr/>
        </p:nvSpPr>
        <p:spPr>
          <a:xfrm>
            <a:off x="6766560" y="4526280"/>
            <a:ext cx="274320" cy="411480"/>
          </a:xfrm>
          <a:prstGeom prst="rect">
            <a:avLst/>
          </a:prstGeom>
          <a:noFill/>
          <a:ln/>
        </p:spPr>
        <p:txBody>
          <a:bodyPr wrap="square" lIns="0" tIns="0" rIns="0" bIns="0" rtlCol="0" anchor="t"/>
          <a:lstStyle/>
          <a:p>
            <a:pPr marL="0" indent="0" algn="ctr">
              <a:buNone/>
            </a:pPr>
            <a:r>
              <a:rPr lang="en-US" sz="1800" b="1" dirty="0">
                <a:solidFill>
                  <a:schemeClr val="accent4"/>
                </a:solidFill>
              </a:rPr>
              <a:t>→</a:t>
            </a:r>
            <a:endParaRPr lang="en-US" sz="1800" dirty="0"/>
          </a:p>
        </p:txBody>
      </p:sp>
      <p:sp>
        <p:nvSpPr>
          <p:cNvPr id="40" name="caja-59"/>
          <p:cNvSpPr/>
          <p:nvPr/>
        </p:nvSpPr>
        <p:spPr>
          <a:xfrm>
            <a:off x="7040880" y="3840480"/>
            <a:ext cx="2103120" cy="1828800"/>
          </a:xfrm>
          <a:prstGeom prst="rect">
            <a:avLst/>
          </a:prstGeom>
          <a:solidFill>
            <a:schemeClr val="bg2"/>
          </a:solidFill>
          <a:ln/>
        </p:spPr>
        <p:txBody>
          <a:bodyPr/>
          <a:lstStyle/>
          <a:p>
            <a:endParaRPr lang="es-PE"/>
          </a:p>
        </p:txBody>
      </p:sp>
      <p:sp>
        <p:nvSpPr>
          <p:cNvPr id="41" name="caja-60"/>
          <p:cNvSpPr/>
          <p:nvPr/>
        </p:nvSpPr>
        <p:spPr>
          <a:xfrm>
            <a:off x="7223760" y="4023360"/>
            <a:ext cx="384048" cy="384048"/>
          </a:xfrm>
          <a:prstGeom prst="rect">
            <a:avLst/>
          </a:prstGeom>
          <a:solidFill>
            <a:schemeClr val="accent1"/>
          </a:solidFill>
          <a:ln/>
        </p:spPr>
        <p:txBody>
          <a:bodyPr/>
          <a:lstStyle/>
          <a:p>
            <a:endParaRPr lang="es-PE"/>
          </a:p>
        </p:txBody>
      </p:sp>
      <p:sp>
        <p:nvSpPr>
          <p:cNvPr id="42" name="texto-61"/>
          <p:cNvSpPr txBox="1"/>
          <p:nvPr/>
        </p:nvSpPr>
        <p:spPr>
          <a:xfrm>
            <a:off x="7223760" y="40233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3</a:t>
            </a:r>
            <a:endParaRPr lang="en-US" sz="1400" dirty="0"/>
          </a:p>
        </p:txBody>
      </p:sp>
      <p:sp>
        <p:nvSpPr>
          <p:cNvPr id="43" name="texto-62"/>
          <p:cNvSpPr txBox="1"/>
          <p:nvPr/>
        </p:nvSpPr>
        <p:spPr>
          <a:xfrm>
            <a:off x="7223760" y="4526280"/>
            <a:ext cx="1783080" cy="365760"/>
          </a:xfrm>
          <a:prstGeom prst="rect">
            <a:avLst/>
          </a:prstGeom>
          <a:noFill/>
          <a:ln/>
        </p:spPr>
        <p:txBody>
          <a:bodyPr wrap="square" lIns="0" tIns="0" rIns="0" bIns="0" rtlCol="0" anchor="t"/>
          <a:lstStyle/>
          <a:p>
            <a:pPr marL="0" indent="0">
              <a:buNone/>
            </a:pPr>
            <a:r>
              <a:rPr lang="en-US" sz="1600" b="1" dirty="0">
                <a:solidFill>
                  <a:schemeClr val="tx1"/>
                </a:solidFill>
              </a:rPr>
              <a:t>Abre la ficha</a:t>
            </a:r>
            <a:endParaRPr lang="en-US" sz="1600" dirty="0"/>
          </a:p>
        </p:txBody>
      </p:sp>
      <p:sp>
        <p:nvSpPr>
          <p:cNvPr id="44" name="texto-63"/>
          <p:cNvSpPr txBox="1"/>
          <p:nvPr/>
        </p:nvSpPr>
        <p:spPr>
          <a:xfrm>
            <a:off x="7223760" y="4892040"/>
            <a:ext cx="1783080" cy="685800"/>
          </a:xfrm>
          <a:prstGeom prst="rect">
            <a:avLst/>
          </a:prstGeom>
          <a:noFill/>
          <a:ln/>
        </p:spPr>
        <p:txBody>
          <a:bodyPr wrap="square" lIns="0" tIns="0" rIns="0" bIns="0" rtlCol="0" anchor="t"/>
          <a:lstStyle/>
          <a:p>
            <a:pPr marL="0" indent="0">
              <a:buNone/>
            </a:pPr>
            <a:r>
              <a:rPr lang="en-US" sz="1200" dirty="0">
                <a:solidFill>
                  <a:schemeClr val="tx1"/>
                </a:solidFill>
              </a:rPr>
              <a:t>Anuncios parecidos y transporte</a:t>
            </a:r>
            <a:endParaRPr lang="en-US" sz="1200" dirty="0"/>
          </a:p>
        </p:txBody>
      </p:sp>
      <p:sp>
        <p:nvSpPr>
          <p:cNvPr id="45" name="texto-64"/>
          <p:cNvSpPr txBox="1"/>
          <p:nvPr/>
        </p:nvSpPr>
        <p:spPr>
          <a:xfrm>
            <a:off x="9144000" y="4526280"/>
            <a:ext cx="274320" cy="411480"/>
          </a:xfrm>
          <a:prstGeom prst="rect">
            <a:avLst/>
          </a:prstGeom>
          <a:noFill/>
          <a:ln/>
        </p:spPr>
        <p:txBody>
          <a:bodyPr wrap="square" lIns="0" tIns="0" rIns="0" bIns="0" rtlCol="0" anchor="t"/>
          <a:lstStyle/>
          <a:p>
            <a:pPr marL="0" indent="0" algn="ctr">
              <a:buNone/>
            </a:pPr>
            <a:r>
              <a:rPr lang="en-US" sz="1800" b="1" dirty="0">
                <a:solidFill>
                  <a:schemeClr val="accent4"/>
                </a:solidFill>
              </a:rPr>
              <a:t>→</a:t>
            </a:r>
            <a:endParaRPr lang="en-US" sz="1800" dirty="0"/>
          </a:p>
        </p:txBody>
      </p:sp>
      <p:sp>
        <p:nvSpPr>
          <p:cNvPr id="46" name="caja-65"/>
          <p:cNvSpPr/>
          <p:nvPr/>
        </p:nvSpPr>
        <p:spPr>
          <a:xfrm>
            <a:off x="9418320" y="3840480"/>
            <a:ext cx="2103120" cy="1828800"/>
          </a:xfrm>
          <a:prstGeom prst="rect">
            <a:avLst/>
          </a:prstGeom>
          <a:solidFill>
            <a:schemeClr val="bg2"/>
          </a:solidFill>
          <a:ln/>
        </p:spPr>
        <p:txBody>
          <a:bodyPr/>
          <a:lstStyle/>
          <a:p>
            <a:endParaRPr lang="es-PE"/>
          </a:p>
        </p:txBody>
      </p:sp>
      <p:sp>
        <p:nvSpPr>
          <p:cNvPr id="47" name="caja-66"/>
          <p:cNvSpPr/>
          <p:nvPr/>
        </p:nvSpPr>
        <p:spPr>
          <a:xfrm>
            <a:off x="9601200" y="4023360"/>
            <a:ext cx="384048" cy="384048"/>
          </a:xfrm>
          <a:prstGeom prst="rect">
            <a:avLst/>
          </a:prstGeom>
          <a:solidFill>
            <a:schemeClr val="accent1"/>
          </a:solidFill>
          <a:ln/>
        </p:spPr>
        <p:txBody>
          <a:bodyPr/>
          <a:lstStyle/>
          <a:p>
            <a:endParaRPr lang="es-PE"/>
          </a:p>
        </p:txBody>
      </p:sp>
      <p:sp>
        <p:nvSpPr>
          <p:cNvPr id="48" name="texto-67"/>
          <p:cNvSpPr txBox="1"/>
          <p:nvPr/>
        </p:nvSpPr>
        <p:spPr>
          <a:xfrm>
            <a:off x="9601200" y="40233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4</a:t>
            </a:r>
            <a:endParaRPr lang="en-US" sz="1400" dirty="0"/>
          </a:p>
        </p:txBody>
      </p:sp>
      <p:sp>
        <p:nvSpPr>
          <p:cNvPr id="49" name="texto-68"/>
          <p:cNvSpPr txBox="1"/>
          <p:nvPr/>
        </p:nvSpPr>
        <p:spPr>
          <a:xfrm>
            <a:off x="9601200" y="4526280"/>
            <a:ext cx="1783080" cy="365760"/>
          </a:xfrm>
          <a:prstGeom prst="rect">
            <a:avLst/>
          </a:prstGeom>
          <a:noFill/>
          <a:ln/>
        </p:spPr>
        <p:txBody>
          <a:bodyPr wrap="square" lIns="0" tIns="0" rIns="0" bIns="0" rtlCol="0" anchor="t"/>
          <a:lstStyle/>
          <a:p>
            <a:pPr marL="0" indent="0">
              <a:buNone/>
            </a:pPr>
            <a:r>
              <a:rPr lang="en-US" sz="1600" b="1" dirty="0">
                <a:solidFill>
                  <a:schemeClr val="tx1"/>
                </a:solidFill>
              </a:rPr>
              <a:t>Escribe al dueño</a:t>
            </a:r>
            <a:endParaRPr lang="en-US" sz="1600" dirty="0"/>
          </a:p>
        </p:txBody>
      </p:sp>
      <p:sp>
        <p:nvSpPr>
          <p:cNvPr id="50" name="texto-69"/>
          <p:cNvSpPr txBox="1"/>
          <p:nvPr/>
        </p:nvSpPr>
        <p:spPr>
          <a:xfrm>
            <a:off x="9601200" y="4892040"/>
            <a:ext cx="1783080" cy="685800"/>
          </a:xfrm>
          <a:prstGeom prst="rect">
            <a:avLst/>
          </a:prstGeom>
          <a:noFill/>
          <a:ln/>
        </p:spPr>
        <p:txBody>
          <a:bodyPr wrap="square" lIns="0" tIns="0" rIns="0" bIns="0" rtlCol="0" anchor="t"/>
          <a:lstStyle/>
          <a:p>
            <a:pPr marL="0" indent="0">
              <a:buNone/>
            </a:pPr>
            <a:r>
              <a:rPr lang="en-US" sz="1200" dirty="0">
                <a:solidFill>
                  <a:schemeClr val="tx1"/>
                </a:solidFill>
              </a:rPr>
              <a:t>O va al anuncio original del portal</a:t>
            </a:r>
            <a:endParaRPr lang="en-US" sz="1200" dirty="0"/>
          </a:p>
        </p:txBody>
      </p:sp>
      <p:sp>
        <p:nvSpPr>
          <p:cNvPr id="51"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Datos reales de Lima</a:t>
            </a:r>
            <a:endParaRPr lang="en-US" sz="3200" dirty="0"/>
          </a:p>
        </p:txBody>
      </p:sp>
      <p:sp>
        <p:nvSpPr>
          <p:cNvPr id="3" name="caja-70"/>
          <p:cNvSpPr/>
          <p:nvPr/>
        </p:nvSpPr>
        <p:spPr>
          <a:xfrm>
            <a:off x="548640" y="1554480"/>
            <a:ext cx="2606040" cy="3200400"/>
          </a:xfrm>
          <a:prstGeom prst="rect">
            <a:avLst/>
          </a:prstGeom>
          <a:solidFill>
            <a:schemeClr val="accent1"/>
          </a:solidFill>
          <a:ln/>
        </p:spPr>
        <p:txBody>
          <a:bodyPr/>
          <a:lstStyle/>
          <a:p>
            <a:endParaRPr lang="es-PE"/>
          </a:p>
        </p:txBody>
      </p:sp>
      <p:sp>
        <p:nvSpPr>
          <p:cNvPr id="4" name="texto-71"/>
          <p:cNvSpPr txBox="1"/>
          <p:nvPr/>
        </p:nvSpPr>
        <p:spPr>
          <a:xfrm>
            <a:off x="822960" y="1783080"/>
            <a:ext cx="2103120" cy="914400"/>
          </a:xfrm>
          <a:prstGeom prst="rect">
            <a:avLst/>
          </a:prstGeom>
          <a:noFill/>
          <a:ln/>
        </p:spPr>
        <p:txBody>
          <a:bodyPr wrap="square" lIns="0" tIns="0" rIns="0" bIns="0" rtlCol="0" anchor="ctr"/>
          <a:lstStyle/>
          <a:p>
            <a:pPr marL="0" indent="0">
              <a:buNone/>
            </a:pPr>
            <a:r>
              <a:rPr lang="en-US" sz="4400" dirty="0">
                <a:solidFill>
                  <a:schemeClr val="tx1"/>
                </a:solidFill>
                <a:latin typeface="Arial Black" pitchFamily="34" charset="0"/>
                <a:ea typeface="Arial Black" pitchFamily="34" charset="-122"/>
                <a:cs typeface="Arial Black" pitchFamily="34" charset="-120"/>
              </a:rPr>
              <a:t>3,128</a:t>
            </a:r>
            <a:endParaRPr lang="en-US" sz="4400" dirty="0"/>
          </a:p>
        </p:txBody>
      </p:sp>
      <p:sp>
        <p:nvSpPr>
          <p:cNvPr id="5" name="texto-72"/>
          <p:cNvSpPr txBox="1"/>
          <p:nvPr/>
        </p:nvSpPr>
        <p:spPr>
          <a:xfrm>
            <a:off x="822960" y="2788920"/>
            <a:ext cx="2103120" cy="914400"/>
          </a:xfrm>
          <a:prstGeom prst="rect">
            <a:avLst/>
          </a:prstGeom>
          <a:noFill/>
          <a:ln/>
        </p:spPr>
        <p:txBody>
          <a:bodyPr wrap="square" lIns="0" tIns="0" rIns="0" bIns="0" rtlCol="0" anchor="t"/>
          <a:lstStyle/>
          <a:p>
            <a:pPr marL="0" indent="0">
              <a:buNone/>
            </a:pPr>
            <a:r>
              <a:rPr lang="en-US" sz="1600" b="1" dirty="0">
                <a:solidFill>
                  <a:schemeClr val="tx1"/>
                </a:solidFill>
              </a:rPr>
              <a:t>anuncios de Adondevivir y Urbania</a:t>
            </a:r>
            <a:endParaRPr lang="en-US" sz="1600" dirty="0"/>
          </a:p>
        </p:txBody>
      </p:sp>
      <p:sp>
        <p:nvSpPr>
          <p:cNvPr id="6" name="texto-73"/>
          <p:cNvSpPr txBox="1"/>
          <p:nvPr/>
        </p:nvSpPr>
        <p:spPr>
          <a:xfrm>
            <a:off x="822960" y="3794760"/>
            <a:ext cx="2103120" cy="822960"/>
          </a:xfrm>
          <a:prstGeom prst="rect">
            <a:avLst/>
          </a:prstGeom>
          <a:noFill/>
          <a:ln/>
        </p:spPr>
        <p:txBody>
          <a:bodyPr wrap="square" lIns="0" tIns="0" rIns="0" bIns="0" rtlCol="0" anchor="t"/>
          <a:lstStyle/>
          <a:p>
            <a:pPr marL="0" indent="0">
              <a:buNone/>
            </a:pPr>
            <a:r>
              <a:rPr lang="en-US" sz="1300" dirty="0">
                <a:solidFill>
                  <a:schemeClr val="tx1"/>
                </a:solidFill>
              </a:rPr>
              <a:t>Captura del 14-sep-2026. Entrena los modelos.</a:t>
            </a:r>
            <a:endParaRPr lang="en-US" sz="1300" dirty="0"/>
          </a:p>
        </p:txBody>
      </p:sp>
      <p:sp>
        <p:nvSpPr>
          <p:cNvPr id="7" name="caja-74"/>
          <p:cNvSpPr/>
          <p:nvPr/>
        </p:nvSpPr>
        <p:spPr>
          <a:xfrm>
            <a:off x="3383280" y="1554480"/>
            <a:ext cx="2606040" cy="3200400"/>
          </a:xfrm>
          <a:prstGeom prst="rect">
            <a:avLst/>
          </a:prstGeom>
          <a:solidFill>
            <a:schemeClr val="tx1"/>
          </a:solidFill>
          <a:ln/>
        </p:spPr>
        <p:txBody>
          <a:bodyPr/>
          <a:lstStyle/>
          <a:p>
            <a:endParaRPr lang="es-PE"/>
          </a:p>
        </p:txBody>
      </p:sp>
      <p:sp>
        <p:nvSpPr>
          <p:cNvPr id="8" name="texto-75"/>
          <p:cNvSpPr txBox="1"/>
          <p:nvPr/>
        </p:nvSpPr>
        <p:spPr>
          <a:xfrm>
            <a:off x="3657600" y="1783080"/>
            <a:ext cx="2103120" cy="914400"/>
          </a:xfrm>
          <a:prstGeom prst="rect">
            <a:avLst/>
          </a:prstGeom>
          <a:noFill/>
          <a:ln/>
        </p:spPr>
        <p:txBody>
          <a:bodyPr wrap="square" lIns="0" tIns="0" rIns="0" bIns="0" rtlCol="0" anchor="ctr"/>
          <a:lstStyle/>
          <a:p>
            <a:pPr marL="0" indent="0">
              <a:buNone/>
            </a:pPr>
            <a:r>
              <a:rPr lang="en-US" sz="4400" dirty="0">
                <a:solidFill>
                  <a:schemeClr val="bg1"/>
                </a:solidFill>
                <a:latin typeface="Arial Black" pitchFamily="34" charset="0"/>
                <a:ea typeface="Arial Black" pitchFamily="34" charset="-122"/>
                <a:cs typeface="Arial Black" pitchFamily="34" charset="-120"/>
              </a:rPr>
              <a:t>3,055</a:t>
            </a:r>
            <a:endParaRPr lang="en-US" sz="4400" dirty="0"/>
          </a:p>
        </p:txBody>
      </p:sp>
      <p:sp>
        <p:nvSpPr>
          <p:cNvPr id="9" name="texto-76"/>
          <p:cNvSpPr txBox="1"/>
          <p:nvPr/>
        </p:nvSpPr>
        <p:spPr>
          <a:xfrm>
            <a:off x="3657600" y="2788920"/>
            <a:ext cx="2103120" cy="914400"/>
          </a:xfrm>
          <a:prstGeom prst="rect">
            <a:avLst/>
          </a:prstGeom>
          <a:noFill/>
          <a:ln/>
        </p:spPr>
        <p:txBody>
          <a:bodyPr wrap="square" lIns="0" tIns="0" rIns="0" bIns="0" rtlCol="0" anchor="t"/>
          <a:lstStyle/>
          <a:p>
            <a:pPr marL="0" indent="0">
              <a:buNone/>
            </a:pPr>
            <a:r>
              <a:rPr lang="en-US" sz="1600" b="1" dirty="0">
                <a:solidFill>
                  <a:schemeClr val="bg1"/>
                </a:solidFill>
              </a:rPr>
              <a:t>anuncios únicos de octubre</a:t>
            </a:r>
            <a:endParaRPr lang="en-US" sz="1600" dirty="0"/>
          </a:p>
        </p:txBody>
      </p:sp>
      <p:sp>
        <p:nvSpPr>
          <p:cNvPr id="10" name="texto-77"/>
          <p:cNvSpPr txBox="1"/>
          <p:nvPr/>
        </p:nvSpPr>
        <p:spPr>
          <a:xfrm>
            <a:off x="3657600" y="3794760"/>
            <a:ext cx="2103120" cy="822960"/>
          </a:xfrm>
          <a:prstGeom prst="rect">
            <a:avLst/>
          </a:prstGeom>
          <a:noFill/>
          <a:ln/>
        </p:spPr>
        <p:txBody>
          <a:bodyPr wrap="square" lIns="0" tIns="0" rIns="0" bIns="0" rtlCol="0" anchor="t"/>
          <a:lstStyle/>
          <a:p>
            <a:pPr marL="0" indent="0">
              <a:buNone/>
            </a:pPr>
            <a:r>
              <a:rPr lang="en-US" sz="1300" dirty="0">
                <a:solidFill>
                  <a:schemeClr val="bg1"/>
                </a:solidFill>
              </a:rPr>
              <a:t>Captura del 23-oct-2026. Es el mercado que ve la app.</a:t>
            </a:r>
            <a:endParaRPr lang="en-US" sz="1300" dirty="0"/>
          </a:p>
        </p:txBody>
      </p:sp>
      <p:sp>
        <p:nvSpPr>
          <p:cNvPr id="11" name="caja-78"/>
          <p:cNvSpPr/>
          <p:nvPr/>
        </p:nvSpPr>
        <p:spPr>
          <a:xfrm>
            <a:off x="6217920" y="1554480"/>
            <a:ext cx="2606040" cy="3200400"/>
          </a:xfrm>
          <a:prstGeom prst="rect">
            <a:avLst/>
          </a:prstGeom>
          <a:solidFill>
            <a:schemeClr val="accent3"/>
          </a:solidFill>
          <a:ln/>
        </p:spPr>
        <p:txBody>
          <a:bodyPr/>
          <a:lstStyle/>
          <a:p>
            <a:endParaRPr lang="es-PE"/>
          </a:p>
        </p:txBody>
      </p:sp>
      <p:sp>
        <p:nvSpPr>
          <p:cNvPr id="12" name="texto-79"/>
          <p:cNvSpPr txBox="1"/>
          <p:nvPr/>
        </p:nvSpPr>
        <p:spPr>
          <a:xfrm>
            <a:off x="6492240" y="1783080"/>
            <a:ext cx="2103120" cy="914400"/>
          </a:xfrm>
          <a:prstGeom prst="rect">
            <a:avLst/>
          </a:prstGeom>
          <a:noFill/>
          <a:ln/>
        </p:spPr>
        <p:txBody>
          <a:bodyPr wrap="square" lIns="0" tIns="0" rIns="0" bIns="0" rtlCol="0" anchor="ctr"/>
          <a:lstStyle/>
          <a:p>
            <a:pPr marL="0" indent="0">
              <a:buNone/>
            </a:pPr>
            <a:r>
              <a:rPr lang="en-US" sz="4400" dirty="0">
                <a:solidFill>
                  <a:schemeClr val="tx1"/>
                </a:solidFill>
                <a:latin typeface="Arial Black" pitchFamily="34" charset="0"/>
                <a:ea typeface="Arial Black" pitchFamily="34" charset="-122"/>
                <a:cs typeface="Arial Black" pitchFamily="34" charset="-120"/>
              </a:rPr>
              <a:t>3,233</a:t>
            </a:r>
            <a:endParaRPr lang="en-US" sz="4400" dirty="0"/>
          </a:p>
        </p:txBody>
      </p:sp>
      <p:sp>
        <p:nvSpPr>
          <p:cNvPr id="13" name="texto-80"/>
          <p:cNvSpPr txBox="1"/>
          <p:nvPr/>
        </p:nvSpPr>
        <p:spPr>
          <a:xfrm>
            <a:off x="6492240" y="2788920"/>
            <a:ext cx="2103120" cy="914400"/>
          </a:xfrm>
          <a:prstGeom prst="rect">
            <a:avLst/>
          </a:prstGeom>
          <a:noFill/>
          <a:ln/>
        </p:spPr>
        <p:txBody>
          <a:bodyPr wrap="square" lIns="0" tIns="0" rIns="0" bIns="0" rtlCol="0" anchor="t"/>
          <a:lstStyle/>
          <a:p>
            <a:pPr marL="0" indent="0">
              <a:buNone/>
            </a:pPr>
            <a:r>
              <a:rPr lang="en-US" sz="1600" b="1" dirty="0">
                <a:solidFill>
                  <a:schemeClr val="tx1"/>
                </a:solidFill>
              </a:rPr>
              <a:t>paraderos de la ATU</a:t>
            </a:r>
            <a:endParaRPr lang="en-US" sz="1600" dirty="0"/>
          </a:p>
        </p:txBody>
      </p:sp>
      <p:sp>
        <p:nvSpPr>
          <p:cNvPr id="14" name="texto-81"/>
          <p:cNvSpPr txBox="1"/>
          <p:nvPr/>
        </p:nvSpPr>
        <p:spPr>
          <a:xfrm>
            <a:off x="6492240" y="3794760"/>
            <a:ext cx="2103120" cy="822960"/>
          </a:xfrm>
          <a:prstGeom prst="rect">
            <a:avLst/>
          </a:prstGeom>
          <a:noFill/>
          <a:ln/>
        </p:spPr>
        <p:txBody>
          <a:bodyPr wrap="square" lIns="0" tIns="0" rIns="0" bIns="0" rtlCol="0" anchor="t"/>
          <a:lstStyle/>
          <a:p>
            <a:pPr marL="0" indent="0">
              <a:buNone/>
            </a:pPr>
            <a:r>
              <a:rPr lang="en-US" sz="1300" dirty="0">
                <a:solidFill>
                  <a:schemeClr val="tx1"/>
                </a:solidFill>
              </a:rPr>
              <a:t>Inventario de mayo de 2021. Mide la accesibilidad.</a:t>
            </a:r>
            <a:endParaRPr lang="en-US" sz="1300" dirty="0"/>
          </a:p>
        </p:txBody>
      </p:sp>
      <p:sp>
        <p:nvSpPr>
          <p:cNvPr id="15" name="caja-82"/>
          <p:cNvSpPr/>
          <p:nvPr/>
        </p:nvSpPr>
        <p:spPr>
          <a:xfrm>
            <a:off x="9052560" y="1554480"/>
            <a:ext cx="2606040" cy="3200400"/>
          </a:xfrm>
          <a:prstGeom prst="rect">
            <a:avLst/>
          </a:prstGeom>
          <a:solidFill>
            <a:schemeClr val="accent2"/>
          </a:solidFill>
          <a:ln/>
        </p:spPr>
        <p:txBody>
          <a:bodyPr/>
          <a:lstStyle/>
          <a:p>
            <a:endParaRPr lang="es-PE"/>
          </a:p>
        </p:txBody>
      </p:sp>
      <p:sp>
        <p:nvSpPr>
          <p:cNvPr id="16" name="texto-83"/>
          <p:cNvSpPr txBox="1"/>
          <p:nvPr/>
        </p:nvSpPr>
        <p:spPr>
          <a:xfrm>
            <a:off x="9326880" y="1783080"/>
            <a:ext cx="2103120" cy="914400"/>
          </a:xfrm>
          <a:prstGeom prst="rect">
            <a:avLst/>
          </a:prstGeom>
          <a:noFill/>
          <a:ln/>
        </p:spPr>
        <p:txBody>
          <a:bodyPr wrap="square" lIns="0" tIns="0" rIns="0" bIns="0" rtlCol="0" anchor="ctr"/>
          <a:lstStyle/>
          <a:p>
            <a:pPr marL="0" indent="0">
              <a:buNone/>
            </a:pPr>
            <a:r>
              <a:rPr lang="en-US" sz="4400" dirty="0">
                <a:solidFill>
                  <a:schemeClr val="bg1"/>
                </a:solidFill>
                <a:latin typeface="Arial Black" pitchFamily="34" charset="0"/>
                <a:ea typeface="Arial Black" pitchFamily="34" charset="-122"/>
                <a:cs typeface="Arial Black" pitchFamily="34" charset="-120"/>
              </a:rPr>
              <a:t>13</a:t>
            </a:r>
            <a:endParaRPr lang="en-US" sz="4400" dirty="0"/>
          </a:p>
        </p:txBody>
      </p:sp>
      <p:sp>
        <p:nvSpPr>
          <p:cNvPr id="17" name="texto-84"/>
          <p:cNvSpPr txBox="1"/>
          <p:nvPr/>
        </p:nvSpPr>
        <p:spPr>
          <a:xfrm>
            <a:off x="9326880" y="2788920"/>
            <a:ext cx="2103120" cy="914400"/>
          </a:xfrm>
          <a:prstGeom prst="rect">
            <a:avLst/>
          </a:prstGeom>
          <a:noFill/>
          <a:ln/>
        </p:spPr>
        <p:txBody>
          <a:bodyPr wrap="square" lIns="0" tIns="0" rIns="0" bIns="0" rtlCol="0" anchor="t"/>
          <a:lstStyle/>
          <a:p>
            <a:pPr marL="0" indent="0">
              <a:buNone/>
            </a:pPr>
            <a:r>
              <a:rPr lang="en-US" sz="1600" b="1" dirty="0">
                <a:solidFill>
                  <a:schemeClr val="bg1"/>
                </a:solidFill>
              </a:rPr>
              <a:t>series trimestrales del BCRP</a:t>
            </a:r>
            <a:endParaRPr lang="en-US" sz="1600" dirty="0"/>
          </a:p>
        </p:txBody>
      </p:sp>
      <p:sp>
        <p:nvSpPr>
          <p:cNvPr id="18" name="texto-85"/>
          <p:cNvSpPr txBox="1"/>
          <p:nvPr/>
        </p:nvSpPr>
        <p:spPr>
          <a:xfrm>
            <a:off x="9326880" y="3794760"/>
            <a:ext cx="2103120" cy="822960"/>
          </a:xfrm>
          <a:prstGeom prst="rect">
            <a:avLst/>
          </a:prstGeom>
          <a:noFill/>
          <a:ln/>
        </p:spPr>
        <p:txBody>
          <a:bodyPr wrap="square" lIns="0" tIns="0" rIns="0" bIns="0" rtlCol="0" anchor="t"/>
          <a:lstStyle/>
          <a:p>
            <a:pPr marL="0" indent="0">
              <a:buNone/>
            </a:pPr>
            <a:r>
              <a:rPr lang="en-US" sz="1300" dirty="0">
                <a:solidFill>
                  <a:schemeClr val="bg1"/>
                </a:solidFill>
              </a:rPr>
              <a:t>Precio por m² por distrito. Alimentan la tendencia.</a:t>
            </a:r>
            <a:endParaRPr lang="en-US" sz="1300" dirty="0"/>
          </a:p>
        </p:txBody>
      </p:sp>
      <p:sp>
        <p:nvSpPr>
          <p:cNvPr id="19" name="texto-86"/>
          <p:cNvSpPr txBox="1"/>
          <p:nvPr/>
        </p:nvSpPr>
        <p:spPr>
          <a:xfrm>
            <a:off x="548640" y="5120640"/>
            <a:ext cx="11094415" cy="731520"/>
          </a:xfrm>
          <a:prstGeom prst="rect">
            <a:avLst/>
          </a:prstGeom>
          <a:noFill/>
          <a:ln/>
        </p:spPr>
        <p:txBody>
          <a:bodyPr wrap="square" lIns="0" tIns="0" rIns="0" bIns="0" rtlCol="0" anchor="t"/>
          <a:lstStyle/>
          <a:p>
            <a:pPr marL="0" indent="0">
              <a:buNone/>
            </a:pPr>
            <a:r>
              <a:rPr lang="en-US" sz="1500" b="1" dirty="0">
                <a:solidFill>
                  <a:schemeClr val="tx1"/>
                </a:solidFill>
              </a:rPr>
              <a:t>Flujo: </a:t>
            </a:r>
            <a:r>
              <a:rPr lang="en-US" sz="1500" dirty="0">
                <a:solidFill>
                  <a:schemeClr val="tx1"/>
                </a:solidFill>
              </a:rPr>
              <a:t>descarga de los portales → preprocesar.py (mismas reglas de la Semana 7) → data/mercado.csv → la app. </a:t>
            </a:r>
            <a:r>
              <a:rPr lang="en-US" sz="1500" b="1" dirty="0">
                <a:solidFill>
                  <a:schemeClr val="tx1"/>
                </a:solidFill>
              </a:rPr>
              <a:t>Al repositorio no llegan direcciones ni contactos.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Arquitectura del prototipo</a:t>
            </a:r>
            <a:endParaRPr lang="en-US" sz="3200" dirty="0"/>
          </a:p>
        </p:txBody>
      </p:sp>
      <p:sp>
        <p:nvSpPr>
          <p:cNvPr id="3" name="marco-render"/>
          <p:cNvSpPr/>
          <p:nvPr/>
        </p:nvSpPr>
        <p:spPr>
          <a:xfrm>
            <a:off x="3246120" y="1371600"/>
            <a:ext cx="5623560" cy="4160520"/>
          </a:xfrm>
          <a:prstGeom prst="rect">
            <a:avLst/>
          </a:prstGeom>
          <a:ln w="15875">
            <a:solidFill>
              <a:schemeClr val="accent5"/>
            </a:solidFill>
            <a:prstDash val="dash"/>
          </a:ln>
        </p:spPr>
        <p:txBody>
          <a:bodyPr/>
          <a:lstStyle/>
          <a:p>
            <a:endParaRPr lang="es-PE"/>
          </a:p>
        </p:txBody>
      </p:sp>
      <p:sp>
        <p:nvSpPr>
          <p:cNvPr id="4" name="texto-87"/>
          <p:cNvSpPr txBox="1"/>
          <p:nvPr/>
        </p:nvSpPr>
        <p:spPr>
          <a:xfrm>
            <a:off x="3429000" y="1463040"/>
            <a:ext cx="3657600" cy="256032"/>
          </a:xfrm>
          <a:prstGeom prst="rect">
            <a:avLst/>
          </a:prstGeom>
          <a:noFill/>
          <a:ln/>
        </p:spPr>
        <p:txBody>
          <a:bodyPr wrap="square" lIns="0" tIns="0" rIns="0" bIns="0" rtlCol="0" anchor="t"/>
          <a:lstStyle/>
          <a:p>
            <a:pPr marL="0" indent="0">
              <a:buNone/>
            </a:pPr>
            <a:r>
              <a:rPr lang="en-US" sz="1100" b="1" dirty="0">
                <a:solidFill>
                  <a:schemeClr val="accent5"/>
                </a:solidFill>
              </a:rPr>
              <a:t>Render · un solo servicio</a:t>
            </a:r>
            <a:endParaRPr lang="en-US" sz="1100" dirty="0"/>
          </a:p>
        </p:txBody>
      </p:sp>
      <p:sp>
        <p:nvSpPr>
          <p:cNvPr id="5" name="caja-88"/>
          <p:cNvSpPr/>
          <p:nvPr/>
        </p:nvSpPr>
        <p:spPr>
          <a:xfrm>
            <a:off x="548640" y="3108960"/>
            <a:ext cx="2377440" cy="960120"/>
          </a:xfrm>
          <a:prstGeom prst="rect">
            <a:avLst/>
          </a:prstGeom>
          <a:solidFill>
            <a:schemeClr val="accent3"/>
          </a:solidFill>
          <a:ln/>
        </p:spPr>
        <p:txBody>
          <a:bodyPr/>
          <a:lstStyle/>
          <a:p>
            <a:endParaRPr lang="es-PE"/>
          </a:p>
        </p:txBody>
      </p:sp>
      <p:sp>
        <p:nvSpPr>
          <p:cNvPr id="6" name="texto-89"/>
          <p:cNvSpPr txBox="1"/>
          <p:nvPr/>
        </p:nvSpPr>
        <p:spPr>
          <a:xfrm>
            <a:off x="713232" y="3236976"/>
            <a:ext cx="2048256" cy="704088"/>
          </a:xfrm>
          <a:prstGeom prst="rect">
            <a:avLst/>
          </a:prstGeom>
          <a:noFill/>
          <a:ln/>
        </p:spPr>
        <p:txBody>
          <a:bodyPr wrap="square" lIns="0" tIns="0" rIns="0" bIns="0" rtlCol="0" anchor="t"/>
          <a:lstStyle/>
          <a:p>
            <a:pPr marL="0" indent="0">
              <a:buNone/>
            </a:pPr>
            <a:r>
              <a:rPr lang="en-US" sz="1400" b="1" dirty="0">
                <a:solidFill>
                  <a:schemeClr val="tx1"/>
                </a:solidFill>
              </a:rPr>
              <a:t>Navegador</a:t>
            </a:r>
            <a:endParaRPr lang="en-US" sz="1400" dirty="0"/>
          </a:p>
          <a:p>
            <a:pPr marL="0" indent="0">
              <a:buNone/>
            </a:pPr>
            <a:r>
              <a:rPr lang="en-US" sz="1100" dirty="0">
                <a:solidFill>
                  <a:schemeClr val="tx1"/>
                </a:solidFill>
              </a:rPr>
              <a:t>HTML + CSS + JS en módulos · mapa Leaflet</a:t>
            </a:r>
            <a:endParaRPr lang="en-US" sz="1400" dirty="0"/>
          </a:p>
        </p:txBody>
      </p:sp>
      <p:sp>
        <p:nvSpPr>
          <p:cNvPr id="7" name="caja-90"/>
          <p:cNvSpPr/>
          <p:nvPr/>
        </p:nvSpPr>
        <p:spPr>
          <a:xfrm>
            <a:off x="3429000" y="1783080"/>
            <a:ext cx="2377440" cy="3611880"/>
          </a:xfrm>
          <a:prstGeom prst="rect">
            <a:avLst/>
          </a:prstGeom>
          <a:solidFill>
            <a:schemeClr val="tx1"/>
          </a:solidFill>
          <a:ln/>
        </p:spPr>
        <p:txBody>
          <a:bodyPr/>
          <a:lstStyle/>
          <a:p>
            <a:endParaRPr lang="es-PE"/>
          </a:p>
        </p:txBody>
      </p:sp>
      <p:sp>
        <p:nvSpPr>
          <p:cNvPr id="8" name="texto-91"/>
          <p:cNvSpPr txBox="1"/>
          <p:nvPr/>
        </p:nvSpPr>
        <p:spPr>
          <a:xfrm>
            <a:off x="3593592" y="1911096"/>
            <a:ext cx="2048256" cy="3355848"/>
          </a:xfrm>
          <a:prstGeom prst="rect">
            <a:avLst/>
          </a:prstGeom>
          <a:noFill/>
          <a:ln/>
        </p:spPr>
        <p:txBody>
          <a:bodyPr wrap="square" lIns="0" tIns="0" rIns="0" bIns="0" rtlCol="0" anchor="t"/>
          <a:lstStyle/>
          <a:p>
            <a:pPr marL="0" indent="0">
              <a:buNone/>
            </a:pPr>
            <a:r>
              <a:rPr lang="en-US" sz="1400" b="1" dirty="0">
                <a:solidFill>
                  <a:schemeClr val="bg1"/>
                </a:solidFill>
              </a:rPr>
              <a:t>API FastAPI</a:t>
            </a:r>
            <a:endParaRPr lang="en-US" sz="1400" dirty="0"/>
          </a:p>
          <a:p>
            <a:pPr marL="0" indent="0">
              <a:buNone/>
            </a:pPr>
            <a:r>
              <a:rPr lang="en-US" sz="1100" dirty="0">
                <a:solidFill>
                  <a:schemeClr val="bg1"/>
                </a:solidFill>
              </a:rPr>
              <a:t>code/api.py</a:t>
            </a:r>
            <a:endParaRPr lang="en-US" sz="1400" dirty="0"/>
          </a:p>
          <a:p>
            <a:pPr marL="0" indent="0">
              <a:buNone/>
            </a:pPr>
            <a:r>
              <a:rPr lang="en-US" sz="1100" dirty="0">
                <a:solidFill>
                  <a:schemeClr val="bg1"/>
                </a:solidFill>
              </a:rPr>
              <a:t>Endpoints JSON</a:t>
            </a:r>
            <a:endParaRPr lang="en-US" sz="1400" dirty="0"/>
          </a:p>
          <a:p>
            <a:pPr marL="0" indent="0">
              <a:buNone/>
            </a:pPr>
            <a:r>
              <a:rPr lang="en-US" sz="1100" dirty="0">
                <a:solidFill>
                  <a:schemeClr val="bg1"/>
                </a:solidFill>
              </a:rPr>
              <a:t>También sirve el frontend</a:t>
            </a:r>
            <a:endParaRPr lang="en-US" sz="1400" dirty="0"/>
          </a:p>
        </p:txBody>
      </p:sp>
      <p:sp>
        <p:nvSpPr>
          <p:cNvPr id="9" name="caja-92"/>
          <p:cNvSpPr/>
          <p:nvPr/>
        </p:nvSpPr>
        <p:spPr>
          <a:xfrm>
            <a:off x="6309360" y="1783080"/>
            <a:ext cx="2377440" cy="960120"/>
          </a:xfrm>
          <a:prstGeom prst="rect">
            <a:avLst/>
          </a:prstGeom>
          <a:solidFill>
            <a:schemeClr val="bg2"/>
          </a:solidFill>
          <a:ln/>
        </p:spPr>
        <p:txBody>
          <a:bodyPr/>
          <a:lstStyle/>
          <a:p>
            <a:endParaRPr lang="es-PE"/>
          </a:p>
        </p:txBody>
      </p:sp>
      <p:sp>
        <p:nvSpPr>
          <p:cNvPr id="10" name="texto-93"/>
          <p:cNvSpPr txBox="1"/>
          <p:nvPr/>
        </p:nvSpPr>
        <p:spPr>
          <a:xfrm>
            <a:off x="6473952" y="1911096"/>
            <a:ext cx="2048256" cy="704088"/>
          </a:xfrm>
          <a:prstGeom prst="rect">
            <a:avLst/>
          </a:prstGeom>
          <a:noFill/>
          <a:ln/>
        </p:spPr>
        <p:txBody>
          <a:bodyPr wrap="square" lIns="0" tIns="0" rIns="0" bIns="0" rtlCol="0" anchor="t"/>
          <a:lstStyle/>
          <a:p>
            <a:pPr marL="0" indent="0">
              <a:buNone/>
            </a:pPr>
            <a:r>
              <a:rPr lang="en-US" sz="1400" b="1" dirty="0">
                <a:solidFill>
                  <a:schemeClr val="tx1"/>
                </a:solidFill>
              </a:rPr>
              <a:t>6 componentes</a:t>
            </a:r>
            <a:endParaRPr lang="en-US" sz="1400" dirty="0"/>
          </a:p>
          <a:p>
            <a:pPr marL="0" indent="0">
              <a:buNone/>
            </a:pPr>
            <a:r>
              <a:rPr lang="en-US" sz="1100" dirty="0">
                <a:solidFill>
                  <a:schemeClr val="tx1"/>
                </a:solidFill>
              </a:rPr>
              <a:t>Modelos 1–6 en code/*.py</a:t>
            </a:r>
            <a:endParaRPr lang="en-US" sz="1400" dirty="0"/>
          </a:p>
        </p:txBody>
      </p:sp>
      <p:sp>
        <p:nvSpPr>
          <p:cNvPr id="11" name="caja-94"/>
          <p:cNvSpPr/>
          <p:nvPr/>
        </p:nvSpPr>
        <p:spPr>
          <a:xfrm>
            <a:off x="6309360" y="3108960"/>
            <a:ext cx="2377440" cy="960120"/>
          </a:xfrm>
          <a:prstGeom prst="rect">
            <a:avLst/>
          </a:prstGeom>
          <a:solidFill>
            <a:schemeClr val="bg2"/>
          </a:solidFill>
          <a:ln/>
        </p:spPr>
        <p:txBody>
          <a:bodyPr/>
          <a:lstStyle/>
          <a:p>
            <a:endParaRPr lang="es-PE"/>
          </a:p>
        </p:txBody>
      </p:sp>
      <p:sp>
        <p:nvSpPr>
          <p:cNvPr id="12" name="texto-95"/>
          <p:cNvSpPr txBox="1"/>
          <p:nvPr/>
        </p:nvSpPr>
        <p:spPr>
          <a:xfrm>
            <a:off x="6473952" y="3236976"/>
            <a:ext cx="2048256" cy="704088"/>
          </a:xfrm>
          <a:prstGeom prst="rect">
            <a:avLst/>
          </a:prstGeom>
          <a:noFill/>
          <a:ln/>
        </p:spPr>
        <p:txBody>
          <a:bodyPr wrap="square" lIns="0" tIns="0" rIns="0" bIns="0" rtlCol="0" anchor="t"/>
          <a:lstStyle/>
          <a:p>
            <a:pPr marL="0" indent="0">
              <a:buNone/>
            </a:pPr>
            <a:r>
              <a:rPr lang="en-US" sz="1400" b="1" dirty="0">
                <a:solidFill>
                  <a:schemeClr val="tx1"/>
                </a:solidFill>
              </a:rPr>
              <a:t>busqueda.py</a:t>
            </a:r>
            <a:endParaRPr lang="en-US" sz="1400" dirty="0"/>
          </a:p>
          <a:p>
            <a:pPr marL="0" indent="0">
              <a:buNone/>
            </a:pPr>
            <a:r>
              <a:rPr lang="en-US" sz="1100" dirty="0">
                <a:solidFill>
                  <a:schemeClr val="tx1"/>
                </a:solidFill>
              </a:rPr>
              <a:t>Mercado + publicados en DepaRent</a:t>
            </a:r>
            <a:endParaRPr lang="en-US" sz="1400" dirty="0"/>
          </a:p>
        </p:txBody>
      </p:sp>
      <p:sp>
        <p:nvSpPr>
          <p:cNvPr id="13" name="caja-96"/>
          <p:cNvSpPr/>
          <p:nvPr/>
        </p:nvSpPr>
        <p:spPr>
          <a:xfrm>
            <a:off x="6309360" y="4434840"/>
            <a:ext cx="2377440" cy="960120"/>
          </a:xfrm>
          <a:prstGeom prst="rect">
            <a:avLst/>
          </a:prstGeom>
          <a:solidFill>
            <a:schemeClr val="bg2"/>
          </a:solidFill>
          <a:ln/>
        </p:spPr>
        <p:txBody>
          <a:bodyPr/>
          <a:lstStyle/>
          <a:p>
            <a:endParaRPr lang="es-PE"/>
          </a:p>
        </p:txBody>
      </p:sp>
      <p:sp>
        <p:nvSpPr>
          <p:cNvPr id="14" name="texto-97"/>
          <p:cNvSpPr txBox="1"/>
          <p:nvPr/>
        </p:nvSpPr>
        <p:spPr>
          <a:xfrm>
            <a:off x="6473952" y="4562856"/>
            <a:ext cx="2048256" cy="704088"/>
          </a:xfrm>
          <a:prstGeom prst="rect">
            <a:avLst/>
          </a:prstGeom>
          <a:noFill/>
          <a:ln/>
        </p:spPr>
        <p:txBody>
          <a:bodyPr wrap="square" lIns="0" tIns="0" rIns="0" bIns="0" rtlCol="0" anchor="t"/>
          <a:lstStyle/>
          <a:p>
            <a:pPr marL="0" indent="0">
              <a:buNone/>
            </a:pPr>
            <a:r>
              <a:rPr lang="en-US" sz="1400" b="1" dirty="0">
                <a:solidFill>
                  <a:schemeClr val="tx1"/>
                </a:solidFill>
              </a:rPr>
              <a:t>cuentas.py</a:t>
            </a:r>
            <a:endParaRPr lang="en-US" sz="1400" dirty="0"/>
          </a:p>
          <a:p>
            <a:pPr marL="0" indent="0">
              <a:buNone/>
            </a:pPr>
            <a:r>
              <a:rPr lang="en-US" sz="1100" dirty="0">
                <a:solidFill>
                  <a:schemeClr val="tx1"/>
                </a:solidFill>
              </a:rPr>
              <a:t>Usuarios, departamentos e interesados</a:t>
            </a:r>
            <a:endParaRPr lang="en-US" sz="1400" dirty="0"/>
          </a:p>
        </p:txBody>
      </p:sp>
      <p:sp>
        <p:nvSpPr>
          <p:cNvPr id="15" name="caja-98"/>
          <p:cNvSpPr/>
          <p:nvPr/>
        </p:nvSpPr>
        <p:spPr>
          <a:xfrm>
            <a:off x="9189720" y="1783080"/>
            <a:ext cx="2377440" cy="960120"/>
          </a:xfrm>
          <a:prstGeom prst="rect">
            <a:avLst/>
          </a:prstGeom>
          <a:solidFill>
            <a:schemeClr val="accent3"/>
          </a:solidFill>
          <a:ln/>
        </p:spPr>
        <p:txBody>
          <a:bodyPr/>
          <a:lstStyle/>
          <a:p>
            <a:endParaRPr lang="es-PE"/>
          </a:p>
        </p:txBody>
      </p:sp>
      <p:sp>
        <p:nvSpPr>
          <p:cNvPr id="16" name="texto-99"/>
          <p:cNvSpPr txBox="1"/>
          <p:nvPr/>
        </p:nvSpPr>
        <p:spPr>
          <a:xfrm>
            <a:off x="9354312" y="1911096"/>
            <a:ext cx="2048256" cy="704088"/>
          </a:xfrm>
          <a:prstGeom prst="rect">
            <a:avLst/>
          </a:prstGeom>
          <a:noFill/>
          <a:ln/>
        </p:spPr>
        <p:txBody>
          <a:bodyPr wrap="square" lIns="0" tIns="0" rIns="0" bIns="0" rtlCol="0" anchor="t"/>
          <a:lstStyle/>
          <a:p>
            <a:pPr marL="0" indent="0">
              <a:buNone/>
            </a:pPr>
            <a:r>
              <a:rPr lang="en-US" sz="1400" b="1" dirty="0">
                <a:solidFill>
                  <a:schemeClr val="tx1"/>
                </a:solidFill>
              </a:rPr>
              <a:t>models/ · resultados/</a:t>
            </a:r>
            <a:endParaRPr lang="en-US" sz="1400" dirty="0"/>
          </a:p>
          <a:p>
            <a:pPr marL="0" indent="0">
              <a:buNone/>
            </a:pPr>
            <a:r>
              <a:rPr lang="en-US" sz="1100" dirty="0">
                <a:solidFill>
                  <a:schemeClr val="tx1"/>
                </a:solidFill>
              </a:rPr>
              <a:t>joblib con hash verificado · SARIMA</a:t>
            </a:r>
            <a:endParaRPr lang="en-US" sz="1400" dirty="0"/>
          </a:p>
        </p:txBody>
      </p:sp>
      <p:sp>
        <p:nvSpPr>
          <p:cNvPr id="17" name="caja-100"/>
          <p:cNvSpPr/>
          <p:nvPr/>
        </p:nvSpPr>
        <p:spPr>
          <a:xfrm>
            <a:off x="9189720" y="3108960"/>
            <a:ext cx="2377440" cy="960120"/>
          </a:xfrm>
          <a:prstGeom prst="rect">
            <a:avLst/>
          </a:prstGeom>
          <a:solidFill>
            <a:schemeClr val="accent3"/>
          </a:solidFill>
          <a:ln/>
        </p:spPr>
        <p:txBody>
          <a:bodyPr/>
          <a:lstStyle/>
          <a:p>
            <a:endParaRPr lang="es-PE"/>
          </a:p>
        </p:txBody>
      </p:sp>
      <p:sp>
        <p:nvSpPr>
          <p:cNvPr id="18" name="texto-101"/>
          <p:cNvSpPr txBox="1"/>
          <p:nvPr/>
        </p:nvSpPr>
        <p:spPr>
          <a:xfrm>
            <a:off x="9354312" y="3236976"/>
            <a:ext cx="2048256" cy="704088"/>
          </a:xfrm>
          <a:prstGeom prst="rect">
            <a:avLst/>
          </a:prstGeom>
          <a:noFill/>
          <a:ln/>
        </p:spPr>
        <p:txBody>
          <a:bodyPr wrap="square" lIns="0" tIns="0" rIns="0" bIns="0" rtlCol="0" anchor="t"/>
          <a:lstStyle/>
          <a:p>
            <a:pPr marL="0" indent="0">
              <a:buNone/>
            </a:pPr>
            <a:r>
              <a:rPr lang="en-US" sz="1400" b="1" dirty="0">
                <a:solidFill>
                  <a:schemeClr val="tx1"/>
                </a:solidFill>
              </a:rPr>
              <a:t>data/mercado.csv</a:t>
            </a:r>
            <a:endParaRPr lang="en-US" sz="1400" dirty="0"/>
          </a:p>
          <a:p>
            <a:pPr marL="0" indent="0">
              <a:buNone/>
            </a:pPr>
            <a:r>
              <a:rPr lang="en-US" sz="1100" dirty="0">
                <a:solidFill>
                  <a:schemeClr val="tx1"/>
                </a:solidFill>
              </a:rPr>
              <a:t>Se actualiza con GitHub Actions</a:t>
            </a:r>
            <a:endParaRPr lang="en-US" sz="1400" dirty="0"/>
          </a:p>
        </p:txBody>
      </p:sp>
      <p:sp>
        <p:nvSpPr>
          <p:cNvPr id="19" name="caja-102"/>
          <p:cNvSpPr/>
          <p:nvPr/>
        </p:nvSpPr>
        <p:spPr>
          <a:xfrm>
            <a:off x="9189720" y="4434840"/>
            <a:ext cx="2377440" cy="960120"/>
          </a:xfrm>
          <a:prstGeom prst="rect">
            <a:avLst/>
          </a:prstGeom>
          <a:solidFill>
            <a:schemeClr val="accent3"/>
          </a:solidFill>
          <a:ln/>
        </p:spPr>
        <p:txBody>
          <a:bodyPr/>
          <a:lstStyle/>
          <a:p>
            <a:endParaRPr lang="es-PE"/>
          </a:p>
        </p:txBody>
      </p:sp>
      <p:sp>
        <p:nvSpPr>
          <p:cNvPr id="20" name="texto-103"/>
          <p:cNvSpPr txBox="1"/>
          <p:nvPr/>
        </p:nvSpPr>
        <p:spPr>
          <a:xfrm>
            <a:off x="9354312" y="4562856"/>
            <a:ext cx="2048256" cy="704088"/>
          </a:xfrm>
          <a:prstGeom prst="rect">
            <a:avLst/>
          </a:prstGeom>
          <a:noFill/>
          <a:ln/>
        </p:spPr>
        <p:txBody>
          <a:bodyPr wrap="square" lIns="0" tIns="0" rIns="0" bIns="0" rtlCol="0" anchor="t"/>
          <a:lstStyle/>
          <a:p>
            <a:pPr marL="0" indent="0">
              <a:buNone/>
            </a:pPr>
            <a:r>
              <a:rPr lang="en-US" sz="1400" b="1" dirty="0">
                <a:solidFill>
                  <a:schemeClr val="tx1"/>
                </a:solidFill>
              </a:rPr>
              <a:t>Postgres · Neon</a:t>
            </a:r>
            <a:endParaRPr lang="en-US" sz="1400" dirty="0"/>
          </a:p>
          <a:p>
            <a:pPr marL="0" indent="0">
              <a:buNone/>
            </a:pPr>
            <a:r>
              <a:rPr lang="en-US" sz="1100" dirty="0">
                <a:solidFill>
                  <a:schemeClr val="tx1"/>
                </a:solidFill>
              </a:rPr>
              <a:t>Gratis y persistente (SQLite en local)</a:t>
            </a:r>
            <a:endParaRPr lang="en-US" sz="1400" dirty="0"/>
          </a:p>
        </p:txBody>
      </p:sp>
      <p:sp>
        <p:nvSpPr>
          <p:cNvPr id="21" name="flecha-104"/>
          <p:cNvSpPr/>
          <p:nvPr/>
        </p:nvSpPr>
        <p:spPr>
          <a:xfrm>
            <a:off x="2926080" y="3589020"/>
            <a:ext cx="502920" cy="0"/>
          </a:xfrm>
          <a:prstGeom prst="line">
            <a:avLst/>
          </a:prstGeom>
          <a:noFill/>
          <a:ln w="25400">
            <a:solidFill>
              <a:schemeClr val="accent4"/>
            </a:solidFill>
            <a:prstDash val="solid"/>
            <a:tailEnd type="triangle"/>
          </a:ln>
        </p:spPr>
        <p:txBody>
          <a:bodyPr/>
          <a:lstStyle/>
          <a:p>
            <a:endParaRPr lang="es-PE"/>
          </a:p>
        </p:txBody>
      </p:sp>
      <p:sp>
        <p:nvSpPr>
          <p:cNvPr id="22" name="flecha-105"/>
          <p:cNvSpPr/>
          <p:nvPr/>
        </p:nvSpPr>
        <p:spPr>
          <a:xfrm>
            <a:off x="5806440" y="2263140"/>
            <a:ext cx="502920" cy="0"/>
          </a:xfrm>
          <a:prstGeom prst="line">
            <a:avLst/>
          </a:prstGeom>
          <a:noFill/>
          <a:ln w="25400">
            <a:solidFill>
              <a:schemeClr val="accent4"/>
            </a:solidFill>
            <a:prstDash val="solid"/>
            <a:tailEnd type="triangle"/>
          </a:ln>
        </p:spPr>
        <p:txBody>
          <a:bodyPr/>
          <a:lstStyle/>
          <a:p>
            <a:endParaRPr lang="es-PE"/>
          </a:p>
        </p:txBody>
      </p:sp>
      <p:sp>
        <p:nvSpPr>
          <p:cNvPr id="23" name="flecha-106"/>
          <p:cNvSpPr/>
          <p:nvPr/>
        </p:nvSpPr>
        <p:spPr>
          <a:xfrm>
            <a:off x="8686800" y="2263140"/>
            <a:ext cx="502920" cy="0"/>
          </a:xfrm>
          <a:prstGeom prst="line">
            <a:avLst/>
          </a:prstGeom>
          <a:noFill/>
          <a:ln w="25400">
            <a:solidFill>
              <a:schemeClr val="accent4"/>
            </a:solidFill>
            <a:prstDash val="solid"/>
            <a:tailEnd type="triangle"/>
          </a:ln>
        </p:spPr>
        <p:txBody>
          <a:bodyPr/>
          <a:lstStyle/>
          <a:p>
            <a:endParaRPr lang="es-PE"/>
          </a:p>
        </p:txBody>
      </p:sp>
      <p:sp>
        <p:nvSpPr>
          <p:cNvPr id="24" name="flecha-107"/>
          <p:cNvSpPr/>
          <p:nvPr/>
        </p:nvSpPr>
        <p:spPr>
          <a:xfrm>
            <a:off x="5806440" y="3589020"/>
            <a:ext cx="502920" cy="0"/>
          </a:xfrm>
          <a:prstGeom prst="line">
            <a:avLst/>
          </a:prstGeom>
          <a:noFill/>
          <a:ln w="25400">
            <a:solidFill>
              <a:schemeClr val="accent4"/>
            </a:solidFill>
            <a:prstDash val="solid"/>
            <a:tailEnd type="triangle"/>
          </a:ln>
        </p:spPr>
        <p:txBody>
          <a:bodyPr/>
          <a:lstStyle/>
          <a:p>
            <a:endParaRPr lang="es-PE"/>
          </a:p>
        </p:txBody>
      </p:sp>
      <p:sp>
        <p:nvSpPr>
          <p:cNvPr id="25" name="flecha-108"/>
          <p:cNvSpPr/>
          <p:nvPr/>
        </p:nvSpPr>
        <p:spPr>
          <a:xfrm>
            <a:off x="8686800" y="3589020"/>
            <a:ext cx="502920" cy="0"/>
          </a:xfrm>
          <a:prstGeom prst="line">
            <a:avLst/>
          </a:prstGeom>
          <a:noFill/>
          <a:ln w="25400">
            <a:solidFill>
              <a:schemeClr val="accent4"/>
            </a:solidFill>
            <a:prstDash val="solid"/>
            <a:tailEnd type="triangle"/>
          </a:ln>
        </p:spPr>
        <p:txBody>
          <a:bodyPr/>
          <a:lstStyle/>
          <a:p>
            <a:endParaRPr lang="es-PE"/>
          </a:p>
        </p:txBody>
      </p:sp>
      <p:sp>
        <p:nvSpPr>
          <p:cNvPr id="26" name="flecha-109"/>
          <p:cNvSpPr/>
          <p:nvPr/>
        </p:nvSpPr>
        <p:spPr>
          <a:xfrm>
            <a:off x="5806440" y="4914900"/>
            <a:ext cx="502920" cy="0"/>
          </a:xfrm>
          <a:prstGeom prst="line">
            <a:avLst/>
          </a:prstGeom>
          <a:noFill/>
          <a:ln w="25400">
            <a:solidFill>
              <a:schemeClr val="accent4"/>
            </a:solidFill>
            <a:prstDash val="solid"/>
            <a:tailEnd type="triangle"/>
          </a:ln>
        </p:spPr>
        <p:txBody>
          <a:bodyPr/>
          <a:lstStyle/>
          <a:p>
            <a:endParaRPr lang="es-PE"/>
          </a:p>
        </p:txBody>
      </p:sp>
      <p:sp>
        <p:nvSpPr>
          <p:cNvPr id="27" name="flecha-110"/>
          <p:cNvSpPr/>
          <p:nvPr/>
        </p:nvSpPr>
        <p:spPr>
          <a:xfrm>
            <a:off x="8686800" y="4914900"/>
            <a:ext cx="502920" cy="0"/>
          </a:xfrm>
          <a:prstGeom prst="line">
            <a:avLst/>
          </a:prstGeom>
          <a:noFill/>
          <a:ln w="25400">
            <a:solidFill>
              <a:schemeClr val="accent4"/>
            </a:solidFill>
            <a:prstDash val="solid"/>
            <a:tailEnd type="triangle"/>
          </a:ln>
        </p:spPr>
        <p:txBody>
          <a:bodyPr/>
          <a:lstStyle/>
          <a:p>
            <a:endParaRPr lang="es-PE"/>
          </a:p>
        </p:txBody>
      </p:sp>
      <p:sp>
        <p:nvSpPr>
          <p:cNvPr id="28" name="caja-111"/>
          <p:cNvSpPr/>
          <p:nvPr/>
        </p:nvSpPr>
        <p:spPr>
          <a:xfrm>
            <a:off x="548640" y="5687568"/>
            <a:ext cx="329184" cy="329184"/>
          </a:xfrm>
          <a:prstGeom prst="rect">
            <a:avLst/>
          </a:prstGeom>
          <a:solidFill>
            <a:schemeClr val="accent1"/>
          </a:solidFill>
          <a:ln/>
        </p:spPr>
        <p:txBody>
          <a:bodyPr/>
          <a:lstStyle/>
          <a:p>
            <a:endParaRPr lang="es-PE"/>
          </a:p>
        </p:txBody>
      </p:sp>
      <p:sp>
        <p:nvSpPr>
          <p:cNvPr id="29" name="texto-112"/>
          <p:cNvSpPr txBox="1"/>
          <p:nvPr/>
        </p:nvSpPr>
        <p:spPr>
          <a:xfrm>
            <a:off x="548640" y="5687568"/>
            <a:ext cx="329184" cy="329184"/>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a:t>
            </a:r>
            <a:endParaRPr lang="en-US" sz="1400" dirty="0"/>
          </a:p>
        </p:txBody>
      </p:sp>
      <p:sp>
        <p:nvSpPr>
          <p:cNvPr id="30" name="texto-113"/>
          <p:cNvSpPr txBox="1"/>
          <p:nvPr/>
        </p:nvSpPr>
        <p:spPr>
          <a:xfrm>
            <a:off x="1005840" y="5687568"/>
            <a:ext cx="10637215" cy="329184"/>
          </a:xfrm>
          <a:prstGeom prst="rect">
            <a:avLst/>
          </a:prstGeom>
          <a:noFill/>
          <a:ln/>
        </p:spPr>
        <p:txBody>
          <a:bodyPr wrap="square" lIns="0" tIns="0" rIns="0" bIns="0" rtlCol="0" anchor="ctr"/>
          <a:lstStyle/>
          <a:p>
            <a:pPr marL="0" indent="0">
              <a:buNone/>
            </a:pPr>
            <a:r>
              <a:rPr lang="en-US" sz="1300" dirty="0">
                <a:solidFill>
                  <a:schemeClr val="tx1"/>
                </a:solidFill>
              </a:rPr>
              <a:t>Cada día, GitHub Actions descarga el mercado y hace commit en main; Render vuelve a desplegar solo.</a:t>
            </a:r>
            <a:endParaRPr lang="en-US" sz="1300" dirty="0"/>
          </a:p>
        </p:txBody>
      </p:sp>
      <p:sp>
        <p:nvSpPr>
          <p:cNvPr id="31"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Seis componentes analíticos</a:t>
            </a:r>
            <a:endParaRPr lang="en-US" sz="3200" dirty="0"/>
          </a:p>
        </p:txBody>
      </p:sp>
      <p:sp>
        <p:nvSpPr>
          <p:cNvPr id="3" name="caja-114"/>
          <p:cNvSpPr/>
          <p:nvPr/>
        </p:nvSpPr>
        <p:spPr>
          <a:xfrm>
            <a:off x="548640" y="1508760"/>
            <a:ext cx="3520440" cy="2148840"/>
          </a:xfrm>
          <a:prstGeom prst="rect">
            <a:avLst/>
          </a:prstGeom>
          <a:solidFill>
            <a:schemeClr val="bg2"/>
          </a:solidFill>
          <a:ln/>
        </p:spPr>
        <p:txBody>
          <a:bodyPr/>
          <a:lstStyle/>
          <a:p>
            <a:endParaRPr lang="es-PE"/>
          </a:p>
        </p:txBody>
      </p:sp>
      <p:sp>
        <p:nvSpPr>
          <p:cNvPr id="4" name="caja-115"/>
          <p:cNvSpPr/>
          <p:nvPr/>
        </p:nvSpPr>
        <p:spPr>
          <a:xfrm>
            <a:off x="777240" y="1737360"/>
            <a:ext cx="384048" cy="384048"/>
          </a:xfrm>
          <a:prstGeom prst="rect">
            <a:avLst/>
          </a:prstGeom>
          <a:solidFill>
            <a:schemeClr val="accent1"/>
          </a:solidFill>
          <a:ln/>
        </p:spPr>
        <p:txBody>
          <a:bodyPr/>
          <a:lstStyle/>
          <a:p>
            <a:endParaRPr lang="es-PE"/>
          </a:p>
        </p:txBody>
      </p:sp>
      <p:sp>
        <p:nvSpPr>
          <p:cNvPr id="5" name="texto-116"/>
          <p:cNvSpPr txBox="1"/>
          <p:nvPr/>
        </p:nvSpPr>
        <p:spPr>
          <a:xfrm>
            <a:off x="777240" y="17373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1</a:t>
            </a:r>
            <a:endParaRPr lang="en-US" sz="1400" dirty="0"/>
          </a:p>
        </p:txBody>
      </p:sp>
      <p:sp>
        <p:nvSpPr>
          <p:cNvPr id="6" name="texto-117"/>
          <p:cNvSpPr txBox="1"/>
          <p:nvPr/>
        </p:nvSpPr>
        <p:spPr>
          <a:xfrm>
            <a:off x="1325880" y="1737360"/>
            <a:ext cx="2560320" cy="384048"/>
          </a:xfrm>
          <a:prstGeom prst="rect">
            <a:avLst/>
          </a:prstGeom>
          <a:noFill/>
          <a:ln/>
        </p:spPr>
        <p:txBody>
          <a:bodyPr wrap="square" lIns="0" tIns="0" rIns="0" bIns="0" rtlCol="0" anchor="ctr"/>
          <a:lstStyle/>
          <a:p>
            <a:pPr marL="0" indent="0">
              <a:buNone/>
            </a:pPr>
            <a:r>
              <a:rPr lang="en-US" sz="1800" b="1" dirty="0">
                <a:solidFill>
                  <a:schemeClr val="tx1"/>
                </a:solidFill>
              </a:rPr>
              <a:t>Perfil competitivo</a:t>
            </a:r>
            <a:endParaRPr lang="en-US" sz="1800" dirty="0"/>
          </a:p>
        </p:txBody>
      </p:sp>
      <p:sp>
        <p:nvSpPr>
          <p:cNvPr id="7" name="texto-118"/>
          <p:cNvSpPr txBox="1"/>
          <p:nvPr/>
        </p:nvSpPr>
        <p:spPr>
          <a:xfrm>
            <a:off x="777240" y="2331720"/>
            <a:ext cx="3063240" cy="594360"/>
          </a:xfrm>
          <a:prstGeom prst="rect">
            <a:avLst/>
          </a:prstGeom>
          <a:noFill/>
          <a:ln/>
        </p:spPr>
        <p:txBody>
          <a:bodyPr wrap="square" lIns="0" tIns="0" rIns="0" bIns="0" rtlCol="0" anchor="t"/>
          <a:lstStyle/>
          <a:p>
            <a:pPr marL="0" indent="0">
              <a:buNone/>
            </a:pPr>
            <a:r>
              <a:rPr lang="en-US" sz="1400" dirty="0">
                <a:solidFill>
                  <a:schemeClr val="tx1"/>
                </a:solidFill>
              </a:rPr>
              <a:t>K-Means (k = 4, sin precio) + vecinos cercanos</a:t>
            </a:r>
            <a:endParaRPr lang="en-US" sz="1400" dirty="0"/>
          </a:p>
        </p:txBody>
      </p:sp>
      <p:sp>
        <p:nvSpPr>
          <p:cNvPr id="8" name="texto-119"/>
          <p:cNvSpPr txBox="1"/>
          <p:nvPr/>
        </p:nvSpPr>
        <p:spPr>
          <a:xfrm>
            <a:off x="777240" y="2971800"/>
            <a:ext cx="3063240" cy="502920"/>
          </a:xfrm>
          <a:prstGeom prst="rect">
            <a:avLst/>
          </a:prstGeom>
          <a:noFill/>
          <a:ln/>
        </p:spPr>
        <p:txBody>
          <a:bodyPr wrap="square" lIns="0" tIns="0" rIns="0" bIns="0" rtlCol="0" anchor="t"/>
          <a:lstStyle/>
          <a:p>
            <a:pPr marL="0" indent="0">
              <a:buNone/>
            </a:pPr>
            <a:r>
              <a:rPr lang="en-US" sz="1300" i="1" dirty="0">
                <a:solidFill>
                  <a:schemeClr val="tx2"/>
                </a:solidFill>
              </a:rPr>
              <a:t>Con quién compite y sus 8 comparables</a:t>
            </a:r>
            <a:endParaRPr lang="en-US" sz="1300" dirty="0"/>
          </a:p>
        </p:txBody>
      </p:sp>
      <p:sp>
        <p:nvSpPr>
          <p:cNvPr id="9" name="caja-120"/>
          <p:cNvSpPr/>
          <p:nvPr/>
        </p:nvSpPr>
        <p:spPr>
          <a:xfrm>
            <a:off x="4343400" y="1508760"/>
            <a:ext cx="3520440" cy="2148840"/>
          </a:xfrm>
          <a:prstGeom prst="rect">
            <a:avLst/>
          </a:prstGeom>
          <a:solidFill>
            <a:schemeClr val="bg2"/>
          </a:solidFill>
          <a:ln/>
        </p:spPr>
        <p:txBody>
          <a:bodyPr/>
          <a:lstStyle/>
          <a:p>
            <a:endParaRPr lang="es-PE"/>
          </a:p>
        </p:txBody>
      </p:sp>
      <p:sp>
        <p:nvSpPr>
          <p:cNvPr id="10" name="caja-121"/>
          <p:cNvSpPr/>
          <p:nvPr/>
        </p:nvSpPr>
        <p:spPr>
          <a:xfrm>
            <a:off x="4572000" y="1737360"/>
            <a:ext cx="384048" cy="384048"/>
          </a:xfrm>
          <a:prstGeom prst="rect">
            <a:avLst/>
          </a:prstGeom>
          <a:solidFill>
            <a:schemeClr val="accent1"/>
          </a:solidFill>
          <a:ln/>
        </p:spPr>
        <p:txBody>
          <a:bodyPr/>
          <a:lstStyle/>
          <a:p>
            <a:endParaRPr lang="es-PE"/>
          </a:p>
        </p:txBody>
      </p:sp>
      <p:sp>
        <p:nvSpPr>
          <p:cNvPr id="11" name="texto-122"/>
          <p:cNvSpPr txBox="1"/>
          <p:nvPr/>
        </p:nvSpPr>
        <p:spPr>
          <a:xfrm>
            <a:off x="4572000" y="17373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2</a:t>
            </a:r>
            <a:endParaRPr lang="en-US" sz="1400" dirty="0"/>
          </a:p>
        </p:txBody>
      </p:sp>
      <p:sp>
        <p:nvSpPr>
          <p:cNvPr id="12" name="texto-123"/>
          <p:cNvSpPr txBox="1"/>
          <p:nvPr/>
        </p:nvSpPr>
        <p:spPr>
          <a:xfrm>
            <a:off x="5120640" y="1737360"/>
            <a:ext cx="2560320" cy="384048"/>
          </a:xfrm>
          <a:prstGeom prst="rect">
            <a:avLst/>
          </a:prstGeom>
          <a:noFill/>
          <a:ln/>
        </p:spPr>
        <p:txBody>
          <a:bodyPr wrap="square" lIns="0" tIns="0" rIns="0" bIns="0" rtlCol="0" anchor="ctr"/>
          <a:lstStyle/>
          <a:p>
            <a:pPr marL="0" indent="0">
              <a:buNone/>
            </a:pPr>
            <a:r>
              <a:rPr lang="en-US" sz="1800" b="1" dirty="0">
                <a:solidFill>
                  <a:schemeClr val="tx1"/>
                </a:solidFill>
              </a:rPr>
              <a:t>Accesibilidad</a:t>
            </a:r>
            <a:endParaRPr lang="en-US" sz="1800" dirty="0"/>
          </a:p>
        </p:txBody>
      </p:sp>
      <p:sp>
        <p:nvSpPr>
          <p:cNvPr id="13" name="texto-124"/>
          <p:cNvSpPr txBox="1"/>
          <p:nvPr/>
        </p:nvSpPr>
        <p:spPr>
          <a:xfrm>
            <a:off x="4572000" y="2331720"/>
            <a:ext cx="3063240" cy="594360"/>
          </a:xfrm>
          <a:prstGeom prst="rect">
            <a:avLst/>
          </a:prstGeom>
          <a:noFill/>
          <a:ln/>
        </p:spPr>
        <p:txBody>
          <a:bodyPr wrap="square" lIns="0" tIns="0" rIns="0" bIns="0" rtlCol="0" anchor="t"/>
          <a:lstStyle/>
          <a:p>
            <a:pPr marL="0" indent="0">
              <a:buNone/>
            </a:pPr>
            <a:r>
              <a:rPr lang="en-US" sz="1400" dirty="0">
                <a:solidFill>
                  <a:schemeClr val="tx1"/>
                </a:solidFill>
              </a:rPr>
              <a:t>Paraderos ATU con cKDTree en metros</a:t>
            </a:r>
            <a:endParaRPr lang="en-US" sz="1400" dirty="0"/>
          </a:p>
        </p:txBody>
      </p:sp>
      <p:sp>
        <p:nvSpPr>
          <p:cNvPr id="14" name="texto-125"/>
          <p:cNvSpPr txBox="1"/>
          <p:nvPr/>
        </p:nvSpPr>
        <p:spPr>
          <a:xfrm>
            <a:off x="4572000" y="2971800"/>
            <a:ext cx="3063240" cy="502920"/>
          </a:xfrm>
          <a:prstGeom prst="rect">
            <a:avLst/>
          </a:prstGeom>
          <a:noFill/>
          <a:ln/>
        </p:spPr>
        <p:txBody>
          <a:bodyPr wrap="square" lIns="0" tIns="0" rIns="0" bIns="0" rtlCol="0" anchor="t"/>
          <a:lstStyle/>
          <a:p>
            <a:pPr marL="0" indent="0">
              <a:buNone/>
            </a:pPr>
            <a:r>
              <a:rPr lang="en-US" sz="1300" i="1" dirty="0">
                <a:solidFill>
                  <a:schemeClr val="tx2"/>
                </a:solidFill>
              </a:rPr>
              <a:t>Distancia al paradero más cercano</a:t>
            </a:r>
            <a:endParaRPr lang="en-US" sz="1300" dirty="0"/>
          </a:p>
        </p:txBody>
      </p:sp>
      <p:sp>
        <p:nvSpPr>
          <p:cNvPr id="15" name="caja-126"/>
          <p:cNvSpPr/>
          <p:nvPr/>
        </p:nvSpPr>
        <p:spPr>
          <a:xfrm>
            <a:off x="8138160" y="1508760"/>
            <a:ext cx="3520440" cy="2148840"/>
          </a:xfrm>
          <a:prstGeom prst="rect">
            <a:avLst/>
          </a:prstGeom>
          <a:solidFill>
            <a:schemeClr val="accent3"/>
          </a:solidFill>
          <a:ln/>
        </p:spPr>
        <p:txBody>
          <a:bodyPr/>
          <a:lstStyle/>
          <a:p>
            <a:endParaRPr lang="es-PE"/>
          </a:p>
        </p:txBody>
      </p:sp>
      <p:sp>
        <p:nvSpPr>
          <p:cNvPr id="16" name="caja-127"/>
          <p:cNvSpPr/>
          <p:nvPr/>
        </p:nvSpPr>
        <p:spPr>
          <a:xfrm>
            <a:off x="8366760" y="1737360"/>
            <a:ext cx="384048" cy="384048"/>
          </a:xfrm>
          <a:prstGeom prst="rect">
            <a:avLst/>
          </a:prstGeom>
          <a:solidFill>
            <a:schemeClr val="accent1"/>
          </a:solidFill>
          <a:ln/>
        </p:spPr>
        <p:txBody>
          <a:bodyPr/>
          <a:lstStyle/>
          <a:p>
            <a:endParaRPr lang="es-PE"/>
          </a:p>
        </p:txBody>
      </p:sp>
      <p:sp>
        <p:nvSpPr>
          <p:cNvPr id="17" name="texto-128"/>
          <p:cNvSpPr txBox="1"/>
          <p:nvPr/>
        </p:nvSpPr>
        <p:spPr>
          <a:xfrm>
            <a:off x="8366760" y="17373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3</a:t>
            </a:r>
            <a:endParaRPr lang="en-US" sz="1400" dirty="0"/>
          </a:p>
        </p:txBody>
      </p:sp>
      <p:sp>
        <p:nvSpPr>
          <p:cNvPr id="18" name="texto-129"/>
          <p:cNvSpPr txBox="1"/>
          <p:nvPr/>
        </p:nvSpPr>
        <p:spPr>
          <a:xfrm>
            <a:off x="8915400" y="1737360"/>
            <a:ext cx="2560320" cy="384048"/>
          </a:xfrm>
          <a:prstGeom prst="rect">
            <a:avLst/>
          </a:prstGeom>
          <a:noFill/>
          <a:ln/>
        </p:spPr>
        <p:txBody>
          <a:bodyPr wrap="square" lIns="0" tIns="0" rIns="0" bIns="0" rtlCol="0" anchor="ctr"/>
          <a:lstStyle/>
          <a:p>
            <a:pPr marL="0" indent="0">
              <a:buNone/>
            </a:pPr>
            <a:r>
              <a:rPr lang="en-US" sz="1800" b="1" dirty="0">
                <a:solidFill>
                  <a:schemeClr val="tx1"/>
                </a:solidFill>
              </a:rPr>
              <a:t>Precio esperado</a:t>
            </a:r>
            <a:endParaRPr lang="en-US" sz="1800" dirty="0"/>
          </a:p>
        </p:txBody>
      </p:sp>
      <p:sp>
        <p:nvSpPr>
          <p:cNvPr id="19" name="texto-130"/>
          <p:cNvSpPr txBox="1"/>
          <p:nvPr/>
        </p:nvSpPr>
        <p:spPr>
          <a:xfrm>
            <a:off x="8366760" y="2331720"/>
            <a:ext cx="3063240" cy="594360"/>
          </a:xfrm>
          <a:prstGeom prst="rect">
            <a:avLst/>
          </a:prstGeom>
          <a:noFill/>
          <a:ln/>
        </p:spPr>
        <p:txBody>
          <a:bodyPr wrap="square" lIns="0" tIns="0" rIns="0" bIns="0" rtlCol="0" anchor="t"/>
          <a:lstStyle/>
          <a:p>
            <a:pPr marL="0" indent="0">
              <a:buNone/>
            </a:pPr>
            <a:r>
              <a:rPr lang="en-US" sz="1400" dirty="0">
                <a:solidFill>
                  <a:schemeClr val="tx1"/>
                </a:solidFill>
              </a:rPr>
              <a:t>HistGradientBoosting + rango calibrado al 90 %</a:t>
            </a:r>
            <a:endParaRPr lang="en-US" sz="1400" dirty="0"/>
          </a:p>
        </p:txBody>
      </p:sp>
      <p:sp>
        <p:nvSpPr>
          <p:cNvPr id="20" name="texto-131"/>
          <p:cNvSpPr txBox="1"/>
          <p:nvPr/>
        </p:nvSpPr>
        <p:spPr>
          <a:xfrm>
            <a:off x="8366760" y="2971800"/>
            <a:ext cx="3063240" cy="502920"/>
          </a:xfrm>
          <a:prstGeom prst="rect">
            <a:avLst/>
          </a:prstGeom>
          <a:noFill/>
          <a:ln/>
        </p:spPr>
        <p:txBody>
          <a:bodyPr wrap="square" lIns="0" tIns="0" rIns="0" bIns="0" rtlCol="0" anchor="t"/>
          <a:lstStyle/>
          <a:p>
            <a:pPr marL="0" indent="0">
              <a:buNone/>
            </a:pPr>
            <a:r>
              <a:rPr lang="en-US" sz="1300" i="1" dirty="0">
                <a:solidFill>
                  <a:schemeClr val="tx2"/>
                </a:solidFill>
              </a:rPr>
              <a:t>Cuánto pedir y cuánto puede equivocarse</a:t>
            </a:r>
            <a:endParaRPr lang="en-US" sz="1300" dirty="0"/>
          </a:p>
        </p:txBody>
      </p:sp>
      <p:sp>
        <p:nvSpPr>
          <p:cNvPr id="21" name="caja-132"/>
          <p:cNvSpPr/>
          <p:nvPr/>
        </p:nvSpPr>
        <p:spPr>
          <a:xfrm>
            <a:off x="548640" y="3886200"/>
            <a:ext cx="3520440" cy="2148840"/>
          </a:xfrm>
          <a:prstGeom prst="rect">
            <a:avLst/>
          </a:prstGeom>
          <a:solidFill>
            <a:schemeClr val="bg2"/>
          </a:solidFill>
          <a:ln/>
        </p:spPr>
        <p:txBody>
          <a:bodyPr/>
          <a:lstStyle/>
          <a:p>
            <a:endParaRPr lang="es-PE"/>
          </a:p>
        </p:txBody>
      </p:sp>
      <p:sp>
        <p:nvSpPr>
          <p:cNvPr id="22" name="caja-133"/>
          <p:cNvSpPr/>
          <p:nvPr/>
        </p:nvSpPr>
        <p:spPr>
          <a:xfrm>
            <a:off x="777240" y="4114800"/>
            <a:ext cx="384048" cy="384048"/>
          </a:xfrm>
          <a:prstGeom prst="rect">
            <a:avLst/>
          </a:prstGeom>
          <a:solidFill>
            <a:schemeClr val="accent1"/>
          </a:solidFill>
          <a:ln/>
        </p:spPr>
        <p:txBody>
          <a:bodyPr/>
          <a:lstStyle/>
          <a:p>
            <a:endParaRPr lang="es-PE"/>
          </a:p>
        </p:txBody>
      </p:sp>
      <p:sp>
        <p:nvSpPr>
          <p:cNvPr id="23" name="texto-134"/>
          <p:cNvSpPr txBox="1"/>
          <p:nvPr/>
        </p:nvSpPr>
        <p:spPr>
          <a:xfrm>
            <a:off x="777240" y="411480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4</a:t>
            </a:r>
            <a:endParaRPr lang="en-US" sz="1400" dirty="0"/>
          </a:p>
        </p:txBody>
      </p:sp>
      <p:sp>
        <p:nvSpPr>
          <p:cNvPr id="24" name="texto-135"/>
          <p:cNvSpPr txBox="1"/>
          <p:nvPr/>
        </p:nvSpPr>
        <p:spPr>
          <a:xfrm>
            <a:off x="1325880" y="4114800"/>
            <a:ext cx="2560320" cy="384048"/>
          </a:xfrm>
          <a:prstGeom prst="rect">
            <a:avLst/>
          </a:prstGeom>
          <a:noFill/>
          <a:ln/>
        </p:spPr>
        <p:txBody>
          <a:bodyPr wrap="square" lIns="0" tIns="0" rIns="0" bIns="0" rtlCol="0" anchor="ctr"/>
          <a:lstStyle/>
          <a:p>
            <a:pPr marL="0" indent="0">
              <a:buNone/>
            </a:pPr>
            <a:r>
              <a:rPr lang="en-US" sz="1800" b="1" dirty="0">
                <a:solidFill>
                  <a:schemeClr val="tx1"/>
                </a:solidFill>
              </a:rPr>
              <a:t>Tendencia distrital</a:t>
            </a:r>
            <a:endParaRPr lang="en-US" sz="1800" dirty="0"/>
          </a:p>
        </p:txBody>
      </p:sp>
      <p:sp>
        <p:nvSpPr>
          <p:cNvPr id="25" name="texto-136"/>
          <p:cNvSpPr txBox="1"/>
          <p:nvPr/>
        </p:nvSpPr>
        <p:spPr>
          <a:xfrm>
            <a:off x="777240" y="4709160"/>
            <a:ext cx="3063240" cy="594360"/>
          </a:xfrm>
          <a:prstGeom prst="rect">
            <a:avLst/>
          </a:prstGeom>
          <a:noFill/>
          <a:ln/>
        </p:spPr>
        <p:txBody>
          <a:bodyPr wrap="square" lIns="0" tIns="0" rIns="0" bIns="0" rtlCol="0" anchor="t"/>
          <a:lstStyle/>
          <a:p>
            <a:pPr marL="0" indent="0">
              <a:buNone/>
            </a:pPr>
            <a:r>
              <a:rPr lang="en-US" sz="1400" dirty="0">
                <a:solidFill>
                  <a:schemeClr val="tx1"/>
                </a:solidFill>
              </a:rPr>
              <a:t>SARIMA sobre las series del BCRP</a:t>
            </a:r>
            <a:endParaRPr lang="en-US" sz="1400" dirty="0"/>
          </a:p>
        </p:txBody>
      </p:sp>
      <p:sp>
        <p:nvSpPr>
          <p:cNvPr id="26" name="texto-137"/>
          <p:cNvSpPr txBox="1"/>
          <p:nvPr/>
        </p:nvSpPr>
        <p:spPr>
          <a:xfrm>
            <a:off x="777240" y="5349240"/>
            <a:ext cx="3063240" cy="502920"/>
          </a:xfrm>
          <a:prstGeom prst="rect">
            <a:avLst/>
          </a:prstGeom>
          <a:noFill/>
          <a:ln/>
        </p:spPr>
        <p:txBody>
          <a:bodyPr wrap="square" lIns="0" tIns="0" rIns="0" bIns="0" rtlCol="0" anchor="t"/>
          <a:lstStyle/>
          <a:p>
            <a:pPr marL="0" indent="0">
              <a:buNone/>
            </a:pPr>
            <a:r>
              <a:rPr lang="en-US" sz="1300" i="1" dirty="0">
                <a:solidFill>
                  <a:schemeClr val="tx2"/>
                </a:solidFill>
              </a:rPr>
              <a:t>Si el distrito sube o se mantiene</a:t>
            </a:r>
            <a:endParaRPr lang="en-US" sz="1300" dirty="0"/>
          </a:p>
        </p:txBody>
      </p:sp>
      <p:sp>
        <p:nvSpPr>
          <p:cNvPr id="27" name="caja-138"/>
          <p:cNvSpPr/>
          <p:nvPr/>
        </p:nvSpPr>
        <p:spPr>
          <a:xfrm>
            <a:off x="4343400" y="3886200"/>
            <a:ext cx="3520440" cy="2148840"/>
          </a:xfrm>
          <a:prstGeom prst="rect">
            <a:avLst/>
          </a:prstGeom>
          <a:solidFill>
            <a:schemeClr val="bg2"/>
          </a:solidFill>
          <a:ln/>
        </p:spPr>
        <p:txBody>
          <a:bodyPr/>
          <a:lstStyle/>
          <a:p>
            <a:endParaRPr lang="es-PE"/>
          </a:p>
        </p:txBody>
      </p:sp>
      <p:sp>
        <p:nvSpPr>
          <p:cNvPr id="28" name="caja-139"/>
          <p:cNvSpPr/>
          <p:nvPr/>
        </p:nvSpPr>
        <p:spPr>
          <a:xfrm>
            <a:off x="4572000" y="4114800"/>
            <a:ext cx="384048" cy="384048"/>
          </a:xfrm>
          <a:prstGeom prst="rect">
            <a:avLst/>
          </a:prstGeom>
          <a:solidFill>
            <a:schemeClr val="accent1"/>
          </a:solidFill>
          <a:ln/>
        </p:spPr>
        <p:txBody>
          <a:bodyPr/>
          <a:lstStyle/>
          <a:p>
            <a:endParaRPr lang="es-PE"/>
          </a:p>
        </p:txBody>
      </p:sp>
      <p:sp>
        <p:nvSpPr>
          <p:cNvPr id="29" name="texto-140"/>
          <p:cNvSpPr txBox="1"/>
          <p:nvPr/>
        </p:nvSpPr>
        <p:spPr>
          <a:xfrm>
            <a:off x="4572000" y="411480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5</a:t>
            </a:r>
            <a:endParaRPr lang="en-US" sz="1400" dirty="0"/>
          </a:p>
        </p:txBody>
      </p:sp>
      <p:sp>
        <p:nvSpPr>
          <p:cNvPr id="30" name="texto-141"/>
          <p:cNvSpPr txBox="1"/>
          <p:nvPr/>
        </p:nvSpPr>
        <p:spPr>
          <a:xfrm>
            <a:off x="5120640" y="4114800"/>
            <a:ext cx="2560320" cy="384048"/>
          </a:xfrm>
          <a:prstGeom prst="rect">
            <a:avLst/>
          </a:prstGeom>
          <a:noFill/>
          <a:ln/>
        </p:spPr>
        <p:txBody>
          <a:bodyPr wrap="square" lIns="0" tIns="0" rIns="0" bIns="0" rtlCol="0" anchor="ctr"/>
          <a:lstStyle/>
          <a:p>
            <a:pPr marL="0" indent="0">
              <a:buNone/>
            </a:pPr>
            <a:r>
              <a:rPr lang="en-US" sz="1800" b="1" dirty="0">
                <a:solidFill>
                  <a:schemeClr val="tx1"/>
                </a:solidFill>
              </a:rPr>
              <a:t>Precio de publicación</a:t>
            </a:r>
            <a:endParaRPr lang="en-US" sz="1800" dirty="0"/>
          </a:p>
        </p:txBody>
      </p:sp>
      <p:sp>
        <p:nvSpPr>
          <p:cNvPr id="31" name="texto-142"/>
          <p:cNvSpPr txBox="1"/>
          <p:nvPr/>
        </p:nvSpPr>
        <p:spPr>
          <a:xfrm>
            <a:off x="4572000" y="4709160"/>
            <a:ext cx="3063240" cy="594360"/>
          </a:xfrm>
          <a:prstGeom prst="rect">
            <a:avLst/>
          </a:prstGeom>
          <a:noFill/>
          <a:ln/>
        </p:spPr>
        <p:txBody>
          <a:bodyPr wrap="square" lIns="0" tIns="0" rIns="0" bIns="0" rtlCol="0" anchor="t"/>
          <a:lstStyle/>
          <a:p>
            <a:pPr marL="0" indent="0">
              <a:buNone/>
            </a:pPr>
            <a:r>
              <a:rPr lang="en-US" sz="1400" dirty="0">
                <a:solidFill>
                  <a:schemeClr val="tx1"/>
                </a:solidFill>
              </a:rPr>
              <a:t>Reglas sobre los modelos 1, 3 y 4</a:t>
            </a:r>
            <a:endParaRPr lang="en-US" sz="1400" dirty="0"/>
          </a:p>
        </p:txBody>
      </p:sp>
      <p:sp>
        <p:nvSpPr>
          <p:cNvPr id="32" name="texto-143"/>
          <p:cNvSpPr txBox="1"/>
          <p:nvPr/>
        </p:nvSpPr>
        <p:spPr>
          <a:xfrm>
            <a:off x="4572000" y="5349240"/>
            <a:ext cx="3063240" cy="502920"/>
          </a:xfrm>
          <a:prstGeom prst="rect">
            <a:avLst/>
          </a:prstGeom>
          <a:noFill/>
          <a:ln/>
        </p:spPr>
        <p:txBody>
          <a:bodyPr wrap="square" lIns="0" tIns="0" rIns="0" bIns="0" rtlCol="0" anchor="t"/>
          <a:lstStyle/>
          <a:p>
            <a:pPr marL="0" indent="0">
              <a:buNone/>
            </a:pPr>
            <a:r>
              <a:rPr lang="en-US" sz="1300" i="1" dirty="0">
                <a:solidFill>
                  <a:schemeClr val="tx2"/>
                </a:solidFill>
              </a:rPr>
              <a:t>Competitivo, equilibrado o renta superior</a:t>
            </a:r>
            <a:endParaRPr lang="en-US" sz="1300" dirty="0"/>
          </a:p>
        </p:txBody>
      </p:sp>
      <p:sp>
        <p:nvSpPr>
          <p:cNvPr id="33" name="caja-144"/>
          <p:cNvSpPr/>
          <p:nvPr/>
        </p:nvSpPr>
        <p:spPr>
          <a:xfrm>
            <a:off x="8138160" y="3886200"/>
            <a:ext cx="3520440" cy="2148840"/>
          </a:xfrm>
          <a:prstGeom prst="rect">
            <a:avLst/>
          </a:prstGeom>
          <a:solidFill>
            <a:schemeClr val="bg2"/>
          </a:solidFill>
          <a:ln/>
        </p:spPr>
        <p:txBody>
          <a:bodyPr/>
          <a:lstStyle/>
          <a:p>
            <a:endParaRPr lang="es-PE"/>
          </a:p>
        </p:txBody>
      </p:sp>
      <p:sp>
        <p:nvSpPr>
          <p:cNvPr id="34" name="caja-145"/>
          <p:cNvSpPr/>
          <p:nvPr/>
        </p:nvSpPr>
        <p:spPr>
          <a:xfrm>
            <a:off x="8366760" y="4114800"/>
            <a:ext cx="384048" cy="384048"/>
          </a:xfrm>
          <a:prstGeom prst="rect">
            <a:avLst/>
          </a:prstGeom>
          <a:solidFill>
            <a:schemeClr val="accent1"/>
          </a:solidFill>
          <a:ln/>
        </p:spPr>
        <p:txBody>
          <a:bodyPr/>
          <a:lstStyle/>
          <a:p>
            <a:endParaRPr lang="es-PE"/>
          </a:p>
        </p:txBody>
      </p:sp>
      <p:sp>
        <p:nvSpPr>
          <p:cNvPr id="35" name="texto-146"/>
          <p:cNvSpPr txBox="1"/>
          <p:nvPr/>
        </p:nvSpPr>
        <p:spPr>
          <a:xfrm>
            <a:off x="8366760" y="411480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6</a:t>
            </a:r>
            <a:endParaRPr lang="en-US" sz="1400" dirty="0"/>
          </a:p>
        </p:txBody>
      </p:sp>
      <p:sp>
        <p:nvSpPr>
          <p:cNvPr id="36" name="texto-147"/>
          <p:cNvSpPr txBox="1"/>
          <p:nvPr/>
        </p:nvSpPr>
        <p:spPr>
          <a:xfrm>
            <a:off x="8915400" y="4114800"/>
            <a:ext cx="2560320" cy="384048"/>
          </a:xfrm>
          <a:prstGeom prst="rect">
            <a:avLst/>
          </a:prstGeom>
          <a:noFill/>
          <a:ln/>
        </p:spPr>
        <p:txBody>
          <a:bodyPr wrap="square" lIns="0" tIns="0" rIns="0" bIns="0" rtlCol="0" anchor="ctr"/>
          <a:lstStyle/>
          <a:p>
            <a:pPr marL="0" indent="0">
              <a:buNone/>
            </a:pPr>
            <a:r>
              <a:rPr lang="en-US" sz="1800" b="1" dirty="0">
                <a:solidFill>
                  <a:schemeClr val="tx1"/>
                </a:solidFill>
              </a:rPr>
              <a:t>Simulador de mejoras</a:t>
            </a:r>
            <a:endParaRPr lang="en-US" sz="1800" dirty="0"/>
          </a:p>
        </p:txBody>
      </p:sp>
      <p:sp>
        <p:nvSpPr>
          <p:cNvPr id="37" name="texto-148"/>
          <p:cNvSpPr txBox="1"/>
          <p:nvPr/>
        </p:nvSpPr>
        <p:spPr>
          <a:xfrm>
            <a:off x="8366760" y="4709160"/>
            <a:ext cx="3063240" cy="594360"/>
          </a:xfrm>
          <a:prstGeom prst="rect">
            <a:avLst/>
          </a:prstGeom>
          <a:noFill/>
          <a:ln/>
        </p:spPr>
        <p:txBody>
          <a:bodyPr wrap="square" lIns="0" tIns="0" rIns="0" bIns="0" rtlCol="0" anchor="t"/>
          <a:lstStyle/>
          <a:p>
            <a:pPr marL="0" indent="0">
              <a:buNone/>
            </a:pPr>
            <a:r>
              <a:rPr lang="en-US" sz="1400" dirty="0">
                <a:solidFill>
                  <a:schemeClr val="tx1"/>
                </a:solidFill>
              </a:rPr>
              <a:t>Uso contrafactual del modelo de precio</a:t>
            </a:r>
            <a:endParaRPr lang="en-US" sz="1400" dirty="0"/>
          </a:p>
        </p:txBody>
      </p:sp>
      <p:sp>
        <p:nvSpPr>
          <p:cNvPr id="38" name="texto-149"/>
          <p:cNvSpPr txBox="1"/>
          <p:nvPr/>
        </p:nvSpPr>
        <p:spPr>
          <a:xfrm>
            <a:off x="8366760" y="5349240"/>
            <a:ext cx="3063240" cy="502920"/>
          </a:xfrm>
          <a:prstGeom prst="rect">
            <a:avLst/>
          </a:prstGeom>
          <a:noFill/>
          <a:ln/>
        </p:spPr>
        <p:txBody>
          <a:bodyPr wrap="square" lIns="0" tIns="0" rIns="0" bIns="0" rtlCol="0" anchor="t"/>
          <a:lstStyle/>
          <a:p>
            <a:pPr marL="0" indent="0">
              <a:buNone/>
            </a:pPr>
            <a:r>
              <a:rPr lang="en-US" sz="1300" i="1" dirty="0">
                <a:solidFill>
                  <a:schemeClr val="tx2"/>
                </a:solidFill>
              </a:rPr>
              <a:t>Cuánto suma un ascensor o más área</a:t>
            </a:r>
            <a:endParaRPr lang="en-US" sz="1300" dirty="0"/>
          </a:p>
        </p:txBody>
      </p:sp>
      <p:sp>
        <p:nvSpPr>
          <p:cNvPr id="39"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Demo · propietario</a:t>
            </a:r>
            <a:endParaRPr lang="en-US" sz="3200" dirty="0"/>
          </a:p>
        </p:txBody>
      </p:sp>
      <p:sp>
        <p:nvSpPr>
          <p:cNvPr id="3" name="caja-150"/>
          <p:cNvSpPr/>
          <p:nvPr/>
        </p:nvSpPr>
        <p:spPr>
          <a:xfrm>
            <a:off x="548640" y="1508760"/>
            <a:ext cx="384048" cy="384048"/>
          </a:xfrm>
          <a:prstGeom prst="rect">
            <a:avLst/>
          </a:prstGeom>
          <a:solidFill>
            <a:schemeClr val="accent1"/>
          </a:solidFill>
          <a:ln/>
        </p:spPr>
        <p:txBody>
          <a:bodyPr/>
          <a:lstStyle/>
          <a:p>
            <a:endParaRPr lang="es-PE"/>
          </a:p>
        </p:txBody>
      </p:sp>
      <p:sp>
        <p:nvSpPr>
          <p:cNvPr id="4" name="texto-151"/>
          <p:cNvSpPr txBox="1"/>
          <p:nvPr/>
        </p:nvSpPr>
        <p:spPr>
          <a:xfrm>
            <a:off x="548640" y="15087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1</a:t>
            </a:r>
            <a:endParaRPr lang="en-US" sz="1400" dirty="0"/>
          </a:p>
        </p:txBody>
      </p:sp>
      <p:sp>
        <p:nvSpPr>
          <p:cNvPr id="5" name="texto-152"/>
          <p:cNvSpPr txBox="1"/>
          <p:nvPr/>
        </p:nvSpPr>
        <p:spPr>
          <a:xfrm>
            <a:off x="1097280" y="1508760"/>
            <a:ext cx="2971800" cy="384048"/>
          </a:xfrm>
          <a:prstGeom prst="rect">
            <a:avLst/>
          </a:prstGeom>
          <a:noFill/>
          <a:ln/>
        </p:spPr>
        <p:txBody>
          <a:bodyPr wrap="square" lIns="0" tIns="0" rIns="0" bIns="0" rtlCol="0" anchor="ctr"/>
          <a:lstStyle/>
          <a:p>
            <a:pPr marL="0" indent="0">
              <a:buNone/>
            </a:pPr>
            <a:r>
              <a:rPr lang="en-US" sz="1800" b="1" dirty="0">
                <a:solidFill>
                  <a:schemeClr val="tx1"/>
                </a:solidFill>
              </a:rPr>
              <a:t>Agrega su depa</a:t>
            </a:r>
            <a:endParaRPr lang="en-US" sz="1800" dirty="0"/>
          </a:p>
        </p:txBody>
      </p:sp>
      <p:sp>
        <p:nvSpPr>
          <p:cNvPr id="6" name="texto-153"/>
          <p:cNvSpPr txBox="1"/>
          <p:nvPr/>
        </p:nvSpPr>
        <p:spPr>
          <a:xfrm>
            <a:off x="548640" y="2011680"/>
            <a:ext cx="3520440" cy="640080"/>
          </a:xfrm>
          <a:prstGeom prst="rect">
            <a:avLst/>
          </a:prstGeom>
          <a:noFill/>
          <a:ln/>
        </p:spPr>
        <p:txBody>
          <a:bodyPr wrap="square" lIns="0" tIns="0" rIns="0" bIns="0" rtlCol="0" anchor="t"/>
          <a:lstStyle/>
          <a:p>
            <a:pPr marL="0" indent="0">
              <a:buNone/>
            </a:pPr>
            <a:r>
              <a:rPr lang="en-US" sz="1400" dirty="0">
                <a:solidFill>
                  <a:schemeClr val="tx1"/>
                </a:solidFill>
              </a:rPr>
              <a:t>Características y ubicación marcada con un clic en el mapa.</a:t>
            </a:r>
            <a:endParaRPr lang="en-US" sz="1400" dirty="0"/>
          </a:p>
        </p:txBody>
      </p:sp>
      <p:pic>
        <p:nvPicPr>
          <p:cNvPr id="7" name="captura-p1_agregar" descr="Formulario para agregar un departamento con el mapa de ubicación"/>
          <p:cNvPicPr>
            <a:picLocks noChangeAspect="1"/>
          </p:cNvPicPr>
          <p:nvPr/>
        </p:nvPicPr>
        <p:blipFill>
          <a:blip r:embed="rId3"/>
          <a:stretch>
            <a:fillRect/>
          </a:stretch>
        </p:blipFill>
        <p:spPr>
          <a:xfrm>
            <a:off x="548640" y="2743200"/>
            <a:ext cx="3520440" cy="2640330"/>
          </a:xfrm>
          <a:prstGeom prst="rect">
            <a:avLst/>
          </a:prstGeom>
        </p:spPr>
      </p:pic>
      <p:sp>
        <p:nvSpPr>
          <p:cNvPr id="8" name="borde-154"/>
          <p:cNvSpPr/>
          <p:nvPr/>
        </p:nvSpPr>
        <p:spPr>
          <a:xfrm>
            <a:off x="548640" y="2743200"/>
            <a:ext cx="3520440" cy="2640330"/>
          </a:xfrm>
          <a:prstGeom prst="rect">
            <a:avLst/>
          </a:prstGeom>
          <a:ln w="9525">
            <a:solidFill>
              <a:schemeClr val="accent6"/>
            </a:solidFill>
            <a:prstDash val="solid"/>
          </a:ln>
        </p:spPr>
        <p:txBody>
          <a:bodyPr/>
          <a:lstStyle/>
          <a:p>
            <a:endParaRPr lang="es-PE"/>
          </a:p>
        </p:txBody>
      </p:sp>
      <p:sp>
        <p:nvSpPr>
          <p:cNvPr id="9" name="caja-155"/>
          <p:cNvSpPr/>
          <p:nvPr/>
        </p:nvSpPr>
        <p:spPr>
          <a:xfrm>
            <a:off x="4343400" y="1508760"/>
            <a:ext cx="384048" cy="384048"/>
          </a:xfrm>
          <a:prstGeom prst="rect">
            <a:avLst/>
          </a:prstGeom>
          <a:solidFill>
            <a:schemeClr val="accent1"/>
          </a:solidFill>
          <a:ln/>
        </p:spPr>
        <p:txBody>
          <a:bodyPr/>
          <a:lstStyle/>
          <a:p>
            <a:endParaRPr lang="es-PE"/>
          </a:p>
        </p:txBody>
      </p:sp>
      <p:sp>
        <p:nvSpPr>
          <p:cNvPr id="10" name="texto-156"/>
          <p:cNvSpPr txBox="1"/>
          <p:nvPr/>
        </p:nvSpPr>
        <p:spPr>
          <a:xfrm>
            <a:off x="4343400" y="15087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2</a:t>
            </a:r>
            <a:endParaRPr lang="en-US" sz="1400" dirty="0"/>
          </a:p>
        </p:txBody>
      </p:sp>
      <p:sp>
        <p:nvSpPr>
          <p:cNvPr id="11" name="texto-157"/>
          <p:cNvSpPr txBox="1"/>
          <p:nvPr/>
        </p:nvSpPr>
        <p:spPr>
          <a:xfrm>
            <a:off x="4892040" y="1508760"/>
            <a:ext cx="2971800" cy="384048"/>
          </a:xfrm>
          <a:prstGeom prst="rect">
            <a:avLst/>
          </a:prstGeom>
          <a:noFill/>
          <a:ln/>
        </p:spPr>
        <p:txBody>
          <a:bodyPr wrap="square" lIns="0" tIns="0" rIns="0" bIns="0" rtlCol="0" anchor="ctr"/>
          <a:lstStyle/>
          <a:p>
            <a:pPr marL="0" indent="0">
              <a:buNone/>
            </a:pPr>
            <a:r>
              <a:rPr lang="en-US" sz="1800" b="1" dirty="0">
                <a:solidFill>
                  <a:schemeClr val="tx1"/>
                </a:solidFill>
              </a:rPr>
              <a:t>Recibe el análisis</a:t>
            </a:r>
            <a:endParaRPr lang="en-US" sz="1800" dirty="0"/>
          </a:p>
        </p:txBody>
      </p:sp>
      <p:sp>
        <p:nvSpPr>
          <p:cNvPr id="12" name="texto-158"/>
          <p:cNvSpPr txBox="1"/>
          <p:nvPr/>
        </p:nvSpPr>
        <p:spPr>
          <a:xfrm>
            <a:off x="4343400" y="2011680"/>
            <a:ext cx="3520440" cy="640080"/>
          </a:xfrm>
          <a:prstGeom prst="rect">
            <a:avLst/>
          </a:prstGeom>
          <a:noFill/>
          <a:ln/>
        </p:spPr>
        <p:txBody>
          <a:bodyPr wrap="square" lIns="0" tIns="0" rIns="0" bIns="0" rtlCol="0" anchor="t"/>
          <a:lstStyle/>
          <a:p>
            <a:pPr marL="0" indent="0">
              <a:buNone/>
            </a:pPr>
            <a:r>
              <a:rPr lang="en-US" sz="1400" dirty="0">
                <a:solidFill>
                  <a:schemeClr val="tx1"/>
                </a:solidFill>
              </a:rPr>
              <a:t>Precio esperado S/ 3,656, rango y tres precios de publicación.</a:t>
            </a:r>
            <a:endParaRPr lang="en-US" sz="1400" dirty="0"/>
          </a:p>
        </p:txBody>
      </p:sp>
      <p:pic>
        <p:nvPicPr>
          <p:cNvPr id="13" name="captura-p2_analisis" descr="Resumen del análisis: precio esperado, rango y precios de publicación"/>
          <p:cNvPicPr>
            <a:picLocks noChangeAspect="1"/>
          </p:cNvPicPr>
          <p:nvPr/>
        </p:nvPicPr>
        <p:blipFill>
          <a:blip r:embed="rId4"/>
          <a:stretch>
            <a:fillRect/>
          </a:stretch>
        </p:blipFill>
        <p:spPr>
          <a:xfrm>
            <a:off x="4343400" y="2743200"/>
            <a:ext cx="3520440" cy="2640330"/>
          </a:xfrm>
          <a:prstGeom prst="rect">
            <a:avLst/>
          </a:prstGeom>
        </p:spPr>
      </p:pic>
      <p:sp>
        <p:nvSpPr>
          <p:cNvPr id="14" name="borde-159"/>
          <p:cNvSpPr/>
          <p:nvPr/>
        </p:nvSpPr>
        <p:spPr>
          <a:xfrm>
            <a:off x="4343400" y="2743200"/>
            <a:ext cx="3520440" cy="2640330"/>
          </a:xfrm>
          <a:prstGeom prst="rect">
            <a:avLst/>
          </a:prstGeom>
          <a:ln w="9525">
            <a:solidFill>
              <a:schemeClr val="accent6"/>
            </a:solidFill>
            <a:prstDash val="solid"/>
          </a:ln>
        </p:spPr>
        <p:txBody>
          <a:bodyPr/>
          <a:lstStyle/>
          <a:p>
            <a:endParaRPr lang="es-PE"/>
          </a:p>
        </p:txBody>
      </p:sp>
      <p:sp>
        <p:nvSpPr>
          <p:cNvPr id="15" name="caja-160"/>
          <p:cNvSpPr/>
          <p:nvPr/>
        </p:nvSpPr>
        <p:spPr>
          <a:xfrm>
            <a:off x="8138160" y="1508760"/>
            <a:ext cx="384048" cy="384048"/>
          </a:xfrm>
          <a:prstGeom prst="rect">
            <a:avLst/>
          </a:prstGeom>
          <a:solidFill>
            <a:schemeClr val="accent1"/>
          </a:solidFill>
          <a:ln/>
        </p:spPr>
        <p:txBody>
          <a:bodyPr/>
          <a:lstStyle/>
          <a:p>
            <a:endParaRPr lang="es-PE"/>
          </a:p>
        </p:txBody>
      </p:sp>
      <p:sp>
        <p:nvSpPr>
          <p:cNvPr id="16" name="texto-161"/>
          <p:cNvSpPr txBox="1"/>
          <p:nvPr/>
        </p:nvSpPr>
        <p:spPr>
          <a:xfrm>
            <a:off x="8138160" y="15087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3</a:t>
            </a:r>
            <a:endParaRPr lang="en-US" sz="1400" dirty="0"/>
          </a:p>
        </p:txBody>
      </p:sp>
      <p:sp>
        <p:nvSpPr>
          <p:cNvPr id="17" name="texto-162"/>
          <p:cNvSpPr txBox="1"/>
          <p:nvPr/>
        </p:nvSpPr>
        <p:spPr>
          <a:xfrm>
            <a:off x="8686800" y="1508760"/>
            <a:ext cx="2971800" cy="384048"/>
          </a:xfrm>
          <a:prstGeom prst="rect">
            <a:avLst/>
          </a:prstGeom>
          <a:noFill/>
          <a:ln/>
        </p:spPr>
        <p:txBody>
          <a:bodyPr wrap="square" lIns="0" tIns="0" rIns="0" bIns="0" rtlCol="0" anchor="ctr"/>
          <a:lstStyle/>
          <a:p>
            <a:pPr marL="0" indent="0">
              <a:buNone/>
            </a:pPr>
            <a:r>
              <a:rPr lang="en-US" sz="1800" b="1" dirty="0">
                <a:solidFill>
                  <a:schemeClr val="tx1"/>
                </a:solidFill>
              </a:rPr>
              <a:t>Lo publica</a:t>
            </a:r>
            <a:endParaRPr lang="en-US" sz="1800" dirty="0"/>
          </a:p>
        </p:txBody>
      </p:sp>
      <p:sp>
        <p:nvSpPr>
          <p:cNvPr id="18" name="texto-163"/>
          <p:cNvSpPr txBox="1"/>
          <p:nvPr/>
        </p:nvSpPr>
        <p:spPr>
          <a:xfrm>
            <a:off x="8138160" y="2011680"/>
            <a:ext cx="3520440" cy="640080"/>
          </a:xfrm>
          <a:prstGeom prst="rect">
            <a:avLst/>
          </a:prstGeom>
          <a:noFill/>
          <a:ln/>
        </p:spPr>
        <p:txBody>
          <a:bodyPr wrap="square" lIns="0" tIns="0" rIns="0" bIns="0" rtlCol="0" anchor="t"/>
          <a:lstStyle/>
          <a:p>
            <a:pPr marL="0" indent="0">
              <a:buNone/>
            </a:pPr>
            <a:r>
              <a:rPr lang="en-US" sz="1400" dirty="0">
                <a:solidFill>
                  <a:schemeClr val="tx1"/>
                </a:solidFill>
              </a:rPr>
              <a:t>Elige renta superior, S/ 3,840; ya aparece en la búsqueda.</a:t>
            </a:r>
            <a:endParaRPr lang="en-US" sz="1400" dirty="0"/>
          </a:p>
        </p:txBody>
      </p:sp>
      <p:pic>
        <p:nvPicPr>
          <p:cNvPr id="19" name="captura-p3_publicado" descr="Ficha pública del departamento publicado"/>
          <p:cNvPicPr>
            <a:picLocks noChangeAspect="1"/>
          </p:cNvPicPr>
          <p:nvPr/>
        </p:nvPicPr>
        <p:blipFill>
          <a:blip r:embed="rId5"/>
          <a:stretch>
            <a:fillRect/>
          </a:stretch>
        </p:blipFill>
        <p:spPr>
          <a:xfrm>
            <a:off x="8138160" y="2743200"/>
            <a:ext cx="3520440" cy="2640330"/>
          </a:xfrm>
          <a:prstGeom prst="rect">
            <a:avLst/>
          </a:prstGeom>
        </p:spPr>
      </p:pic>
      <p:sp>
        <p:nvSpPr>
          <p:cNvPr id="20" name="borde-164"/>
          <p:cNvSpPr/>
          <p:nvPr/>
        </p:nvSpPr>
        <p:spPr>
          <a:xfrm>
            <a:off x="8138160" y="2743200"/>
            <a:ext cx="3520440" cy="2640330"/>
          </a:xfrm>
          <a:prstGeom prst="rect">
            <a:avLst/>
          </a:prstGeom>
          <a:ln w="9525">
            <a:solidFill>
              <a:schemeClr val="accent6"/>
            </a:solidFill>
            <a:prstDash val="solid"/>
          </a:ln>
        </p:spPr>
        <p:txBody>
          <a:bodyPr/>
          <a:lstStyle/>
          <a:p>
            <a:endParaRPr lang="es-PE"/>
          </a:p>
        </p:txBody>
      </p:sp>
      <p:sp>
        <p:nvSpPr>
          <p:cNvPr id="21" name="texto-165"/>
          <p:cNvSpPr txBox="1"/>
          <p:nvPr/>
        </p:nvSpPr>
        <p:spPr>
          <a:xfrm>
            <a:off x="548640" y="5623560"/>
            <a:ext cx="11094415" cy="411480"/>
          </a:xfrm>
          <a:prstGeom prst="rect">
            <a:avLst/>
          </a:prstGeom>
          <a:noFill/>
          <a:ln/>
        </p:spPr>
        <p:txBody>
          <a:bodyPr wrap="square" lIns="0" tIns="0" rIns="0" bIns="0" rtlCol="0" anchor="ctr"/>
          <a:lstStyle/>
          <a:p>
            <a:pPr marL="0" indent="0">
              <a:buNone/>
            </a:pPr>
            <a:r>
              <a:rPr lang="en-US" sz="1500" b="1" dirty="0">
                <a:solidFill>
                  <a:schemeClr val="tx1"/>
                </a:solidFill>
              </a:rPr>
              <a:t>Todo el recorrido funciona en la versión publicada, con cuenta propia y datos guardados.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Demo · inquilino</a:t>
            </a:r>
            <a:endParaRPr lang="en-US" sz="3200" dirty="0"/>
          </a:p>
        </p:txBody>
      </p:sp>
      <p:sp>
        <p:nvSpPr>
          <p:cNvPr id="3" name="caja-166"/>
          <p:cNvSpPr/>
          <p:nvPr/>
        </p:nvSpPr>
        <p:spPr>
          <a:xfrm>
            <a:off x="548640" y="1508760"/>
            <a:ext cx="384048" cy="384048"/>
          </a:xfrm>
          <a:prstGeom prst="rect">
            <a:avLst/>
          </a:prstGeom>
          <a:solidFill>
            <a:schemeClr val="accent1"/>
          </a:solidFill>
          <a:ln/>
        </p:spPr>
        <p:txBody>
          <a:bodyPr/>
          <a:lstStyle/>
          <a:p>
            <a:endParaRPr lang="es-PE"/>
          </a:p>
        </p:txBody>
      </p:sp>
      <p:sp>
        <p:nvSpPr>
          <p:cNvPr id="4" name="texto-167"/>
          <p:cNvSpPr txBox="1"/>
          <p:nvPr/>
        </p:nvSpPr>
        <p:spPr>
          <a:xfrm>
            <a:off x="548640" y="15087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1</a:t>
            </a:r>
            <a:endParaRPr lang="en-US" sz="1400" dirty="0"/>
          </a:p>
        </p:txBody>
      </p:sp>
      <p:sp>
        <p:nvSpPr>
          <p:cNvPr id="5" name="texto-168"/>
          <p:cNvSpPr txBox="1"/>
          <p:nvPr/>
        </p:nvSpPr>
        <p:spPr>
          <a:xfrm>
            <a:off x="1097280" y="1508760"/>
            <a:ext cx="2971800" cy="384048"/>
          </a:xfrm>
          <a:prstGeom prst="rect">
            <a:avLst/>
          </a:prstGeom>
          <a:noFill/>
          <a:ln/>
        </p:spPr>
        <p:txBody>
          <a:bodyPr wrap="square" lIns="0" tIns="0" rIns="0" bIns="0" rtlCol="0" anchor="ctr"/>
          <a:lstStyle/>
          <a:p>
            <a:pPr marL="0" indent="0">
              <a:buNone/>
            </a:pPr>
            <a:r>
              <a:rPr lang="en-US" sz="1800" b="1" dirty="0">
                <a:solidFill>
                  <a:schemeClr val="tx1"/>
                </a:solidFill>
              </a:rPr>
              <a:t>Filtra el mercado</a:t>
            </a:r>
            <a:endParaRPr lang="en-US" sz="1800" dirty="0"/>
          </a:p>
        </p:txBody>
      </p:sp>
      <p:sp>
        <p:nvSpPr>
          <p:cNvPr id="6" name="texto-169"/>
          <p:cNvSpPr txBox="1"/>
          <p:nvPr/>
        </p:nvSpPr>
        <p:spPr>
          <a:xfrm>
            <a:off x="548640" y="2011680"/>
            <a:ext cx="3520440" cy="640080"/>
          </a:xfrm>
          <a:prstGeom prst="rect">
            <a:avLst/>
          </a:prstGeom>
          <a:noFill/>
          <a:ln/>
        </p:spPr>
        <p:txBody>
          <a:bodyPr wrap="square" lIns="0" tIns="0" rIns="0" bIns="0" rtlCol="0" anchor="t"/>
          <a:lstStyle/>
          <a:p>
            <a:pPr marL="0" indent="0">
              <a:buNone/>
            </a:pPr>
            <a:r>
              <a:rPr lang="en-US" sz="1400" dirty="0">
                <a:solidFill>
                  <a:schemeClr val="tx1"/>
                </a:solidFill>
              </a:rPr>
              <a:t>3,056 departamentos; 895 piden menos de lo que estima el modelo.</a:t>
            </a:r>
            <a:endParaRPr lang="en-US" sz="1400" dirty="0"/>
          </a:p>
        </p:txBody>
      </p:sp>
      <p:pic>
        <p:nvPicPr>
          <p:cNvPr id="7" name="captura-i1_buscar" descr="Búsqueda con los conteos por valoración del precio"/>
          <p:cNvPicPr>
            <a:picLocks noChangeAspect="1"/>
          </p:cNvPicPr>
          <p:nvPr/>
        </p:nvPicPr>
        <p:blipFill>
          <a:blip r:embed="rId3"/>
          <a:stretch>
            <a:fillRect/>
          </a:stretch>
        </p:blipFill>
        <p:spPr>
          <a:xfrm>
            <a:off x="548640" y="2743200"/>
            <a:ext cx="3520440" cy="2640330"/>
          </a:xfrm>
          <a:prstGeom prst="rect">
            <a:avLst/>
          </a:prstGeom>
        </p:spPr>
      </p:pic>
      <p:sp>
        <p:nvSpPr>
          <p:cNvPr id="8" name="borde-170"/>
          <p:cNvSpPr/>
          <p:nvPr/>
        </p:nvSpPr>
        <p:spPr>
          <a:xfrm>
            <a:off x="548640" y="2743200"/>
            <a:ext cx="3520440" cy="2640330"/>
          </a:xfrm>
          <a:prstGeom prst="rect">
            <a:avLst/>
          </a:prstGeom>
          <a:ln w="9525">
            <a:solidFill>
              <a:schemeClr val="accent6"/>
            </a:solidFill>
            <a:prstDash val="solid"/>
          </a:ln>
        </p:spPr>
        <p:txBody>
          <a:bodyPr/>
          <a:lstStyle/>
          <a:p>
            <a:endParaRPr lang="es-PE"/>
          </a:p>
        </p:txBody>
      </p:sp>
      <p:sp>
        <p:nvSpPr>
          <p:cNvPr id="9" name="caja-171"/>
          <p:cNvSpPr/>
          <p:nvPr/>
        </p:nvSpPr>
        <p:spPr>
          <a:xfrm>
            <a:off x="4343400" y="1508760"/>
            <a:ext cx="384048" cy="384048"/>
          </a:xfrm>
          <a:prstGeom prst="rect">
            <a:avLst/>
          </a:prstGeom>
          <a:solidFill>
            <a:schemeClr val="accent1"/>
          </a:solidFill>
          <a:ln/>
        </p:spPr>
        <p:txBody>
          <a:bodyPr/>
          <a:lstStyle/>
          <a:p>
            <a:endParaRPr lang="es-PE"/>
          </a:p>
        </p:txBody>
      </p:sp>
      <p:sp>
        <p:nvSpPr>
          <p:cNvPr id="10" name="texto-172"/>
          <p:cNvSpPr txBox="1"/>
          <p:nvPr/>
        </p:nvSpPr>
        <p:spPr>
          <a:xfrm>
            <a:off x="4343400" y="15087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2</a:t>
            </a:r>
            <a:endParaRPr lang="en-US" sz="1400" dirty="0"/>
          </a:p>
        </p:txBody>
      </p:sp>
      <p:sp>
        <p:nvSpPr>
          <p:cNvPr id="11" name="texto-173"/>
          <p:cNvSpPr txBox="1"/>
          <p:nvPr/>
        </p:nvSpPr>
        <p:spPr>
          <a:xfrm>
            <a:off x="4892040" y="1508760"/>
            <a:ext cx="2971800" cy="384048"/>
          </a:xfrm>
          <a:prstGeom prst="rect">
            <a:avLst/>
          </a:prstGeom>
          <a:noFill/>
          <a:ln/>
        </p:spPr>
        <p:txBody>
          <a:bodyPr wrap="square" lIns="0" tIns="0" rIns="0" bIns="0" rtlCol="0" anchor="ctr"/>
          <a:lstStyle/>
          <a:p>
            <a:pPr marL="0" indent="0">
              <a:buNone/>
            </a:pPr>
            <a:r>
              <a:rPr lang="en-US" sz="1800" b="1" dirty="0">
                <a:solidFill>
                  <a:schemeClr val="tx1"/>
                </a:solidFill>
              </a:rPr>
              <a:t>Abre la ficha</a:t>
            </a:r>
            <a:endParaRPr lang="en-US" sz="1800" dirty="0"/>
          </a:p>
        </p:txBody>
      </p:sp>
      <p:sp>
        <p:nvSpPr>
          <p:cNvPr id="12" name="texto-174"/>
          <p:cNvSpPr txBox="1"/>
          <p:nvPr/>
        </p:nvSpPr>
        <p:spPr>
          <a:xfrm>
            <a:off x="4343400" y="2011680"/>
            <a:ext cx="3520440" cy="640080"/>
          </a:xfrm>
          <a:prstGeom prst="rect">
            <a:avLst/>
          </a:prstGeom>
          <a:noFill/>
          <a:ln/>
        </p:spPr>
        <p:txBody>
          <a:bodyPr wrap="square" lIns="0" tIns="0" rIns="0" bIns="0" rtlCol="0" anchor="t"/>
          <a:lstStyle/>
          <a:p>
            <a:pPr marL="0" indent="0">
              <a:buNone/>
            </a:pPr>
            <a:r>
              <a:rPr lang="en-US" sz="1400" dirty="0">
                <a:solidFill>
                  <a:schemeClr val="tx1"/>
                </a:solidFill>
              </a:rPr>
              <a:t>Pide S/ 1,200 y el modelo estima S/ 1,586: 24.3 % por debajo.</a:t>
            </a:r>
            <a:endParaRPr lang="en-US" sz="1400" dirty="0"/>
          </a:p>
        </p:txBody>
      </p:sp>
      <p:pic>
        <p:nvPicPr>
          <p:cNvPr id="13" name="captura-i2_ficha" descr="Ficha de un anuncio de Lince frente al precio estimado"/>
          <p:cNvPicPr>
            <a:picLocks noChangeAspect="1"/>
          </p:cNvPicPr>
          <p:nvPr/>
        </p:nvPicPr>
        <p:blipFill>
          <a:blip r:embed="rId4"/>
          <a:stretch>
            <a:fillRect/>
          </a:stretch>
        </p:blipFill>
        <p:spPr>
          <a:xfrm>
            <a:off x="4343400" y="2743200"/>
            <a:ext cx="3520440" cy="2640330"/>
          </a:xfrm>
          <a:prstGeom prst="rect">
            <a:avLst/>
          </a:prstGeom>
        </p:spPr>
      </p:pic>
      <p:sp>
        <p:nvSpPr>
          <p:cNvPr id="14" name="borde-175"/>
          <p:cNvSpPr/>
          <p:nvPr/>
        </p:nvSpPr>
        <p:spPr>
          <a:xfrm>
            <a:off x="4343400" y="2743200"/>
            <a:ext cx="3520440" cy="2640330"/>
          </a:xfrm>
          <a:prstGeom prst="rect">
            <a:avLst/>
          </a:prstGeom>
          <a:ln w="9525">
            <a:solidFill>
              <a:schemeClr val="accent6"/>
            </a:solidFill>
            <a:prstDash val="solid"/>
          </a:ln>
        </p:spPr>
        <p:txBody>
          <a:bodyPr/>
          <a:lstStyle/>
          <a:p>
            <a:endParaRPr lang="es-PE"/>
          </a:p>
        </p:txBody>
      </p:sp>
      <p:sp>
        <p:nvSpPr>
          <p:cNvPr id="15" name="caja-176"/>
          <p:cNvSpPr/>
          <p:nvPr/>
        </p:nvSpPr>
        <p:spPr>
          <a:xfrm>
            <a:off x="8138160" y="1508760"/>
            <a:ext cx="384048" cy="384048"/>
          </a:xfrm>
          <a:prstGeom prst="rect">
            <a:avLst/>
          </a:prstGeom>
          <a:solidFill>
            <a:schemeClr val="accent1"/>
          </a:solidFill>
          <a:ln/>
        </p:spPr>
        <p:txBody>
          <a:bodyPr/>
          <a:lstStyle/>
          <a:p>
            <a:endParaRPr lang="es-PE"/>
          </a:p>
        </p:txBody>
      </p:sp>
      <p:sp>
        <p:nvSpPr>
          <p:cNvPr id="16" name="texto-177"/>
          <p:cNvSpPr txBox="1"/>
          <p:nvPr/>
        </p:nvSpPr>
        <p:spPr>
          <a:xfrm>
            <a:off x="8138160" y="1508760"/>
            <a:ext cx="384048" cy="384048"/>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3</a:t>
            </a:r>
            <a:endParaRPr lang="en-US" sz="1400" dirty="0"/>
          </a:p>
        </p:txBody>
      </p:sp>
      <p:sp>
        <p:nvSpPr>
          <p:cNvPr id="17" name="texto-178"/>
          <p:cNvSpPr txBox="1"/>
          <p:nvPr/>
        </p:nvSpPr>
        <p:spPr>
          <a:xfrm>
            <a:off x="8686800" y="1508760"/>
            <a:ext cx="2971800" cy="384048"/>
          </a:xfrm>
          <a:prstGeom prst="rect">
            <a:avLst/>
          </a:prstGeom>
          <a:noFill/>
          <a:ln/>
        </p:spPr>
        <p:txBody>
          <a:bodyPr wrap="square" lIns="0" tIns="0" rIns="0" bIns="0" rtlCol="0" anchor="ctr"/>
          <a:lstStyle/>
          <a:p>
            <a:pPr marL="0" indent="0">
              <a:buNone/>
            </a:pPr>
            <a:r>
              <a:rPr lang="en-US" sz="1800" b="1" dirty="0">
                <a:solidFill>
                  <a:schemeClr val="tx1"/>
                </a:solidFill>
              </a:rPr>
              <a:t>Escribe al propietario</a:t>
            </a:r>
            <a:endParaRPr lang="en-US" sz="1800" dirty="0"/>
          </a:p>
        </p:txBody>
      </p:sp>
      <p:sp>
        <p:nvSpPr>
          <p:cNvPr id="18" name="texto-179"/>
          <p:cNvSpPr txBox="1"/>
          <p:nvPr/>
        </p:nvSpPr>
        <p:spPr>
          <a:xfrm>
            <a:off x="8138160" y="2011680"/>
            <a:ext cx="3520440" cy="640080"/>
          </a:xfrm>
          <a:prstGeom prst="rect">
            <a:avLst/>
          </a:prstGeom>
          <a:noFill/>
          <a:ln/>
        </p:spPr>
        <p:txBody>
          <a:bodyPr wrap="square" lIns="0" tIns="0" rIns="0" bIns="0" rtlCol="0" anchor="t"/>
          <a:lstStyle/>
          <a:p>
            <a:pPr marL="0" indent="0">
              <a:buNone/>
            </a:pPr>
            <a:r>
              <a:rPr lang="en-US" sz="1400" dirty="0">
                <a:solidFill>
                  <a:schemeClr val="tx1"/>
                </a:solidFill>
              </a:rPr>
              <a:t>El mensaje le llega a su pestaña Interesados.</a:t>
            </a:r>
            <a:endParaRPr lang="en-US" sz="1400" dirty="0"/>
          </a:p>
        </p:txBody>
      </p:sp>
      <p:pic>
        <p:nvPicPr>
          <p:cNvPr id="19" name="captura-i3_mensaje" descr="Formulario Me interesa de la ficha publicada"/>
          <p:cNvPicPr>
            <a:picLocks noChangeAspect="1"/>
          </p:cNvPicPr>
          <p:nvPr/>
        </p:nvPicPr>
        <p:blipFill>
          <a:blip r:embed="rId5"/>
          <a:stretch>
            <a:fillRect/>
          </a:stretch>
        </p:blipFill>
        <p:spPr>
          <a:xfrm>
            <a:off x="8138160" y="2743200"/>
            <a:ext cx="3520440" cy="2640330"/>
          </a:xfrm>
          <a:prstGeom prst="rect">
            <a:avLst/>
          </a:prstGeom>
        </p:spPr>
      </p:pic>
      <p:sp>
        <p:nvSpPr>
          <p:cNvPr id="20" name="borde-180"/>
          <p:cNvSpPr/>
          <p:nvPr/>
        </p:nvSpPr>
        <p:spPr>
          <a:xfrm>
            <a:off x="8138160" y="2743200"/>
            <a:ext cx="3520440" cy="2640330"/>
          </a:xfrm>
          <a:prstGeom prst="rect">
            <a:avLst/>
          </a:prstGeom>
          <a:ln w="9525">
            <a:solidFill>
              <a:schemeClr val="accent6"/>
            </a:solidFill>
            <a:prstDash val="solid"/>
          </a:ln>
        </p:spPr>
        <p:txBody>
          <a:bodyPr/>
          <a:lstStyle/>
          <a:p>
            <a:endParaRPr lang="es-PE"/>
          </a:p>
        </p:txBody>
      </p:sp>
      <p:sp>
        <p:nvSpPr>
          <p:cNvPr id="21" name="texto-181"/>
          <p:cNvSpPr txBox="1"/>
          <p:nvPr/>
        </p:nvSpPr>
        <p:spPr>
          <a:xfrm>
            <a:off x="548640" y="5623560"/>
            <a:ext cx="11094415" cy="411480"/>
          </a:xfrm>
          <a:prstGeom prst="rect">
            <a:avLst/>
          </a:prstGeom>
          <a:noFill/>
          <a:ln/>
        </p:spPr>
        <p:txBody>
          <a:bodyPr wrap="square" lIns="0" tIns="0" rIns="0" bIns="0" rtlCol="0" anchor="ctr"/>
          <a:lstStyle/>
          <a:p>
            <a:pPr marL="0" indent="0">
              <a:buNone/>
            </a:pPr>
            <a:r>
              <a:rPr lang="en-US" sz="1500" b="1" dirty="0">
                <a:solidFill>
                  <a:schemeClr val="tx1"/>
                </a:solidFill>
              </a:rPr>
              <a:t>Sin cuenta: el inquilino solo busca, compara y escribe.</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El error baja a la mitad</a:t>
            </a:r>
            <a:endParaRPr lang="en-US" sz="3200" dirty="0"/>
          </a:p>
        </p:txBody>
      </p:sp>
      <p:graphicFrame>
        <p:nvGraphicFramePr>
          <p:cNvPr id="3" name="grafico-mae"/>
          <p:cNvGraphicFramePr/>
          <p:nvPr/>
        </p:nvGraphicFramePr>
        <p:xfrm>
          <a:off x="548640" y="141732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o-182"/>
          <p:cNvSpPr txBox="1"/>
          <p:nvPr/>
        </p:nvSpPr>
        <p:spPr>
          <a:xfrm>
            <a:off x="8001000" y="1554480"/>
            <a:ext cx="3657600" cy="685800"/>
          </a:xfrm>
          <a:prstGeom prst="rect">
            <a:avLst/>
          </a:prstGeom>
          <a:noFill/>
          <a:ln/>
        </p:spPr>
        <p:txBody>
          <a:bodyPr wrap="square" lIns="0" tIns="0" rIns="0" bIns="0" rtlCol="0" anchor="ctr"/>
          <a:lstStyle/>
          <a:p>
            <a:pPr marL="0" indent="0">
              <a:buNone/>
            </a:pPr>
            <a:r>
              <a:rPr lang="en-US" sz="3600" dirty="0">
                <a:solidFill>
                  <a:schemeClr val="tx1"/>
                </a:solidFill>
                <a:latin typeface="Arial Black" pitchFamily="34" charset="0"/>
                <a:ea typeface="Arial Black" pitchFamily="34" charset="-122"/>
                <a:cs typeface="Arial Black" pitchFamily="34" charset="-120"/>
              </a:rPr>
              <a:t>R² 0.76</a:t>
            </a:r>
            <a:endParaRPr lang="en-US" sz="3600" dirty="0"/>
          </a:p>
        </p:txBody>
      </p:sp>
      <p:sp>
        <p:nvSpPr>
          <p:cNvPr id="5" name="texto-183"/>
          <p:cNvSpPr txBox="1"/>
          <p:nvPr/>
        </p:nvSpPr>
        <p:spPr>
          <a:xfrm>
            <a:off x="8001000" y="2267712"/>
            <a:ext cx="3657600" cy="640080"/>
          </a:xfrm>
          <a:prstGeom prst="rect">
            <a:avLst/>
          </a:prstGeom>
          <a:noFill/>
          <a:ln/>
        </p:spPr>
        <p:txBody>
          <a:bodyPr wrap="square" lIns="0" tIns="0" rIns="0" bIns="0" rtlCol="0" anchor="t"/>
          <a:lstStyle/>
          <a:p>
            <a:pPr marL="0" indent="0">
              <a:buNone/>
            </a:pPr>
            <a:r>
              <a:rPr lang="en-US" sz="1400" dirty="0">
                <a:solidFill>
                  <a:schemeClr val="tx1"/>
                </a:solidFill>
              </a:rPr>
              <a:t>en la prueba de septiembre (629 anuncios), sin ajustar hiperparámetros</a:t>
            </a:r>
            <a:endParaRPr lang="en-US" sz="1400" dirty="0"/>
          </a:p>
        </p:txBody>
      </p:sp>
      <p:sp>
        <p:nvSpPr>
          <p:cNvPr id="6" name="texto-184"/>
          <p:cNvSpPr txBox="1"/>
          <p:nvPr/>
        </p:nvSpPr>
        <p:spPr>
          <a:xfrm>
            <a:off x="8001000" y="3063240"/>
            <a:ext cx="3657600" cy="685800"/>
          </a:xfrm>
          <a:prstGeom prst="rect">
            <a:avLst/>
          </a:prstGeom>
          <a:noFill/>
          <a:ln/>
        </p:spPr>
        <p:txBody>
          <a:bodyPr wrap="square" lIns="0" tIns="0" rIns="0" bIns="0" rtlCol="0" anchor="ctr"/>
          <a:lstStyle/>
          <a:p>
            <a:pPr marL="0" indent="0">
              <a:buNone/>
            </a:pPr>
            <a:r>
              <a:rPr lang="en-US" sz="3600" dirty="0">
                <a:solidFill>
                  <a:schemeClr val="tx1"/>
                </a:solidFill>
                <a:latin typeface="Arial Black" pitchFamily="34" charset="0"/>
                <a:ea typeface="Arial Black" pitchFamily="34" charset="-122"/>
                <a:cs typeface="Arial Black" pitchFamily="34" charset="-120"/>
              </a:rPr>
              <a:t>92 %</a:t>
            </a:r>
            <a:endParaRPr lang="en-US" sz="3600" dirty="0"/>
          </a:p>
        </p:txBody>
      </p:sp>
      <p:sp>
        <p:nvSpPr>
          <p:cNvPr id="7" name="texto-185"/>
          <p:cNvSpPr txBox="1"/>
          <p:nvPr/>
        </p:nvSpPr>
        <p:spPr>
          <a:xfrm>
            <a:off x="8001000" y="3776472"/>
            <a:ext cx="3657600" cy="640080"/>
          </a:xfrm>
          <a:prstGeom prst="rect">
            <a:avLst/>
          </a:prstGeom>
          <a:noFill/>
          <a:ln/>
        </p:spPr>
        <p:txBody>
          <a:bodyPr wrap="square" lIns="0" tIns="0" rIns="0" bIns="0" rtlCol="0" anchor="t"/>
          <a:lstStyle/>
          <a:p>
            <a:pPr marL="0" indent="0">
              <a:buNone/>
            </a:pPr>
            <a:r>
              <a:rPr lang="en-US" sz="1400" dirty="0">
                <a:solidFill>
                  <a:schemeClr val="tx1"/>
                </a:solidFill>
              </a:rPr>
              <a:t>de los precios de prueba cayeron dentro del rango al 90 %</a:t>
            </a:r>
            <a:endParaRPr lang="en-US" sz="1400" dirty="0"/>
          </a:p>
        </p:txBody>
      </p:sp>
      <p:sp>
        <p:nvSpPr>
          <p:cNvPr id="8" name="texto-186"/>
          <p:cNvSpPr txBox="1"/>
          <p:nvPr/>
        </p:nvSpPr>
        <p:spPr>
          <a:xfrm>
            <a:off x="8001000" y="4572000"/>
            <a:ext cx="3657600" cy="685800"/>
          </a:xfrm>
          <a:prstGeom prst="rect">
            <a:avLst/>
          </a:prstGeom>
          <a:noFill/>
          <a:ln/>
        </p:spPr>
        <p:txBody>
          <a:bodyPr wrap="square" lIns="0" tIns="0" rIns="0" bIns="0" rtlCol="0" anchor="ctr"/>
          <a:lstStyle/>
          <a:p>
            <a:pPr marL="0" indent="0">
              <a:buNone/>
            </a:pPr>
            <a:r>
              <a:rPr lang="en-US" sz="3600" dirty="0">
                <a:solidFill>
                  <a:schemeClr val="accent4"/>
                </a:solidFill>
                <a:latin typeface="Arial Black" pitchFamily="34" charset="0"/>
                <a:ea typeface="Arial Black" pitchFamily="34" charset="-122"/>
                <a:cs typeface="Arial Black" pitchFamily="34" charset="-120"/>
              </a:rPr>
              <a:t>S/ 512</a:t>
            </a:r>
            <a:endParaRPr lang="en-US" sz="3600" dirty="0"/>
          </a:p>
        </p:txBody>
      </p:sp>
      <p:sp>
        <p:nvSpPr>
          <p:cNvPr id="9" name="texto-187"/>
          <p:cNvSpPr txBox="1"/>
          <p:nvPr/>
        </p:nvSpPr>
        <p:spPr>
          <a:xfrm>
            <a:off x="8001000" y="5285232"/>
            <a:ext cx="3657600" cy="640080"/>
          </a:xfrm>
          <a:prstGeom prst="rect">
            <a:avLst/>
          </a:prstGeom>
          <a:noFill/>
          <a:ln/>
        </p:spPr>
        <p:txBody>
          <a:bodyPr wrap="square" lIns="0" tIns="0" rIns="0" bIns="0" rtlCol="0" anchor="t"/>
          <a:lstStyle/>
          <a:p>
            <a:pPr marL="0" indent="0">
              <a:buNone/>
            </a:pPr>
            <a:r>
              <a:rPr lang="en-US" sz="1400" dirty="0">
                <a:solidFill>
                  <a:schemeClr val="tx1"/>
                </a:solidFill>
              </a:rPr>
              <a:t>de error en 1,712 anuncios nuevos de octubre, sin reentrenar</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Ejercicio: Lince coincide con la app</a:t>
            </a:r>
            <a:endParaRPr lang="en-US" sz="3200" dirty="0"/>
          </a:p>
        </p:txBody>
      </p:sp>
      <p:graphicFrame>
        <p:nvGraphicFramePr>
          <p:cNvPr id="11" name="tabla-linc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212848">
                  <a:extLst>
                    <a:ext uri="{9D8B030D-6E8A-4147-A177-3AD203B41FA5}">
                      <a16:colId xmlns:a16="http://schemas.microsoft.com/office/drawing/2014/main" val="20000"/>
                    </a:ext>
                  </a:extLst>
                </a:gridCol>
                <a:gridCol w="2212848">
                  <a:extLst>
                    <a:ext uri="{9D8B030D-6E8A-4147-A177-3AD203B41FA5}">
                      <a16:colId xmlns:a16="http://schemas.microsoft.com/office/drawing/2014/main" val="20001"/>
                    </a:ext>
                  </a:extLst>
                </a:gridCol>
                <a:gridCol w="2212848">
                  <a:extLst>
                    <a:ext uri="{9D8B030D-6E8A-4147-A177-3AD203B41FA5}">
                      <a16:colId xmlns:a16="http://schemas.microsoft.com/office/drawing/2014/main" val="20002"/>
                    </a:ext>
                  </a:extLst>
                </a:gridCol>
                <a:gridCol w="2212848">
                  <a:extLst>
                    <a:ext uri="{9D8B030D-6E8A-4147-A177-3AD203B41FA5}">
                      <a16:colId xmlns:a16="http://schemas.microsoft.com/office/drawing/2014/main" val="20003"/>
                    </a:ext>
                  </a:extLst>
                </a:gridCol>
                <a:gridCol w="2212848">
                  <a:extLst>
                    <a:ext uri="{9D8B030D-6E8A-4147-A177-3AD203B41FA5}">
                      <a16:colId xmlns:a16="http://schemas.microsoft.com/office/drawing/2014/main" val="20004"/>
                    </a:ext>
                  </a:extLst>
                </a:gridCol>
              </a:tblGrid>
              <a:tr h="457200">
                <a:tc>
                  <a:txBody>
                    <a:bodyPr/>
                    <a:lstStyle/>
                    <a:p>
                      <a:pPr marL="0" indent="0" algn="ctr">
                        <a:buNone/>
                      </a:pPr>
                      <a:r>
                        <a:rPr lang="en-US" sz="1600" b="1" dirty="0">
                          <a:solidFill>
                            <a:schemeClr val="bg1"/>
                          </a:solidFill>
                          <a:latin typeface="Arial" pitchFamily="34" charset="0"/>
                          <a:ea typeface="Arial" pitchFamily="34" charset="-122"/>
                          <a:cs typeface="Arial" pitchFamily="34" charset="-120"/>
                        </a:rPr>
                        <a:t>Distrito</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solidFill>
                      <a:schemeClr val="tx1"/>
                    </a:solidFill>
                  </a:tcPr>
                </a:tc>
                <a:tc>
                  <a:txBody>
                    <a:bodyPr/>
                    <a:lstStyle/>
                    <a:p>
                      <a:pPr marL="0" indent="0" algn="ctr">
                        <a:buNone/>
                      </a:pPr>
                      <a:r>
                        <a:rPr lang="en-US" sz="1600" b="1" dirty="0">
                          <a:solidFill>
                            <a:schemeClr val="bg1"/>
                          </a:solidFill>
                          <a:latin typeface="Arial" pitchFamily="34" charset="0"/>
                          <a:ea typeface="Arial" pitchFamily="34" charset="-122"/>
                          <a:cs typeface="Arial" pitchFamily="34" charset="-120"/>
                        </a:rPr>
                        <a:t>n (prueba)</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solidFill>
                      <a:schemeClr val="tx1"/>
                    </a:solidFill>
                  </a:tcPr>
                </a:tc>
                <a:tc>
                  <a:txBody>
                    <a:bodyPr/>
                    <a:lstStyle/>
                    <a:p>
                      <a:pPr marL="0" indent="0" algn="ctr">
                        <a:buNone/>
                      </a:pPr>
                      <a:r>
                        <a:rPr lang="en-US" sz="1600" b="1" dirty="0">
                          <a:solidFill>
                            <a:schemeClr val="bg1"/>
                          </a:solidFill>
                          <a:latin typeface="Arial" pitchFamily="34" charset="0"/>
                          <a:ea typeface="Arial" pitchFamily="34" charset="-122"/>
                          <a:cs typeface="Arial" pitchFamily="34" charset="-120"/>
                        </a:rPr>
                        <a:t>MAE calculado</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solidFill>
                      <a:schemeClr val="tx1"/>
                    </a:solidFill>
                  </a:tcPr>
                </a:tc>
                <a:tc>
                  <a:txBody>
                    <a:bodyPr/>
                    <a:lstStyle/>
                    <a:p>
                      <a:pPr marL="0" indent="0" algn="ctr">
                        <a:buNone/>
                      </a:pPr>
                      <a:r>
                        <a:rPr lang="en-US" sz="1600" b="1" dirty="0">
                          <a:solidFill>
                            <a:schemeClr val="bg1"/>
                          </a:solidFill>
                          <a:latin typeface="Arial" pitchFamily="34" charset="0"/>
                          <a:ea typeface="Arial" pitchFamily="34" charset="-122"/>
                          <a:cs typeface="Arial" pitchFamily="34" charset="-120"/>
                        </a:rPr>
                        <a:t>n en la app</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solidFill>
                      <a:schemeClr val="tx1"/>
                    </a:solidFill>
                  </a:tcPr>
                </a:tc>
                <a:tc>
                  <a:txBody>
                    <a:bodyPr/>
                    <a:lstStyle/>
                    <a:p>
                      <a:pPr marL="0" indent="0" algn="ctr">
                        <a:buNone/>
                      </a:pPr>
                      <a:r>
                        <a:rPr lang="en-US" sz="1600" b="1" dirty="0">
                          <a:solidFill>
                            <a:schemeClr val="bg1"/>
                          </a:solidFill>
                          <a:latin typeface="Arial" pitchFamily="34" charset="0"/>
                          <a:ea typeface="Arial" pitchFamily="34" charset="-122"/>
                          <a:cs typeface="Arial" pitchFamily="34" charset="-120"/>
                        </a:rPr>
                        <a:t>MAE en la app</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lgn="ctr">
                        <a:buNone/>
                      </a:pPr>
                      <a:r>
                        <a:rPr lang="en-US" sz="1600" b="1" dirty="0">
                          <a:solidFill>
                            <a:schemeClr val="tx1"/>
                          </a:solidFill>
                          <a:latin typeface="Arial" pitchFamily="34" charset="0"/>
                          <a:ea typeface="Arial" pitchFamily="34" charset="-122"/>
                          <a:cs typeface="Arial" pitchFamily="34" charset="-120"/>
                        </a:rPr>
                        <a:t>Lince</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tcPr>
                </a:tc>
                <a:tc>
                  <a:txBody>
                    <a:bodyPr/>
                    <a:lstStyle/>
                    <a:p>
                      <a:pPr marL="0" indent="0" algn="ctr">
                        <a:buNone/>
                      </a:pPr>
                      <a:r>
                        <a:rPr lang="en-US" sz="1600" dirty="0">
                          <a:solidFill>
                            <a:schemeClr val="tx1"/>
                          </a:solidFill>
                          <a:latin typeface="Arial" pitchFamily="34" charset="0"/>
                          <a:ea typeface="Arial" pitchFamily="34" charset="-122"/>
                          <a:cs typeface="Arial" pitchFamily="34" charset="-120"/>
                        </a:rPr>
                        <a:t>25</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tcPr>
                </a:tc>
                <a:tc>
                  <a:txBody>
                    <a:bodyPr/>
                    <a:lstStyle/>
                    <a:p>
                      <a:pPr marL="0" indent="0" algn="ctr">
                        <a:buNone/>
                      </a:pPr>
                      <a:r>
                        <a:rPr lang="en-US" sz="1600" b="1" dirty="0">
                          <a:solidFill>
                            <a:schemeClr val="accent4"/>
                          </a:solidFill>
                          <a:latin typeface="Arial" pitchFamily="34" charset="0"/>
                          <a:ea typeface="Arial" pitchFamily="34" charset="-122"/>
                          <a:cs typeface="Arial" pitchFamily="34" charset="-120"/>
                        </a:rPr>
                        <a:t>S/ 284.90</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tcPr>
                </a:tc>
                <a:tc>
                  <a:txBody>
                    <a:bodyPr/>
                    <a:lstStyle/>
                    <a:p>
                      <a:pPr marL="0" indent="0" algn="ctr">
                        <a:buNone/>
                      </a:pPr>
                      <a:r>
                        <a:rPr lang="en-US" sz="1600" dirty="0">
                          <a:solidFill>
                            <a:schemeClr val="tx1"/>
                          </a:solidFill>
                          <a:latin typeface="Arial" pitchFamily="34" charset="0"/>
                          <a:ea typeface="Arial" pitchFamily="34" charset="-122"/>
                          <a:cs typeface="Arial" pitchFamily="34" charset="-120"/>
                        </a:rPr>
                        <a:t>25</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tcPr>
                </a:tc>
                <a:tc>
                  <a:txBody>
                    <a:bodyPr/>
                    <a:lstStyle/>
                    <a:p>
                      <a:pPr marL="0" indent="0" algn="ctr">
                        <a:buNone/>
                      </a:pPr>
                      <a:r>
                        <a:rPr lang="en-US" sz="1600" b="1" dirty="0">
                          <a:solidFill>
                            <a:schemeClr val="accent4"/>
                          </a:solidFill>
                          <a:latin typeface="Arial" pitchFamily="34" charset="0"/>
                          <a:ea typeface="Arial" pitchFamily="34" charset="-122"/>
                          <a:cs typeface="Arial" pitchFamily="34" charset="-120"/>
                        </a:rPr>
                        <a:t>S/ 284.90</a:t>
                      </a:r>
                      <a:endParaRPr lang="en-US" sz="1600" dirty="0">
                        <a:latin typeface="Arial" charset="0"/>
                        <a:ea typeface="Arial" charset="0"/>
                        <a:cs typeface="Arial" charset="0"/>
                      </a:endParaRPr>
                    </a:p>
                  </a:txBody>
                  <a:tcPr anchor="ctr">
                    <a:lnL w="9525" cap="flat" cmpd="sng" algn="ctr">
                      <a:solidFill>
                        <a:srgbClr val="E3E2DE"/>
                      </a:solidFill>
                      <a:prstDash val="solid"/>
                      <a:round/>
                      <a:headEnd type="none" w="med" len="med"/>
                      <a:tailEnd type="none" w="med" len="med"/>
                    </a:lnL>
                    <a:lnR w="9525" cap="flat" cmpd="sng" algn="ctr">
                      <a:solidFill>
                        <a:srgbClr val="E3E2DE"/>
                      </a:solidFill>
                      <a:prstDash val="solid"/>
                      <a:round/>
                      <a:headEnd type="none" w="med" len="med"/>
                      <a:tailEnd type="none" w="med" len="med"/>
                    </a:lnR>
                    <a:lnT w="9525" cap="flat" cmpd="sng" algn="ctr">
                      <a:solidFill>
                        <a:srgbClr val="E3E2DE"/>
                      </a:solidFill>
                      <a:prstDash val="solid"/>
                      <a:round/>
                      <a:headEnd type="none" w="med" len="med"/>
                      <a:tailEnd type="none" w="med" len="med"/>
                    </a:lnT>
                    <a:lnB w="9525" cap="flat" cmpd="sng" algn="ctr">
                      <a:solidFill>
                        <a:srgbClr val="E3E2DE"/>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caja-188"/>
          <p:cNvSpPr/>
          <p:nvPr/>
        </p:nvSpPr>
        <p:spPr>
          <a:xfrm>
            <a:off x="548640" y="2880360"/>
            <a:ext cx="4937760" cy="3063240"/>
          </a:xfrm>
          <a:prstGeom prst="rect">
            <a:avLst/>
          </a:prstGeom>
          <a:solidFill>
            <a:schemeClr val="accent3"/>
          </a:solidFill>
          <a:ln/>
        </p:spPr>
        <p:txBody>
          <a:bodyPr/>
          <a:lstStyle/>
          <a:p>
            <a:endParaRPr lang="es-PE"/>
          </a:p>
        </p:txBody>
      </p:sp>
      <p:sp>
        <p:nvSpPr>
          <p:cNvPr id="5" name="texto-189"/>
          <p:cNvSpPr txBox="1"/>
          <p:nvPr/>
        </p:nvSpPr>
        <p:spPr>
          <a:xfrm>
            <a:off x="868680" y="3154680"/>
            <a:ext cx="4297680" cy="365760"/>
          </a:xfrm>
          <a:prstGeom prst="rect">
            <a:avLst/>
          </a:prstGeom>
          <a:noFill/>
          <a:ln/>
        </p:spPr>
        <p:txBody>
          <a:bodyPr wrap="square" lIns="0" tIns="0" rIns="0" bIns="0" rtlCol="0" anchor="t"/>
          <a:lstStyle/>
          <a:p>
            <a:pPr marL="0" indent="0">
              <a:buNone/>
            </a:pPr>
            <a:r>
              <a:rPr lang="en-US" sz="1600" b="1" dirty="0">
                <a:solidFill>
                  <a:schemeClr val="tx1"/>
                </a:solidFill>
              </a:rPr>
              <a:t>Error promedio en Lince</a:t>
            </a:r>
            <a:endParaRPr lang="en-US" sz="1600" dirty="0"/>
          </a:p>
        </p:txBody>
      </p:sp>
      <p:sp>
        <p:nvSpPr>
          <p:cNvPr id="6" name="texto-190"/>
          <p:cNvSpPr txBox="1"/>
          <p:nvPr/>
        </p:nvSpPr>
        <p:spPr>
          <a:xfrm>
            <a:off x="868680" y="3566160"/>
            <a:ext cx="4297680" cy="1005840"/>
          </a:xfrm>
          <a:prstGeom prst="rect">
            <a:avLst/>
          </a:prstGeom>
          <a:noFill/>
          <a:ln/>
        </p:spPr>
        <p:txBody>
          <a:bodyPr wrap="square" lIns="0" tIns="0" rIns="0" bIns="0" rtlCol="0" anchor="ctr"/>
          <a:lstStyle/>
          <a:p>
            <a:pPr marL="0" indent="0">
              <a:buNone/>
            </a:pPr>
            <a:r>
              <a:rPr lang="en-US" sz="5000" dirty="0">
                <a:solidFill>
                  <a:schemeClr val="tx1"/>
                </a:solidFill>
                <a:latin typeface="Arial Black" pitchFamily="34" charset="0"/>
                <a:ea typeface="Arial Black" pitchFamily="34" charset="-122"/>
                <a:cs typeface="Arial Black" pitchFamily="34" charset="-120"/>
              </a:rPr>
              <a:t>S/ 284.90</a:t>
            </a:r>
            <a:endParaRPr lang="en-US" sz="5000" dirty="0"/>
          </a:p>
        </p:txBody>
      </p:sp>
      <p:sp>
        <p:nvSpPr>
          <p:cNvPr id="7" name="texto-191"/>
          <p:cNvSpPr txBox="1"/>
          <p:nvPr/>
        </p:nvSpPr>
        <p:spPr>
          <a:xfrm>
            <a:off x="868680" y="4709160"/>
            <a:ext cx="4297680" cy="822960"/>
          </a:xfrm>
          <a:prstGeom prst="rect">
            <a:avLst/>
          </a:prstGeom>
          <a:noFill/>
          <a:ln/>
        </p:spPr>
        <p:txBody>
          <a:bodyPr wrap="square" lIns="0" tIns="0" rIns="0" bIns="0" rtlCol="0" anchor="t"/>
          <a:lstStyle/>
          <a:p>
            <a:pPr marL="0" indent="0">
              <a:buNone/>
            </a:pPr>
            <a:r>
              <a:rPr lang="en-US" sz="1500" dirty="0">
                <a:solidFill>
                  <a:schemeClr val="tx1"/>
                </a:solidFill>
              </a:rPr>
              <a:t>La mitad que el error del conjunto de prueba completo (S/ 553).</a:t>
            </a:r>
            <a:endParaRPr lang="en-US" sz="1500" dirty="0"/>
          </a:p>
        </p:txBody>
      </p:sp>
      <p:sp>
        <p:nvSpPr>
          <p:cNvPr id="8" name="texto-192"/>
          <p:cNvSpPr txBox="1"/>
          <p:nvPr/>
        </p:nvSpPr>
        <p:spPr>
          <a:xfrm>
            <a:off x="5852160" y="2880360"/>
            <a:ext cx="5760720" cy="411480"/>
          </a:xfrm>
          <a:prstGeom prst="rect">
            <a:avLst/>
          </a:prstGeom>
          <a:noFill/>
          <a:ln/>
        </p:spPr>
        <p:txBody>
          <a:bodyPr wrap="square" lIns="0" tIns="0" rIns="0" bIns="0" rtlCol="0" anchor="t"/>
          <a:lstStyle/>
          <a:p>
            <a:pPr marL="0" indent="0">
              <a:buNone/>
            </a:pPr>
            <a:r>
              <a:rPr lang="en-US" sz="1800" b="1" dirty="0">
                <a:solidFill>
                  <a:schemeClr val="tx1"/>
                </a:solidFill>
              </a:rPr>
              <a:t>Cómo lo leemos</a:t>
            </a:r>
            <a:endParaRPr lang="en-US" sz="1800" dirty="0"/>
          </a:p>
        </p:txBody>
      </p:sp>
      <p:sp>
        <p:nvSpPr>
          <p:cNvPr id="9" name="texto-193"/>
          <p:cNvSpPr txBox="1"/>
          <p:nvPr/>
        </p:nvSpPr>
        <p:spPr>
          <a:xfrm>
            <a:off x="5852160" y="3383280"/>
            <a:ext cx="576072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Filtro: anuncios de prueba de Lince; 25 casos, por encima del mínimo de 20.</a:t>
            </a:r>
            <a:endParaRPr lang="en-US" sz="1500" dirty="0"/>
          </a:p>
          <a:p>
            <a:pPr marL="342900" indent="-342900">
              <a:spcAft>
                <a:spcPts val="800"/>
              </a:spcAft>
              <a:buSzPct val="100000"/>
              <a:buChar char="•"/>
            </a:pPr>
            <a:r>
              <a:rPr lang="en-US" sz="1500" dirty="0">
                <a:solidFill>
                  <a:schemeClr val="tx1"/>
                </a:solidFill>
              </a:rPr>
              <a:t>Error de cada anuncio: mediana S/ 200, entre S/ 10 y S/ 895.</a:t>
            </a:r>
            <a:endParaRPr lang="en-US" sz="1500" dirty="0"/>
          </a:p>
          <a:p>
            <a:pPr marL="342900" indent="-342900">
              <a:spcAft>
                <a:spcPts val="800"/>
              </a:spcAft>
              <a:buSzPct val="100000"/>
              <a:buChar char="•"/>
            </a:pPr>
            <a:r>
              <a:rPr lang="en-US" sz="1500" dirty="0">
                <a:solidFill>
                  <a:schemeClr val="tx1"/>
                </a:solidFill>
              </a:rPr>
              <a:t>El cálculo de EJERCICIO_FINAL.py da lo mismo que muestra la app: el filtro y el redondeo son correctos.</a:t>
            </a:r>
            <a:endParaRPr lang="en-US" sz="1500" dirty="0"/>
          </a:p>
          <a:p>
            <a:pPr marL="342900" indent="-342900">
              <a:spcAft>
                <a:spcPts val="800"/>
              </a:spcAft>
              <a:buSzPct val="100000"/>
              <a:buChar char="•"/>
            </a:pPr>
            <a:r>
              <a:rPr lang="en-US" sz="1500" dirty="0">
                <a:solidFill>
                  <a:schemeClr val="tx1"/>
                </a:solidFill>
              </a:rPr>
              <a:t>Es un promedio de septiembre: no garantiza el error de otra vivienda ni de meses posteriores.</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tx1"/>
                </a:solidFill>
              </a:rPr>
              <a:t>Limitaciones y desafíos</a:t>
            </a:r>
            <a:endParaRPr lang="en-US" sz="3200" dirty="0"/>
          </a:p>
        </p:txBody>
      </p:sp>
      <p:sp>
        <p:nvSpPr>
          <p:cNvPr id="3" name="caja-194"/>
          <p:cNvSpPr/>
          <p:nvPr/>
        </p:nvSpPr>
        <p:spPr>
          <a:xfrm>
            <a:off x="548640" y="1508760"/>
            <a:ext cx="5394960" cy="4023360"/>
          </a:xfrm>
          <a:prstGeom prst="rect">
            <a:avLst/>
          </a:prstGeom>
          <a:solidFill>
            <a:schemeClr val="accent3"/>
          </a:solidFill>
          <a:ln/>
        </p:spPr>
        <p:txBody>
          <a:bodyPr/>
          <a:lstStyle/>
          <a:p>
            <a:endParaRPr lang="es-PE"/>
          </a:p>
        </p:txBody>
      </p:sp>
      <p:sp>
        <p:nvSpPr>
          <p:cNvPr id="4" name="texto-195"/>
          <p:cNvSpPr txBox="1"/>
          <p:nvPr/>
        </p:nvSpPr>
        <p:spPr>
          <a:xfrm>
            <a:off x="868680" y="1783080"/>
            <a:ext cx="4754880" cy="411480"/>
          </a:xfrm>
          <a:prstGeom prst="rect">
            <a:avLst/>
          </a:prstGeom>
          <a:noFill/>
          <a:ln/>
        </p:spPr>
        <p:txBody>
          <a:bodyPr wrap="square" lIns="0" tIns="0" rIns="0" bIns="0" rtlCol="0" anchor="t"/>
          <a:lstStyle/>
          <a:p>
            <a:pPr marL="0" indent="0">
              <a:buNone/>
            </a:pPr>
            <a:r>
              <a:rPr lang="en-US" sz="2000" dirty="0">
                <a:solidFill>
                  <a:schemeClr val="tx1"/>
                </a:solidFill>
                <a:latin typeface="Arial Black" pitchFamily="34" charset="0"/>
                <a:ea typeface="Arial Black" pitchFamily="34" charset="-122"/>
                <a:cs typeface="Arial Black" pitchFamily="34" charset="-120"/>
              </a:rPr>
              <a:t>Limitaciones</a:t>
            </a:r>
            <a:endParaRPr lang="en-US" sz="2000" dirty="0"/>
          </a:p>
        </p:txBody>
      </p:sp>
      <p:sp>
        <p:nvSpPr>
          <p:cNvPr id="5" name="texto-196"/>
          <p:cNvSpPr txBox="1"/>
          <p:nvPr/>
        </p:nvSpPr>
        <p:spPr>
          <a:xfrm>
            <a:off x="868680" y="2377440"/>
            <a:ext cx="475488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Precios de oferta, no de cierre.</a:t>
            </a:r>
            <a:endParaRPr lang="en-US" sz="1500" dirty="0"/>
          </a:p>
          <a:p>
            <a:pPr marL="342900" indent="-342900">
              <a:spcAft>
                <a:spcPts val="1000"/>
              </a:spcAft>
              <a:buSzPct val="100000"/>
              <a:buChar char="•"/>
            </a:pPr>
            <a:r>
              <a:rPr lang="en-US" sz="1500" dirty="0">
                <a:solidFill>
                  <a:schemeClr val="tx1"/>
                </a:solidFill>
              </a:rPr>
              <a:t>El rango es global (±S/ 1,357): ancho para los depas baratos.</a:t>
            </a:r>
            <a:endParaRPr lang="en-US" sz="1500" dirty="0"/>
          </a:p>
          <a:p>
            <a:pPr marL="342900" indent="-342900">
              <a:spcAft>
                <a:spcPts val="1000"/>
              </a:spcAft>
              <a:buSzPct val="100000"/>
              <a:buChar char="•"/>
            </a:pPr>
            <a:r>
              <a:rPr lang="en-US" sz="1500" dirty="0">
                <a:solidFill>
                  <a:schemeClr val="tx1"/>
                </a:solidFill>
              </a:rPr>
              <a:t>Distritos con menos de 20 anuncios de prueba: error inestable (la app lo avisa).</a:t>
            </a:r>
            <a:endParaRPr lang="en-US" sz="1500" dirty="0"/>
          </a:p>
          <a:p>
            <a:pPr marL="342900" indent="-342900">
              <a:spcAft>
                <a:spcPts val="1000"/>
              </a:spcAft>
              <a:buSzPct val="100000"/>
              <a:buChar char="•"/>
            </a:pPr>
            <a:r>
              <a:rPr lang="en-US" sz="1500" dirty="0">
                <a:solidFill>
                  <a:schemeClr val="tx1"/>
                </a:solidFill>
              </a:rPr>
              <a:t>Paraderos ATU de 2021; el BCRP no cubre todos los distritos.</a:t>
            </a:r>
            <a:endParaRPr lang="en-US" sz="1500" dirty="0"/>
          </a:p>
          <a:p>
            <a:pPr marL="342900" indent="-342900">
              <a:spcAft>
                <a:spcPts val="1000"/>
              </a:spcAft>
              <a:buSzPct val="100000"/>
              <a:buChar char="•"/>
            </a:pPr>
            <a:r>
              <a:rPr lang="en-US" sz="1500" dirty="0">
                <a:solidFill>
                  <a:schemeClr val="tx1"/>
                </a:solidFill>
              </a:rPr>
              <a:t>Desde el 25-oct los portales bloquean (403) la descarga diaria desde la nube.</a:t>
            </a:r>
            <a:endParaRPr lang="en-US" sz="1500" dirty="0"/>
          </a:p>
        </p:txBody>
      </p:sp>
      <p:sp>
        <p:nvSpPr>
          <p:cNvPr id="6" name="caja-197"/>
          <p:cNvSpPr/>
          <p:nvPr/>
        </p:nvSpPr>
        <p:spPr>
          <a:xfrm>
            <a:off x="6245352" y="1508760"/>
            <a:ext cx="5394960" cy="4023360"/>
          </a:xfrm>
          <a:prstGeom prst="rect">
            <a:avLst/>
          </a:prstGeom>
          <a:solidFill>
            <a:schemeClr val="bg2"/>
          </a:solidFill>
          <a:ln/>
        </p:spPr>
        <p:txBody>
          <a:bodyPr/>
          <a:lstStyle/>
          <a:p>
            <a:endParaRPr lang="es-PE"/>
          </a:p>
        </p:txBody>
      </p:sp>
      <p:sp>
        <p:nvSpPr>
          <p:cNvPr id="7" name="texto-198"/>
          <p:cNvSpPr txBox="1"/>
          <p:nvPr/>
        </p:nvSpPr>
        <p:spPr>
          <a:xfrm>
            <a:off x="6565392" y="1783080"/>
            <a:ext cx="4754880" cy="411480"/>
          </a:xfrm>
          <a:prstGeom prst="rect">
            <a:avLst/>
          </a:prstGeom>
          <a:noFill/>
          <a:ln/>
        </p:spPr>
        <p:txBody>
          <a:bodyPr wrap="square" lIns="0" tIns="0" rIns="0" bIns="0" rtlCol="0" anchor="t"/>
          <a:lstStyle/>
          <a:p>
            <a:pPr marL="0" indent="0">
              <a:buNone/>
            </a:pPr>
            <a:r>
              <a:rPr lang="en-US" sz="2000" dirty="0">
                <a:solidFill>
                  <a:schemeClr val="tx1"/>
                </a:solidFill>
                <a:latin typeface="Arial Black" pitchFamily="34" charset="0"/>
                <a:ea typeface="Arial Black" pitchFamily="34" charset="-122"/>
                <a:cs typeface="Arial Black" pitchFamily="34" charset="-120"/>
              </a:rPr>
              <a:t>Desafíos resueltos</a:t>
            </a:r>
            <a:endParaRPr lang="en-US" sz="2000" dirty="0"/>
          </a:p>
        </p:txBody>
      </p:sp>
      <p:sp>
        <p:nvSpPr>
          <p:cNvPr id="8" name="texto-199"/>
          <p:cNvSpPr txBox="1"/>
          <p:nvPr/>
        </p:nvSpPr>
        <p:spPr>
          <a:xfrm>
            <a:off x="6565392" y="2377440"/>
            <a:ext cx="475488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Duplicados entre portales: 3,013 grupos, sin un mismo inmueble en entrenamiento y prueba.</a:t>
            </a:r>
            <a:endParaRPr lang="en-US" sz="1500" dirty="0"/>
          </a:p>
          <a:p>
            <a:pPr marL="342900" indent="-342900">
              <a:spcAft>
                <a:spcPts val="1000"/>
              </a:spcAft>
              <a:buSzPct val="100000"/>
              <a:buChar char="•"/>
            </a:pPr>
            <a:r>
              <a:rPr lang="en-US" sz="1500" dirty="0">
                <a:solidFill>
                  <a:schemeClr val="tx1"/>
                </a:solidFill>
              </a:rPr>
              <a:t>Validar octubre sin repetir anuncios de septiembre (se excluyeron 2,464).</a:t>
            </a:r>
            <a:endParaRPr lang="en-US" sz="1500" dirty="0"/>
          </a:p>
          <a:p>
            <a:pPr marL="342900" indent="-342900">
              <a:spcAft>
                <a:spcPts val="1000"/>
              </a:spcAft>
              <a:buSzPct val="100000"/>
              <a:buChar char="•"/>
            </a:pPr>
            <a:r>
              <a:rPr lang="en-US" sz="1500" dirty="0">
                <a:solidFill>
                  <a:schemeClr val="tx1"/>
                </a:solidFill>
              </a:rPr>
              <a:t>Datos persistentes en un plan gratuito: Postgres en Neon.</a:t>
            </a:r>
            <a:endParaRPr lang="en-US" sz="1500" dirty="0"/>
          </a:p>
          <a:p>
            <a:pPr marL="342900" indent="-342900">
              <a:spcAft>
                <a:spcPts val="1000"/>
              </a:spcAft>
              <a:buSzPct val="100000"/>
              <a:buChar char="•"/>
            </a:pPr>
            <a:r>
              <a:rPr lang="en-US" sz="1500" dirty="0">
                <a:solidFill>
                  <a:schemeClr val="tx1"/>
                </a:solidFill>
              </a:rPr>
              <a:t>Modelos reproducibles: versiones fijas y hashes verificados al cargar.</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dirty="0">
                <a:solidFill>
                  <a:schemeClr val="bg1"/>
                </a:solidFill>
              </a:rPr>
              <a:t>Hacia la Semana 13</a:t>
            </a:r>
            <a:endParaRPr lang="en-US" sz="3200" dirty="0"/>
          </a:p>
        </p:txBody>
      </p:sp>
      <p:sp>
        <p:nvSpPr>
          <p:cNvPr id="3" name="caja-200"/>
          <p:cNvSpPr/>
          <p:nvPr/>
        </p:nvSpPr>
        <p:spPr>
          <a:xfrm>
            <a:off x="548640" y="1600200"/>
            <a:ext cx="457200" cy="457200"/>
          </a:xfrm>
          <a:prstGeom prst="rect">
            <a:avLst/>
          </a:prstGeom>
          <a:solidFill>
            <a:schemeClr val="accent1"/>
          </a:solidFill>
          <a:ln/>
        </p:spPr>
        <p:txBody>
          <a:bodyPr/>
          <a:lstStyle/>
          <a:p>
            <a:endParaRPr lang="es-PE"/>
          </a:p>
        </p:txBody>
      </p:sp>
      <p:sp>
        <p:nvSpPr>
          <p:cNvPr id="4" name="texto-201"/>
          <p:cNvSpPr txBox="1"/>
          <p:nvPr/>
        </p:nvSpPr>
        <p:spPr>
          <a:xfrm>
            <a:off x="548640" y="1600200"/>
            <a:ext cx="4572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1</a:t>
            </a:r>
            <a:endParaRPr lang="en-US" sz="1400" dirty="0"/>
          </a:p>
        </p:txBody>
      </p:sp>
      <p:sp>
        <p:nvSpPr>
          <p:cNvPr id="5" name="texto-202"/>
          <p:cNvSpPr txBox="1"/>
          <p:nvPr/>
        </p:nvSpPr>
        <p:spPr>
          <a:xfrm>
            <a:off x="1234440" y="1600200"/>
            <a:ext cx="4754880" cy="457200"/>
          </a:xfrm>
          <a:prstGeom prst="rect">
            <a:avLst/>
          </a:prstGeom>
          <a:noFill/>
          <a:ln/>
        </p:spPr>
        <p:txBody>
          <a:bodyPr wrap="square" lIns="0" tIns="0" rIns="0" bIns="0" rtlCol="0" anchor="ctr"/>
          <a:lstStyle/>
          <a:p>
            <a:pPr marL="0" indent="0">
              <a:buNone/>
            </a:pPr>
            <a:r>
              <a:rPr lang="en-US" sz="1700" dirty="0">
                <a:solidFill>
                  <a:schemeClr val="bg1"/>
                </a:solidFill>
              </a:rPr>
              <a:t>Informe de evaluación con líneas base y error por distrito</a:t>
            </a:r>
            <a:endParaRPr lang="en-US" sz="1700" dirty="0"/>
          </a:p>
        </p:txBody>
      </p:sp>
      <p:sp>
        <p:nvSpPr>
          <p:cNvPr id="6" name="caja-203"/>
          <p:cNvSpPr/>
          <p:nvPr/>
        </p:nvSpPr>
        <p:spPr>
          <a:xfrm>
            <a:off x="6172200" y="1600200"/>
            <a:ext cx="457200" cy="457200"/>
          </a:xfrm>
          <a:prstGeom prst="rect">
            <a:avLst/>
          </a:prstGeom>
          <a:solidFill>
            <a:schemeClr val="accent1"/>
          </a:solidFill>
          <a:ln/>
        </p:spPr>
        <p:txBody>
          <a:bodyPr/>
          <a:lstStyle/>
          <a:p>
            <a:endParaRPr lang="es-PE"/>
          </a:p>
        </p:txBody>
      </p:sp>
      <p:sp>
        <p:nvSpPr>
          <p:cNvPr id="7" name="texto-204"/>
          <p:cNvSpPr txBox="1"/>
          <p:nvPr/>
        </p:nvSpPr>
        <p:spPr>
          <a:xfrm>
            <a:off x="6172200" y="1600200"/>
            <a:ext cx="4572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2</a:t>
            </a:r>
            <a:endParaRPr lang="en-US" sz="1400" dirty="0"/>
          </a:p>
        </p:txBody>
      </p:sp>
      <p:sp>
        <p:nvSpPr>
          <p:cNvPr id="8" name="texto-205"/>
          <p:cNvSpPr txBox="1"/>
          <p:nvPr/>
        </p:nvSpPr>
        <p:spPr>
          <a:xfrm>
            <a:off x="6858000" y="1600200"/>
            <a:ext cx="4754880" cy="457200"/>
          </a:xfrm>
          <a:prstGeom prst="rect">
            <a:avLst/>
          </a:prstGeom>
          <a:noFill/>
          <a:ln/>
        </p:spPr>
        <p:txBody>
          <a:bodyPr wrap="square" lIns="0" tIns="0" rIns="0" bIns="0" rtlCol="0" anchor="ctr"/>
          <a:lstStyle/>
          <a:p>
            <a:pPr marL="0" indent="0">
              <a:buNone/>
            </a:pPr>
            <a:r>
              <a:rPr lang="en-US" sz="1700" dirty="0">
                <a:solidFill>
                  <a:schemeClr val="bg1"/>
                </a:solidFill>
              </a:rPr>
              <a:t>Casos de estudio: un propietario y un inquilino</a:t>
            </a:r>
            <a:endParaRPr lang="en-US" sz="1700" dirty="0"/>
          </a:p>
        </p:txBody>
      </p:sp>
      <p:sp>
        <p:nvSpPr>
          <p:cNvPr id="9" name="caja-206"/>
          <p:cNvSpPr/>
          <p:nvPr/>
        </p:nvSpPr>
        <p:spPr>
          <a:xfrm>
            <a:off x="548640" y="2697480"/>
            <a:ext cx="457200" cy="457200"/>
          </a:xfrm>
          <a:prstGeom prst="rect">
            <a:avLst/>
          </a:prstGeom>
          <a:solidFill>
            <a:schemeClr val="accent1"/>
          </a:solidFill>
          <a:ln/>
        </p:spPr>
        <p:txBody>
          <a:bodyPr/>
          <a:lstStyle/>
          <a:p>
            <a:endParaRPr lang="es-PE"/>
          </a:p>
        </p:txBody>
      </p:sp>
      <p:sp>
        <p:nvSpPr>
          <p:cNvPr id="10" name="texto-207"/>
          <p:cNvSpPr txBox="1"/>
          <p:nvPr/>
        </p:nvSpPr>
        <p:spPr>
          <a:xfrm>
            <a:off x="548640" y="2697480"/>
            <a:ext cx="4572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3</a:t>
            </a:r>
            <a:endParaRPr lang="en-US" sz="1400" dirty="0"/>
          </a:p>
        </p:txBody>
      </p:sp>
      <p:sp>
        <p:nvSpPr>
          <p:cNvPr id="11" name="texto-208"/>
          <p:cNvSpPr txBox="1"/>
          <p:nvPr/>
        </p:nvSpPr>
        <p:spPr>
          <a:xfrm>
            <a:off x="1234440" y="2697480"/>
            <a:ext cx="4754880" cy="457200"/>
          </a:xfrm>
          <a:prstGeom prst="rect">
            <a:avLst/>
          </a:prstGeom>
          <a:noFill/>
          <a:ln/>
        </p:spPr>
        <p:txBody>
          <a:bodyPr wrap="square" lIns="0" tIns="0" rIns="0" bIns="0" rtlCol="0" anchor="ctr"/>
          <a:lstStyle/>
          <a:p>
            <a:pPr marL="0" indent="0">
              <a:buNone/>
            </a:pPr>
            <a:r>
              <a:rPr lang="en-US" sz="1700" dirty="0">
                <a:solidFill>
                  <a:schemeClr val="bg1"/>
                </a:solidFill>
              </a:rPr>
              <a:t>Rango que dependa del precio del depa</a:t>
            </a:r>
            <a:endParaRPr lang="en-US" sz="1700" dirty="0"/>
          </a:p>
        </p:txBody>
      </p:sp>
      <p:sp>
        <p:nvSpPr>
          <p:cNvPr id="12" name="caja-209"/>
          <p:cNvSpPr/>
          <p:nvPr/>
        </p:nvSpPr>
        <p:spPr>
          <a:xfrm>
            <a:off x="6172200" y="2697480"/>
            <a:ext cx="457200" cy="457200"/>
          </a:xfrm>
          <a:prstGeom prst="rect">
            <a:avLst/>
          </a:prstGeom>
          <a:solidFill>
            <a:schemeClr val="accent1"/>
          </a:solidFill>
          <a:ln/>
        </p:spPr>
        <p:txBody>
          <a:bodyPr/>
          <a:lstStyle/>
          <a:p>
            <a:endParaRPr lang="es-PE"/>
          </a:p>
        </p:txBody>
      </p:sp>
      <p:sp>
        <p:nvSpPr>
          <p:cNvPr id="13" name="texto-210"/>
          <p:cNvSpPr txBox="1"/>
          <p:nvPr/>
        </p:nvSpPr>
        <p:spPr>
          <a:xfrm>
            <a:off x="6172200" y="2697480"/>
            <a:ext cx="4572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4</a:t>
            </a:r>
            <a:endParaRPr lang="en-US" sz="1400" dirty="0"/>
          </a:p>
        </p:txBody>
      </p:sp>
      <p:sp>
        <p:nvSpPr>
          <p:cNvPr id="14" name="texto-211"/>
          <p:cNvSpPr txBox="1"/>
          <p:nvPr/>
        </p:nvSpPr>
        <p:spPr>
          <a:xfrm>
            <a:off x="6858000" y="2697480"/>
            <a:ext cx="4754880" cy="457200"/>
          </a:xfrm>
          <a:prstGeom prst="rect">
            <a:avLst/>
          </a:prstGeom>
          <a:noFill/>
          <a:ln/>
        </p:spPr>
        <p:txBody>
          <a:bodyPr wrap="square" lIns="0" tIns="0" rIns="0" bIns="0" rtlCol="0" anchor="ctr"/>
          <a:lstStyle/>
          <a:p>
            <a:pPr marL="0" indent="0">
              <a:buNone/>
            </a:pPr>
            <a:r>
              <a:rPr lang="en-US" sz="1700" dirty="0">
                <a:solidFill>
                  <a:schemeClr val="bg1"/>
                </a:solidFill>
              </a:rPr>
              <a:t>Mercado al día con la tarea programada local</a:t>
            </a:r>
            <a:endParaRPr lang="en-US" sz="1700" dirty="0"/>
          </a:p>
        </p:txBody>
      </p:sp>
      <p:sp>
        <p:nvSpPr>
          <p:cNvPr id="15" name="caja-212"/>
          <p:cNvSpPr/>
          <p:nvPr/>
        </p:nvSpPr>
        <p:spPr>
          <a:xfrm>
            <a:off x="548640" y="3794760"/>
            <a:ext cx="457200" cy="457200"/>
          </a:xfrm>
          <a:prstGeom prst="rect">
            <a:avLst/>
          </a:prstGeom>
          <a:solidFill>
            <a:schemeClr val="accent1"/>
          </a:solidFill>
          <a:ln/>
        </p:spPr>
        <p:txBody>
          <a:bodyPr/>
          <a:lstStyle/>
          <a:p>
            <a:endParaRPr lang="es-PE"/>
          </a:p>
        </p:txBody>
      </p:sp>
      <p:sp>
        <p:nvSpPr>
          <p:cNvPr id="16" name="texto-213"/>
          <p:cNvSpPr txBox="1"/>
          <p:nvPr/>
        </p:nvSpPr>
        <p:spPr>
          <a:xfrm>
            <a:off x="548640" y="3794760"/>
            <a:ext cx="4572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5</a:t>
            </a:r>
            <a:endParaRPr lang="en-US" sz="1400" dirty="0"/>
          </a:p>
        </p:txBody>
      </p:sp>
      <p:sp>
        <p:nvSpPr>
          <p:cNvPr id="17" name="texto-214"/>
          <p:cNvSpPr txBox="1"/>
          <p:nvPr/>
        </p:nvSpPr>
        <p:spPr>
          <a:xfrm>
            <a:off x="1234440" y="3794760"/>
            <a:ext cx="4754880" cy="457200"/>
          </a:xfrm>
          <a:prstGeom prst="rect">
            <a:avLst/>
          </a:prstGeom>
          <a:noFill/>
          <a:ln/>
        </p:spPr>
        <p:txBody>
          <a:bodyPr wrap="square" lIns="0" tIns="0" rIns="0" bIns="0" rtlCol="0" anchor="ctr"/>
          <a:lstStyle/>
          <a:p>
            <a:pPr marL="0" indent="0">
              <a:buNone/>
            </a:pPr>
            <a:r>
              <a:rPr lang="en-US" sz="1700" dirty="0">
                <a:solidFill>
                  <a:schemeClr val="bg1"/>
                </a:solidFill>
              </a:rPr>
              <a:t>Pruebas de uso con 3 a 5 personas</a:t>
            </a:r>
            <a:endParaRPr lang="en-US" sz="1700" dirty="0"/>
          </a:p>
        </p:txBody>
      </p:sp>
      <p:sp>
        <p:nvSpPr>
          <p:cNvPr id="18" name="caja-215"/>
          <p:cNvSpPr/>
          <p:nvPr/>
        </p:nvSpPr>
        <p:spPr>
          <a:xfrm>
            <a:off x="6172200" y="3794760"/>
            <a:ext cx="457200" cy="457200"/>
          </a:xfrm>
          <a:prstGeom prst="rect">
            <a:avLst/>
          </a:prstGeom>
          <a:solidFill>
            <a:schemeClr val="accent1"/>
          </a:solidFill>
          <a:ln/>
        </p:spPr>
        <p:txBody>
          <a:bodyPr/>
          <a:lstStyle/>
          <a:p>
            <a:endParaRPr lang="es-PE"/>
          </a:p>
        </p:txBody>
      </p:sp>
      <p:sp>
        <p:nvSpPr>
          <p:cNvPr id="19" name="texto-216"/>
          <p:cNvSpPr txBox="1"/>
          <p:nvPr/>
        </p:nvSpPr>
        <p:spPr>
          <a:xfrm>
            <a:off x="6172200" y="3794760"/>
            <a:ext cx="457200" cy="457200"/>
          </a:xfrm>
          <a:prstGeom prst="rect">
            <a:avLst/>
          </a:prstGeom>
          <a:noFill/>
          <a:ln/>
        </p:spPr>
        <p:txBody>
          <a:bodyPr wrap="square" lIns="0" tIns="0" rIns="0" bIns="0" rtlCol="0" anchor="ctr"/>
          <a:lstStyle/>
          <a:p>
            <a:pPr marL="0" indent="0" algn="ctr">
              <a:buNone/>
            </a:pPr>
            <a:r>
              <a:rPr lang="en-US" sz="1400" dirty="0">
                <a:solidFill>
                  <a:schemeClr val="tx1"/>
                </a:solidFill>
                <a:latin typeface="Arial Black" pitchFamily="34" charset="0"/>
                <a:ea typeface="Arial Black" pitchFamily="34" charset="-122"/>
                <a:cs typeface="Arial Black" pitchFamily="34" charset="-120"/>
              </a:rPr>
              <a:t>6</a:t>
            </a:r>
            <a:endParaRPr lang="en-US" sz="1400" dirty="0"/>
          </a:p>
        </p:txBody>
      </p:sp>
      <p:sp>
        <p:nvSpPr>
          <p:cNvPr id="20" name="texto-217"/>
          <p:cNvSpPr txBox="1"/>
          <p:nvPr/>
        </p:nvSpPr>
        <p:spPr>
          <a:xfrm>
            <a:off x="6858000" y="3794760"/>
            <a:ext cx="4754880" cy="457200"/>
          </a:xfrm>
          <a:prstGeom prst="rect">
            <a:avLst/>
          </a:prstGeom>
          <a:noFill/>
          <a:ln/>
        </p:spPr>
        <p:txBody>
          <a:bodyPr wrap="square" lIns="0" tIns="0" rIns="0" bIns="0" rtlCol="0" anchor="ctr"/>
          <a:lstStyle/>
          <a:p>
            <a:pPr marL="0" indent="0">
              <a:buNone/>
            </a:pPr>
            <a:r>
              <a:rPr lang="en-US" sz="1700" dirty="0">
                <a:solidFill>
                  <a:schemeClr val="bg1"/>
                </a:solidFill>
              </a:rPr>
              <a:t>Plan de tareas para las tres últimas semanas</a:t>
            </a:r>
            <a:endParaRPr lang="en-US" sz="1700" dirty="0"/>
          </a:p>
        </p:txBody>
      </p:sp>
      <p:sp>
        <p:nvSpPr>
          <p:cNvPr id="21" name="texto-218"/>
          <p:cNvSpPr txBox="1"/>
          <p:nvPr/>
        </p:nvSpPr>
        <p:spPr>
          <a:xfrm>
            <a:off x="548640" y="5120640"/>
            <a:ext cx="11094415" cy="640080"/>
          </a:xfrm>
          <a:prstGeom prst="rect">
            <a:avLst/>
          </a:prstGeom>
          <a:noFill/>
          <a:ln/>
        </p:spPr>
        <p:txBody>
          <a:bodyPr wrap="square" lIns="0" tIns="0" rIns="0" bIns="0" rtlCol="0" anchor="ctr"/>
          <a:lstStyle/>
          <a:p>
            <a:pPr marL="0" indent="0">
              <a:buNone/>
            </a:pPr>
            <a:r>
              <a:rPr lang="en-US" sz="2800" dirty="0">
                <a:solidFill>
                  <a:schemeClr val="bg1"/>
                </a:solidFill>
                <a:latin typeface="Arial Black" pitchFamily="34" charset="0"/>
                <a:ea typeface="Arial Black" pitchFamily="34" charset="-122"/>
                <a:cs typeface="Arial Black" pitchFamily="34" charset="-120"/>
              </a:rPr>
              <a:t>Pruébalo: </a:t>
            </a:r>
            <a:r>
              <a:rPr lang="en-US" sz="2800" u="sng" dirty="0">
                <a:solidFill>
                  <a:schemeClr val="accent1"/>
                </a:solidFill>
                <a:latin typeface="Arial Black" pitchFamily="34" charset="0"/>
                <a:ea typeface="Arial Black" pitchFamily="34" charset="-122"/>
                <a:cs typeface="Arial Black" pitchFamily="34" charset="-120"/>
                <a:hlinkClick r:id="rId3">
                  <a:extLst>
                    <a:ext uri="{A12FA001-AC4F-418D-AE19-62706E023703}">
                      <ahyp:hlinkClr xmlns:ahyp="http://schemas.microsoft.com/office/drawing/2018/hyperlinkcolor" val="tx"/>
                    </a:ext>
                  </a:extLst>
                </a:hlinkClick>
              </a:rPr>
              <a:t>deparent.onrender.com</a:t>
            </a:r>
            <a:endParaRPr lang="en-US" sz="28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DepaRent Cartel">
  <a:themeElements>
    <a:clrScheme name="DepaRent Cartel">
      <a:dk1>
        <a:srgbClr val="050F16"/>
      </a:dk1>
      <a:lt1>
        <a:srgbClr val="FFFFFF"/>
      </a:lt1>
      <a:dk2>
        <a:srgbClr val="5A2306"/>
      </a:dk2>
      <a:lt2>
        <a:srgbClr val="F2F2F0"/>
      </a:lt2>
      <a:accent1>
        <a:srgbClr val="FF7A1F"/>
      </a:accent1>
      <a:accent2>
        <a:srgbClr val="5A2306"/>
      </a:accent2>
      <a:accent3>
        <a:srgbClr val="FFC59A"/>
      </a:accent3>
      <a:accent4>
        <a:srgbClr val="C2510A"/>
      </a:accent4>
      <a:accent5>
        <a:srgbClr val="5D5F63"/>
      </a:accent5>
      <a:accent6>
        <a:srgbClr val="E3E2DE"/>
      </a:accent6>
      <a:hlink>
        <a:srgbClr val="C2510A"/>
      </a:hlink>
      <a:folHlink>
        <a:srgbClr val="5A2306"/>
      </a:folHlink>
    </a:clrScheme>
    <a:fontScheme name="DepaRent Cartel">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1902</Words>
  <Application>Microsoft Office PowerPoint</Application>
  <PresentationFormat>Panorámica</PresentationFormat>
  <Paragraphs>223</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Arial Black</vt:lpstr>
      <vt:lpstr>DepaRent Cartel</vt:lpstr>
      <vt:lpstr>Presentación de PowerPoint</vt:lpstr>
      <vt:lpstr>¿A cuánto lo alquilo?</vt:lpstr>
      <vt:lpstr>Dos recorridos, un mismo análisis</vt:lpstr>
      <vt:lpstr>Datos reales de Lima</vt:lpstr>
      <vt:lpstr>Arquitectura del prototipo</vt:lpstr>
      <vt:lpstr>Seis componentes analíticos</vt:lpstr>
      <vt:lpstr>Demo · propietario</vt:lpstr>
      <vt:lpstr>Demo · inquilino</vt:lpstr>
      <vt:lpstr>El error baja a la mitad</vt:lpstr>
      <vt:lpstr>Ejercicio: Lince coincide con la app</vt:lpstr>
      <vt:lpstr>Limitaciones y desafíos</vt:lpstr>
      <vt:lpstr>Hacia la Semana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DepaRent · Prototipo funcional · Semana 10</dc:title>
  <dc:subject>DS3022 Desarrollo de Producto de Datos · UTEC 2026-2</dc:subject>
  <dc:creator>Equipo DepaRent</dc:creator>
  <cp:lastModifiedBy>Adrian Urbina</cp:lastModifiedBy>
  <cp:revision>1</cp:revision>
  <dcterms:created xsi:type="dcterms:W3CDTF">2026-10-25T18:04:09Z</dcterms:created>
  <dcterms:modified xsi:type="dcterms:W3CDTF">2026-10-25T18:16:17Z</dcterms:modified>
</cp:coreProperties>
</file>