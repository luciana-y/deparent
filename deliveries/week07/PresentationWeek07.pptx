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01C6E9-26F7-4692-8B18-55CCC1D1C715}">
  <a:tblStyle styleId="{5B01C6E9-26F7-4692-8B18-55CCC1D1C71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f1461da9_3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g3f8f1461da9_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8f1461da9_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DELIVERY 1  ·  INTEGRATED PROJECT DEFINITION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/>
        </p:nvSpPr>
        <p:spPr>
          <a:xfrm>
            <a:off x="777240" y="23317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DepaRent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822960" y="3611880"/>
            <a:ext cx="8961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Plataforma de apoyo a la decisión para propietarios de departamentos en alquiler en Lima Metropolitana y Callao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15;p3"/>
          <p:cNvCxnSpPr/>
          <p:nvPr/>
        </p:nvCxnSpPr>
        <p:spPr>
          <a:xfrm>
            <a:off x="822960" y="470916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D977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Adrian Urbina Mendoza   ·   Armando Martinez Palomino   ·   Breysi Salazar Medina   ·   Luciana Yangali Cáceres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A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592AC"/>
                </a:solidFill>
                <a:latin typeface="Calibri"/>
                <a:ea typeface="Calibri"/>
                <a:cs typeface="Calibri"/>
                <a:sym typeface="Calibri"/>
              </a:rPr>
              <a:t>Week 7  ·  23 de septiembre de 2026  ·  DS3022 Data Product Development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PUNTO DE PARTIDA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¿Por qué DepaRent y por qué ahora?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1508760"/>
            <a:ext cx="5623560" cy="4892040"/>
          </a:xfrm>
          <a:prstGeom prst="roundRect">
            <a:avLst>
              <a:gd fmla="val 1495" name="adj"/>
            </a:avLst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777240" y="1783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EL PROBLEMA DEL PRODUCTO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777240" y="2084832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¿Cómo determina un propietario un precio de alquiler razonable, sin una herramienta que compare su inmueble contra el mercado real?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777240" y="352044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DepaRent reduce esa incertidumbre integrando comparables, accesibilidad, precio esperado y tendencia de mercado dentro de una sola plataforma.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777240" y="46177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ALCANCE RESPONSABLE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777240" y="4919472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Las salidas son estimaciones y escenarios de apoyo a la decisión: DepaRent no emite tasaciones oficiales ni garantiza el precio final de alquiler.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6400800" y="17830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OBJETIVO DE ESTA ENTREGA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6400800" y="2084832"/>
            <a:ext cx="5303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Consolidar la definición del producto, los datos disponibles y el enfoque analítico antes de construir el prototipo.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00800" y="3145536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6675120" y="306324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¿Qué usuarios y necesidades justifican el producto?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6675120" y="338328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0" y="3986784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6675120" y="3904488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¿Qué datos están disponibles y qué tan confiables son?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6675120" y="422452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6–8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400800" y="4828032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6675120" y="4745736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¿Qué enfoque analítico responde mejor a cada funcionalidad?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6675120" y="5065776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0" y="5669280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6675120" y="5586984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¿Qué arquitectura y plan llevan al prototipo de Week 10?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6675120" y="5907024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10–13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De la intuición a la decisión basada en datos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" name="Google Shape;57;p5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{5B01C6E9-26F7-4692-8B18-55CCC1D1C715}</a:tableStyleId>
              </a:tblPr>
              <a:tblGrid>
                <a:gridCol w="3474725"/>
                <a:gridCol w="4206250"/>
                <a:gridCol w="35661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Situación actual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Propuesta DepaRent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para el propietario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Comparación manual de anuncios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Segmentación y comparables dentro del perfil competitivo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Comparaciones más pertinentes y contextualizadas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Precio fijado por intuición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Predicción del precio esperado con error medido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Referencia cuantitativa antes de publicar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Poca lectura del contexto distrital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Forecasting sobre series trimestrales del BCRP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Contexto sobre la dirección del mercado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Decisión única y rígida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Escenarios: competitivo, equilibrado y renta superior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Elección alineada al objetivo del propietario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Dudas sobre invertir en mejoras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Simulación contrafactual con el mismo modelo de precio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Evaluación previa de escenarios, sin causalidad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Google Shape;58;p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DATA PRODUCT CANVAS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La lógica de negocio en una sola vista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nvas_0.png" id="68" name="Google Shape;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6718" y="955073"/>
            <a:ext cx="8914732" cy="591711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A QUIÉN SIRVE DEPARENT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Usuarios y stakeholders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57200" y="1508760"/>
            <a:ext cx="5623560" cy="4892040"/>
          </a:xfrm>
          <a:prstGeom prst="roundRect">
            <a:avLst>
              <a:gd fmla="val 1495" name="adj"/>
            </a:avLst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777240" y="1783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USUARIO PRINCIPAL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777240" y="2084832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Propietario de uno o varios departamentos en alquiler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777240" y="288036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Registra propiedades, analiza su posicionamiento, compara, simula mejoras y decide su estrategia de publicación.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777240" y="3794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USUARIO SECUNDARIO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777240" y="409651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Persona que busca alquilar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777240" y="461772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Explora el inventario público y contacta al propietario, sin necesidad de registro en la primera versión.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6400800" y="17830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STAKEHOLDERS DEL PRODUCTO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400800" y="221284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6675120" y="209397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Agente inmobiliario / inmobiliaria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6675120" y="240487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Stakeholder secundario y potencial cliente B2B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6400800" y="299008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6675120" y="287121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Equipo de desarrollo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6675120" y="318211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Construye e integra interfaz, base de datos y modelos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400800" y="376732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6675120" y="364845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Equipo de Machine Learning / Data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6675120" y="395935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Entrena, valida y documenta los modelos analíticos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400800" y="454456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6675120" y="442569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Administrador de la plataforma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6675120" y="473659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Supervisa publicaciones, calidad de datos e incidencias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400800" y="532180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6675120" y="520293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BCRP y ATU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6675120" y="551383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Proveedores externos de datos secundarios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REQUERIMIENTOS DEL PRODUCTO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Dos requerimientos generales, seis funcionalidades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57200" y="155448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" y="1554480"/>
            <a:ext cx="5440680" cy="777240"/>
          </a:xfrm>
          <a:prstGeom prst="roundRect">
            <a:avLst>
              <a:gd fmla="val 9412" name="adj"/>
            </a:avLst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57200" y="1965960"/>
            <a:ext cx="5440680" cy="36576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731520" y="15544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R1 · Analizar y valorar el inmueble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B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1234440" y="26060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Perfil competitivo y comparables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B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1234440" y="32918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Perfil de accesibilidad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B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731520" y="3977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1234440" y="39776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Predicción del precio esperado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731520" y="46634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B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731520" y="4663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1234440" y="46634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Pronóstico de tendencia distrital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263640" y="155448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263640" y="1554480"/>
            <a:ext cx="5440680" cy="777240"/>
          </a:xfrm>
          <a:prstGeom prst="roundRect">
            <a:avLst>
              <a:gd fmla="val 9412" name="adj"/>
            </a:avLst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263640" y="1965960"/>
            <a:ext cx="5440680" cy="365760"/>
          </a:xfrm>
          <a:prstGeom prst="rect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6537960" y="15544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R2 · Recomendar estrategia de publicación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537960" y="26060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77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6537960" y="26060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040880" y="26060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Escenarios de precio de publicación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537960" y="32918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77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6537960" y="3291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040880" y="32918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Simulador de mejoras del inmueble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Tres fuentes, un solo dataset analítico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57200" y="1600200"/>
            <a:ext cx="3566160" cy="3246120"/>
          </a:xfrm>
          <a:prstGeom prst="roundRect">
            <a:avLst>
              <a:gd fmla="val 2254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31520" y="18288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Adondevivir + Urbania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31520" y="242316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3,822 anuncios · 43 columnas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31520" y="3246120"/>
            <a:ext cx="3017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Precio, distrito, áreas, dormitorios, baños, coordenadas y texto libre del anuncio.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297680" y="1600200"/>
            <a:ext cx="3566160" cy="3246120"/>
          </a:xfrm>
          <a:prstGeom prst="roundRect">
            <a:avLst>
              <a:gd fmla="val 2254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4572000" y="18288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BCRP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4572000" y="242316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663 obs. trimestrales · 6 variables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4572000" y="3246120"/>
            <a:ext cx="3017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PER, precio de venta USD/m², tipo de cambio y alquiler implícito por distrito.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8138160" y="1600200"/>
            <a:ext cx="3566160" cy="3246120"/>
          </a:xfrm>
          <a:prstGeom prst="roundRect">
            <a:avLst>
              <a:gd fmla="val 2254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8412480" y="18288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ATU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8412480" y="242316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3,233 paraderos · 10 columnas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8412480" y="3246120"/>
            <a:ext cx="3017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Paraderos georreferenciados, corredor, modalidad y afluencia.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57200" y="5074920"/>
            <a:ext cx="11247120" cy="1051560"/>
          </a:xfrm>
          <a:prstGeom prst="roundRect">
            <a:avLst>
              <a:gd fmla="val 6957" name="adj"/>
            </a:avLst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77240" y="5193792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3,128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2880360" y="5193792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departamentos aptos para análisis espacial y predicción, tras depurar los 3,822 anuncios crudos (18.16% descartado por outliers, doble modalidad y categorías inválidas).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ANÁLISIS EXPLORATORIO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Lo que ya sabemos del mercado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57200" y="1508760"/>
            <a:ext cx="5120640" cy="4892040"/>
          </a:xfrm>
          <a:prstGeom prst="roundRect">
            <a:avLst>
              <a:gd fmla="val 1495" name="adj"/>
            </a:avLst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777240" y="182880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14.07 → 3.24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777240" y="235915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Skewness del precio tras aplicar los filtros de calidad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777240" y="329184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S/ 2,750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777240" y="382219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Mediana de alquiler observada en el dataset limpio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777240" y="475488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83.7%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777240" y="528523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De las propiedades enlaza con su serie distrital BCRP propia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5852160" y="178308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SEÑALES CLAVE DEL EDA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852160" y="2231136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6126480" y="2148840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mantenimiento (r=0.79) y area_total (r=0.77) son las variables más asociadas al precio.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6126480" y="262432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8.1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852160" y="321868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6126480" y="3136392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71.6% de los departamentos tiene un paradero a menos de 300 m; mediana 174.8 m.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6126480" y="361188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8.2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852160" y="4206240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6126480" y="4123944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Estacionamientos ambiguos: 89.25% de nulos, se preserva como missingness, no como cero.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6126480" y="4599432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8.3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852160" y="5193792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6126480" y="5111496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19 distritos con menos de 20 anuncios se agruparon como “Otros” para reducir sobreajuste.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6126480" y="5586984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7.2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ENFOQUE ANALÍTICO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HistGradientBoosting reduce 56.5% el error frente al baseline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11"/>
          <p:cNvGraphicFramePr/>
          <p:nvPr/>
        </p:nvGraphicFramePr>
        <p:xfrm>
          <a:off x="45720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{5B01C6E9-26F7-4692-8B18-55CCC1D1C715}</a:tableStyleId>
              </a:tblPr>
              <a:tblGrid>
                <a:gridCol w="2286000"/>
                <a:gridCol w="1051550"/>
                <a:gridCol w="1051550"/>
                <a:gridCol w="1051550"/>
                <a:gridCol w="10515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 (S/)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 (S/)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HistGradientBoosting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0.8236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501.48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853.70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15.93%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BDD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0.7889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500.87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933.92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16.05%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0.7882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518.86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935.53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16.37%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0.7903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535.40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930.80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17.27%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Ridge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0.7787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622.36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956.28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21.56%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Dummy – mediana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-0.0689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1,213.26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2,101.61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36.59%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pic>
        <p:nvPicPr>
          <p:cNvPr descr="/mnt/user-data/uploads/wireframe_requirement_3.png" id="204" name="Google Shape;2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2331720"/>
            <a:ext cx="4343400" cy="242417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 txBox="1"/>
          <p:nvPr/>
        </p:nvSpPr>
        <p:spPr>
          <a:xfrm>
            <a:off x="7360920" y="4865626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Wireframe · RF3 Predicción del precio esperado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1051560" y="2743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ENFOQUE ANALÍTICO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1051560" y="512064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K–means para perfiles de departamento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2" title="output.png"/>
          <p:cNvPicPr preferRelativeResize="0"/>
          <p:nvPr/>
        </p:nvPicPr>
        <p:blipFill rotWithShape="1">
          <a:blip r:embed="rId3">
            <a:alphaModFix/>
          </a:blip>
          <a:srcRect b="0" l="0" r="33191" t="0"/>
          <a:stretch/>
        </p:blipFill>
        <p:spPr>
          <a:xfrm>
            <a:off x="914400" y="1319250"/>
            <a:ext cx="4837412" cy="477728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 txBox="1"/>
          <p:nvPr/>
        </p:nvSpPr>
        <p:spPr>
          <a:xfrm>
            <a:off x="5986794" y="1757702"/>
            <a:ext cx="5549700" cy="38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0675" lvl="0" marL="4572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50"/>
              <a:buFont typeface="Calibri"/>
              <a:buChar char="●"/>
            </a:pPr>
            <a:r>
              <a:rPr b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Cluster 0 (49.01%):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i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Estándar tradicional 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 propiedades de tamaño medio, aproximadamente 2 dormitorios y baja presencia de amenidades.</a:t>
            </a:r>
            <a:endParaRPr sz="14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50"/>
              <a:buFont typeface="Calibri"/>
              <a:buChar char="●"/>
            </a:pPr>
            <a:r>
              <a:rPr b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Cluster 1 (14.54%):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i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Propiedades amplias 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que destacan por un área promedio de 188.82 m², mayor cantidad de dormitorios y baños y mayor mantenimiento.</a:t>
            </a:r>
            <a:endParaRPr sz="14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Cluster 2 (27.99%):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i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Compacto con alta oferta de amenidades 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 propiedades pequeñas y relativamente nuevas.</a:t>
            </a:r>
            <a:endParaRPr sz="14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50"/>
              <a:buFont typeface="Calibri"/>
              <a:buChar char="●"/>
            </a:pPr>
            <a:r>
              <a:rPr b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Cluster 3 (8.46%):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i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Residencial familiar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con propiedades relativamente nuevas con alta presencia de amenidades.</a:t>
            </a:r>
            <a:endParaRPr sz="14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DISEÑO DEL SISTEMA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De las fuentes de datos a la decisión del propietario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product_workflow.png" id="228" name="Google Shape;2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691640"/>
            <a:ext cx="10058400" cy="16082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3"/>
          <p:cNvSpPr txBox="1"/>
          <p:nvPr/>
        </p:nvSpPr>
        <p:spPr>
          <a:xfrm>
            <a:off x="1051560" y="33455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Workflow del sistema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system_architecture.png" id="230" name="Google Shape;2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3683900"/>
            <a:ext cx="10058400" cy="278888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3"/>
          <p:cNvSpPr txBox="1"/>
          <p:nvPr/>
        </p:nvSpPr>
        <p:spPr>
          <a:xfrm>
            <a:off x="1051560" y="6518507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Arquitectura inicial del producto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INTERFAZ Y WIREFRAMES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De datos a decisión: la experiencia del propietario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wireframe_requirement_5.png" id="242" name="Google Shape;2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91640"/>
            <a:ext cx="6675120" cy="372557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4"/>
          <p:cNvSpPr txBox="1"/>
          <p:nvPr/>
        </p:nvSpPr>
        <p:spPr>
          <a:xfrm>
            <a:off x="457200" y="5508659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RF5 · Precio de publicación recomendado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457200" y="5801267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El propietario elige objetivo (competitivo, equilibrado, renta superior) y el motor combina precio esperado, comparables y tendencia.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wireframe_requirement_2.png" id="245" name="Google Shape;2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6640" y="1691640"/>
            <a:ext cx="4206240" cy="23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4"/>
          <p:cNvSpPr txBox="1"/>
          <p:nvPr/>
        </p:nvSpPr>
        <p:spPr>
          <a:xfrm>
            <a:off x="7406640" y="4130705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RF2 · Perfil de accesibilidad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7406640" y="4423313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Indicadores de conectividad a partir de paraderos ATU georreferenciados cerca del inmueble.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Camino a Week 15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8" name="Google Shape;258;p15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{5B01C6E9-26F7-4692-8B18-55CCC1D1C715}</a:tableStyleId>
              </a:tblPr>
              <a:tblGrid>
                <a:gridCol w="1188725"/>
                <a:gridCol w="1371600"/>
                <a:gridCol w="42976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Prioridad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 esperado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 reproducible y datasets versionados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Perfil competitivo utilizable en producto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de precio versionado y prototipo de inferencia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Media-Alta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Tendencia distrital y accesibilidad integrables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Módulos prescriptivos funcionales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Prototipo integrado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Versión candidata final con validación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Prototipo final y Delivery 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15"/>
          <p:cNvSpPr txBox="1"/>
          <p:nvPr/>
        </p:nvSpPr>
        <p:spPr>
          <a:xfrm>
            <a:off x="7589520" y="1691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EQUIPO Y ROLES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7589520" y="2057400"/>
            <a:ext cx="82296" cy="82296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 txBox="1"/>
          <p:nvPr/>
        </p:nvSpPr>
        <p:spPr>
          <a:xfrm>
            <a:off x="7818120" y="19385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Adrian Urbina Mendoza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7818120" y="2231136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Team Leader · Adquisición y Preprocesamiento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7589520" y="2807208"/>
            <a:ext cx="82296" cy="82296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 txBox="1"/>
          <p:nvPr/>
        </p:nvSpPr>
        <p:spPr>
          <a:xfrm>
            <a:off x="7818120" y="2688336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Armando Martinez Palomino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 txBox="1"/>
          <p:nvPr/>
        </p:nvSpPr>
        <p:spPr>
          <a:xfrm>
            <a:off x="7818120" y="298094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Data Engineering · Integración externa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7589520" y="3557016"/>
            <a:ext cx="82296" cy="82296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7818120" y="343814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Breysi Salazar Medina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7818120" y="37307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Machine Learning Engineer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7589520" y="4306824"/>
            <a:ext cx="82296" cy="82296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7818120" y="41879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Luciana Yangali Cáceres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7818120" y="44805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Aplicación y Visualización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7589520" y="5193792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Todo el equipo participa además en pruebas, documentación, presentaciones e integración final.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12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